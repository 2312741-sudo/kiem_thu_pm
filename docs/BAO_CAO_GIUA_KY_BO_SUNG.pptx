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gồm bảy bước. Điểm khác của kiểm thử race là bước 6: oracle là dữ liệu trong cơ sở dữ liệu, không phải mã HTTP. Bước 5 chạy cả đồng thời và tuần tự để tách lỗi race khỏi lỗi logic thông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test case chọn một cơ chế bảo vệ khác nhau để thử. TC-01 và TC-04 là hai trường hợp hệ thống đã có bảo vệ, dùng để kiểm chứng harness không báo lỗi giả. Sáu test case còn lại thử những chỗ đọc code cho thấy chưa có bảo vệ ở tầng cơ sở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chi phí máy đo thật từ thời điểm bắt đầu và kết thúc trong file summary.json của mỗi lần chạy. Chạy lại bộ test chính cả đồng thời và tuần tự mất dưới ba phút. Phần công sức người-giờ nhóm tự điền theo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chứng minh đây là lỗi thật, nhóm tái hiện lại từng lỗi bằng lệnh curl thuần, không dùng bộ test, rồi xem trực tiếp dữ liệu trong cơ sở dữ liệu. D4 là lỗi logic xảy ra cả khi gửi tuần tự; năm lỗi còn lại chỉ xảy ra khi đồng thời. Nhóm chưa báo lỗi cho nhóm phát triển Cal.com và chưa sửa mã Cal.com, nên nói là lỗi nhóm tìm được trên bản v6.2.0 chạy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2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908792" cy="868680"/>
          </a:xfrm>
          <a:prstGeom prst="rect">
            <a:avLst/>
          </a:prstGeom>
          <a:noFill/>
          <a:ln/>
        </p:spPr>
        <p:txBody>
          <a:bodyPr wrap="square" rtlCol="0"/>
          <a:lstStyle>
            <a:lvl1pPr indent="0" marL="0">
              <a:buNone/>
              <a:defRPr lang="en-US" sz="3400" b="1" dirty="0">
                <a:solidFill>
                  <a:srgbClr val="12202B"/>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QUY TRÌNH TEST</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Từ đọc code đến báo cáo: 7 bước, có nhóm đối chứng</a:t>
            </a:r>
            <a:endParaRPr lang="en-US" sz="3400" dirty="0"/>
          </a:p>
        </p:txBody>
      </p:sp>
      <p:sp>
        <p:nvSpPr>
          <p:cNvPr id="4" name="Shape 2"/>
          <p:cNvSpPr/>
          <p:nvPr/>
        </p:nvSpPr>
        <p:spPr>
          <a:xfrm>
            <a:off x="640080" y="1783080"/>
            <a:ext cx="1417320" cy="2103120"/>
          </a:xfrm>
          <a:prstGeom prst="roundRect">
            <a:avLst>
              <a:gd name="adj" fmla="val 7742"/>
            </a:avLst>
          </a:prstGeom>
          <a:solidFill>
            <a:srgbClr val="FBFAF6"/>
          </a:solidFill>
          <a:ln w="12700">
            <a:solidFill>
              <a:srgbClr val="DAD6CC"/>
            </a:solidFill>
            <a:prstDash val="solid"/>
          </a:ln>
        </p:spPr>
      </p:sp>
      <p:sp>
        <p:nvSpPr>
          <p:cNvPr id="5" name="Text 3"/>
          <p:cNvSpPr txBox="1"/>
          <p:nvPr/>
        </p:nvSpPr>
        <p:spPr>
          <a:xfrm>
            <a:off x="777240" y="1874520"/>
            <a:ext cx="457200" cy="457200"/>
          </a:xfrm>
          <a:prstGeom prst="rect">
            <a:avLst/>
          </a:prstGeom>
          <a:noFill/>
          <a:ln/>
        </p:spPr>
        <p:txBody>
          <a:bodyPr wrap="square" lIns="0" tIns="0" rIns="0" bIns="0" rtlCol="0" anchor="ctr"/>
          <a:lstStyle/>
          <a:p>
            <a:pPr indent="0" marL="0">
              <a:buNone/>
            </a:pPr>
            <a:r>
              <a:rPr lang="en-US" sz="2400" b="1" dirty="0">
                <a:solidFill>
                  <a:srgbClr val="2558B8"/>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777240" y="2377440"/>
            <a:ext cx="1143000" cy="548640"/>
          </a:xfrm>
          <a:prstGeom prst="rect">
            <a:avLst/>
          </a:prstGeom>
          <a:noFill/>
          <a:ln/>
        </p:spPr>
        <p:txBody>
          <a:bodyPr wrap="square" lIns="0" tIns="0" rIns="0" bIns="0" rtlCol="0" anchor="t"/>
          <a:lstStyle/>
          <a:p>
            <a:pPr indent="0" marL="0">
              <a:buNone/>
            </a:pPr>
            <a:r>
              <a:rPr lang="en-US" sz="1500" b="1" dirty="0">
                <a:solidFill>
                  <a:srgbClr val="12202B"/>
                </a:solidFill>
                <a:latin typeface="Calibri" pitchFamily="34" charset="0"/>
                <a:ea typeface="Calibri" pitchFamily="34" charset="-122"/>
                <a:cs typeface="Calibri" pitchFamily="34" charset="-120"/>
              </a:rPr>
              <a:t>Đọc code</a:t>
            </a:r>
            <a:endParaRPr lang="en-US" sz="1500" dirty="0"/>
          </a:p>
        </p:txBody>
      </p:sp>
      <p:sp>
        <p:nvSpPr>
          <p:cNvPr id="7" name="Text 5"/>
          <p:cNvSpPr txBox="1"/>
          <p:nvPr/>
        </p:nvSpPr>
        <p:spPr>
          <a:xfrm>
            <a:off x="777240" y="2971800"/>
            <a:ext cx="1143000" cy="822960"/>
          </a:xfrm>
          <a:prstGeom prst="rect">
            <a:avLst/>
          </a:prstGeom>
          <a:noFill/>
          <a:ln/>
        </p:spPr>
        <p:txBody>
          <a:bodyPr wrap="square" lIns="0" tIns="0" rIns="0" bIns="0" rtlCol="0" anchor="t"/>
          <a:lstStyle/>
          <a:p>
            <a:pPr indent="0" marL="0">
              <a:buNone/>
            </a:pPr>
            <a:r>
              <a:rPr lang="en-US" sz="1300" dirty="0">
                <a:solidFill>
                  <a:srgbClr val="4A5866"/>
                </a:solidFill>
                <a:latin typeface="Calibri" pitchFamily="34" charset="0"/>
                <a:ea typeface="Calibri" pitchFamily="34" charset="-122"/>
                <a:cs typeface="Calibri" pitchFamily="34" charset="-120"/>
              </a:rPr>
              <a:t>Tìm chỗ kiểm tra rồi mới ghi</a:t>
            </a:r>
            <a:endParaRPr lang="en-US" sz="1300" dirty="0"/>
          </a:p>
        </p:txBody>
      </p:sp>
      <p:sp>
        <p:nvSpPr>
          <p:cNvPr id="8" name="Shape 6"/>
          <p:cNvSpPr/>
          <p:nvPr/>
        </p:nvSpPr>
        <p:spPr>
          <a:xfrm>
            <a:off x="2075688" y="2834640"/>
            <a:ext cx="128016" cy="0"/>
          </a:xfrm>
          <a:prstGeom prst="line">
            <a:avLst/>
          </a:prstGeom>
          <a:noFill/>
          <a:ln w="19050">
            <a:solidFill>
              <a:srgbClr val="7A8592"/>
            </a:solidFill>
            <a:prstDash val="solid"/>
            <a:tailEnd type="triangle"/>
          </a:ln>
        </p:spPr>
      </p:sp>
      <p:sp>
        <p:nvSpPr>
          <p:cNvPr id="9" name="Shape 7"/>
          <p:cNvSpPr/>
          <p:nvPr/>
        </p:nvSpPr>
        <p:spPr>
          <a:xfrm>
            <a:off x="2221992" y="1783080"/>
            <a:ext cx="1417320" cy="2103120"/>
          </a:xfrm>
          <a:prstGeom prst="roundRect">
            <a:avLst>
              <a:gd name="adj" fmla="val 7742"/>
            </a:avLst>
          </a:prstGeom>
          <a:solidFill>
            <a:srgbClr val="FBFAF6"/>
          </a:solidFill>
          <a:ln w="12700">
            <a:solidFill>
              <a:srgbClr val="DAD6CC"/>
            </a:solidFill>
            <a:prstDash val="solid"/>
          </a:ln>
        </p:spPr>
      </p:sp>
      <p:sp>
        <p:nvSpPr>
          <p:cNvPr id="10" name="Text 8"/>
          <p:cNvSpPr txBox="1"/>
          <p:nvPr/>
        </p:nvSpPr>
        <p:spPr>
          <a:xfrm>
            <a:off x="2359152" y="1874520"/>
            <a:ext cx="457200" cy="457200"/>
          </a:xfrm>
          <a:prstGeom prst="rect">
            <a:avLst/>
          </a:prstGeom>
          <a:noFill/>
          <a:ln/>
        </p:spPr>
        <p:txBody>
          <a:bodyPr wrap="square" lIns="0" tIns="0" rIns="0" bIns="0" rtlCol="0" anchor="ctr"/>
          <a:lstStyle/>
          <a:p>
            <a:pPr indent="0" marL="0">
              <a:buNone/>
            </a:pPr>
            <a:r>
              <a:rPr lang="en-US" sz="2400" b="1" dirty="0">
                <a:solidFill>
                  <a:srgbClr val="2558B8"/>
                </a:solidFill>
                <a:latin typeface="Calibri" pitchFamily="34" charset="0"/>
                <a:ea typeface="Calibri" pitchFamily="34" charset="-122"/>
                <a:cs typeface="Calibri" pitchFamily="34" charset="-120"/>
              </a:rPr>
              <a:t>2</a:t>
            </a:r>
            <a:endParaRPr lang="en-US" sz="2400" dirty="0"/>
          </a:p>
        </p:txBody>
      </p:sp>
      <p:sp>
        <p:nvSpPr>
          <p:cNvPr id="11" name="Text 9"/>
          <p:cNvSpPr txBox="1"/>
          <p:nvPr/>
        </p:nvSpPr>
        <p:spPr>
          <a:xfrm>
            <a:off x="2359152" y="2377440"/>
            <a:ext cx="1143000" cy="548640"/>
          </a:xfrm>
          <a:prstGeom prst="rect">
            <a:avLst/>
          </a:prstGeom>
          <a:noFill/>
          <a:ln/>
        </p:spPr>
        <p:txBody>
          <a:bodyPr wrap="square" lIns="0" tIns="0" rIns="0" bIns="0" rtlCol="0" anchor="t"/>
          <a:lstStyle/>
          <a:p>
            <a:pPr indent="0" marL="0">
              <a:buNone/>
            </a:pPr>
            <a:r>
              <a:rPr lang="en-US" sz="1500" b="1" dirty="0">
                <a:solidFill>
                  <a:srgbClr val="12202B"/>
                </a:solidFill>
                <a:latin typeface="Calibri" pitchFamily="34" charset="0"/>
                <a:ea typeface="Calibri" pitchFamily="34" charset="-122"/>
                <a:cs typeface="Calibri" pitchFamily="34" charset="-120"/>
              </a:rPr>
              <a:t>Chọn invariant</a:t>
            </a:r>
            <a:endParaRPr lang="en-US" sz="1500" dirty="0"/>
          </a:p>
        </p:txBody>
      </p:sp>
      <p:sp>
        <p:nvSpPr>
          <p:cNvPr id="12" name="Text 10"/>
          <p:cNvSpPr txBox="1"/>
          <p:nvPr/>
        </p:nvSpPr>
        <p:spPr>
          <a:xfrm>
            <a:off x="2359152" y="2971800"/>
            <a:ext cx="1143000" cy="822960"/>
          </a:xfrm>
          <a:prstGeom prst="rect">
            <a:avLst/>
          </a:prstGeom>
          <a:noFill/>
          <a:ln/>
        </p:spPr>
        <p:txBody>
          <a:bodyPr wrap="square" lIns="0" tIns="0" rIns="0" bIns="0" rtlCol="0" anchor="t"/>
          <a:lstStyle/>
          <a:p>
            <a:pPr indent="0" marL="0">
              <a:buNone/>
            </a:pPr>
            <a:r>
              <a:rPr lang="en-US" sz="1300" dirty="0">
                <a:solidFill>
                  <a:srgbClr val="4A5866"/>
                </a:solidFill>
                <a:latin typeface="Calibri" pitchFamily="34" charset="0"/>
                <a:ea typeface="Calibri" pitchFamily="34" charset="-122"/>
                <a:cs typeface="Calibri" pitchFamily="34" charset="-120"/>
              </a:rPr>
              <a:t>7 tính chất dữ liệu phải đúng</a:t>
            </a:r>
            <a:endParaRPr lang="en-US" sz="1300" dirty="0"/>
          </a:p>
        </p:txBody>
      </p:sp>
      <p:sp>
        <p:nvSpPr>
          <p:cNvPr id="13" name="Shape 11"/>
          <p:cNvSpPr/>
          <p:nvPr/>
        </p:nvSpPr>
        <p:spPr>
          <a:xfrm>
            <a:off x="3657600" y="2834640"/>
            <a:ext cx="128016" cy="0"/>
          </a:xfrm>
          <a:prstGeom prst="line">
            <a:avLst/>
          </a:prstGeom>
          <a:noFill/>
          <a:ln w="19050">
            <a:solidFill>
              <a:srgbClr val="7A8592"/>
            </a:solidFill>
            <a:prstDash val="solid"/>
            <a:tailEnd type="triangle"/>
          </a:ln>
        </p:spPr>
      </p:sp>
      <p:sp>
        <p:nvSpPr>
          <p:cNvPr id="14" name="Shape 12"/>
          <p:cNvSpPr/>
          <p:nvPr/>
        </p:nvSpPr>
        <p:spPr>
          <a:xfrm>
            <a:off x="3803904" y="1783080"/>
            <a:ext cx="1417320" cy="2103120"/>
          </a:xfrm>
          <a:prstGeom prst="roundRect">
            <a:avLst>
              <a:gd name="adj" fmla="val 7742"/>
            </a:avLst>
          </a:prstGeom>
          <a:solidFill>
            <a:srgbClr val="FBFAF6"/>
          </a:solidFill>
          <a:ln w="12700">
            <a:solidFill>
              <a:srgbClr val="DAD6CC"/>
            </a:solidFill>
            <a:prstDash val="solid"/>
          </a:ln>
        </p:spPr>
      </p:sp>
      <p:sp>
        <p:nvSpPr>
          <p:cNvPr id="15" name="Text 13"/>
          <p:cNvSpPr txBox="1"/>
          <p:nvPr/>
        </p:nvSpPr>
        <p:spPr>
          <a:xfrm>
            <a:off x="3941064" y="1874520"/>
            <a:ext cx="457200" cy="457200"/>
          </a:xfrm>
          <a:prstGeom prst="rect">
            <a:avLst/>
          </a:prstGeom>
          <a:noFill/>
          <a:ln/>
        </p:spPr>
        <p:txBody>
          <a:bodyPr wrap="square" lIns="0" tIns="0" rIns="0" bIns="0" rtlCol="0" anchor="ctr"/>
          <a:lstStyle/>
          <a:p>
            <a:pPr indent="0" marL="0">
              <a:buNone/>
            </a:pPr>
            <a:r>
              <a:rPr lang="en-US" sz="2400" b="1" dirty="0">
                <a:solidFill>
                  <a:srgbClr val="2558B8"/>
                </a:solidFill>
                <a:latin typeface="Calibri" pitchFamily="34" charset="0"/>
                <a:ea typeface="Calibri" pitchFamily="34" charset="-122"/>
                <a:cs typeface="Calibri" pitchFamily="34" charset="-120"/>
              </a:rPr>
              <a:t>3</a:t>
            </a:r>
            <a:endParaRPr lang="en-US" sz="2400" dirty="0"/>
          </a:p>
        </p:txBody>
      </p:sp>
      <p:sp>
        <p:nvSpPr>
          <p:cNvPr id="16" name="Text 14"/>
          <p:cNvSpPr txBox="1"/>
          <p:nvPr/>
        </p:nvSpPr>
        <p:spPr>
          <a:xfrm>
            <a:off x="3941064" y="2377440"/>
            <a:ext cx="1143000" cy="548640"/>
          </a:xfrm>
          <a:prstGeom prst="rect">
            <a:avLst/>
          </a:prstGeom>
          <a:noFill/>
          <a:ln/>
        </p:spPr>
        <p:txBody>
          <a:bodyPr wrap="square" lIns="0" tIns="0" rIns="0" bIns="0" rtlCol="0" anchor="t"/>
          <a:lstStyle/>
          <a:p>
            <a:pPr indent="0" marL="0">
              <a:buNone/>
            </a:pPr>
            <a:r>
              <a:rPr lang="en-US" sz="1500" b="1" dirty="0">
                <a:solidFill>
                  <a:srgbClr val="12202B"/>
                </a:solidFill>
                <a:latin typeface="Calibri" pitchFamily="34" charset="0"/>
                <a:ea typeface="Calibri" pitchFamily="34" charset="-122"/>
                <a:cs typeface="Calibri" pitchFamily="34" charset="-120"/>
              </a:rPr>
              <a:t>Thiết kế test case</a:t>
            </a:r>
            <a:endParaRPr lang="en-US" sz="1500" dirty="0"/>
          </a:p>
        </p:txBody>
      </p:sp>
      <p:sp>
        <p:nvSpPr>
          <p:cNvPr id="17" name="Text 15"/>
          <p:cNvSpPr txBox="1"/>
          <p:nvPr/>
        </p:nvSpPr>
        <p:spPr>
          <a:xfrm>
            <a:off x="3941064" y="2971800"/>
            <a:ext cx="1143000" cy="822960"/>
          </a:xfrm>
          <a:prstGeom prst="rect">
            <a:avLst/>
          </a:prstGeom>
          <a:noFill/>
          <a:ln/>
        </p:spPr>
        <p:txBody>
          <a:bodyPr wrap="square" lIns="0" tIns="0" rIns="0" bIns="0" rtlCol="0" anchor="t"/>
          <a:lstStyle/>
          <a:p>
            <a:pPr indent="0" marL="0">
              <a:buNone/>
            </a:pPr>
            <a:r>
              <a:rPr lang="en-US" sz="1300" dirty="0">
                <a:solidFill>
                  <a:srgbClr val="4A5866"/>
                </a:solidFill>
                <a:latin typeface="Calibri" pitchFamily="34" charset="0"/>
                <a:ea typeface="Calibri" pitchFamily="34" charset="-122"/>
                <a:cs typeface="Calibri" pitchFamily="34" charset="-120"/>
              </a:rPr>
              <a:t>8 test case TC-01 đến TC-08</a:t>
            </a:r>
            <a:endParaRPr lang="en-US" sz="1300" dirty="0"/>
          </a:p>
        </p:txBody>
      </p:sp>
      <p:sp>
        <p:nvSpPr>
          <p:cNvPr id="18" name="Shape 16"/>
          <p:cNvSpPr/>
          <p:nvPr/>
        </p:nvSpPr>
        <p:spPr>
          <a:xfrm>
            <a:off x="5239512" y="2834640"/>
            <a:ext cx="128016" cy="0"/>
          </a:xfrm>
          <a:prstGeom prst="line">
            <a:avLst/>
          </a:prstGeom>
          <a:noFill/>
          <a:ln w="19050">
            <a:solidFill>
              <a:srgbClr val="7A8592"/>
            </a:solidFill>
            <a:prstDash val="solid"/>
            <a:tailEnd type="triangle"/>
          </a:ln>
        </p:spPr>
      </p:sp>
      <p:sp>
        <p:nvSpPr>
          <p:cNvPr id="19" name="Shape 17"/>
          <p:cNvSpPr/>
          <p:nvPr/>
        </p:nvSpPr>
        <p:spPr>
          <a:xfrm>
            <a:off x="5385816" y="1783080"/>
            <a:ext cx="1417320" cy="2103120"/>
          </a:xfrm>
          <a:prstGeom prst="roundRect">
            <a:avLst>
              <a:gd name="adj" fmla="val 7742"/>
            </a:avLst>
          </a:prstGeom>
          <a:solidFill>
            <a:srgbClr val="FBFAF6"/>
          </a:solidFill>
          <a:ln w="12700">
            <a:solidFill>
              <a:srgbClr val="DAD6CC"/>
            </a:solidFill>
            <a:prstDash val="solid"/>
          </a:ln>
        </p:spPr>
      </p:sp>
      <p:sp>
        <p:nvSpPr>
          <p:cNvPr id="20" name="Text 18"/>
          <p:cNvSpPr txBox="1"/>
          <p:nvPr/>
        </p:nvSpPr>
        <p:spPr>
          <a:xfrm>
            <a:off x="5522976" y="1874520"/>
            <a:ext cx="457200" cy="457200"/>
          </a:xfrm>
          <a:prstGeom prst="rect">
            <a:avLst/>
          </a:prstGeom>
          <a:noFill/>
          <a:ln/>
        </p:spPr>
        <p:txBody>
          <a:bodyPr wrap="square" lIns="0" tIns="0" rIns="0" bIns="0" rtlCol="0" anchor="ctr"/>
          <a:lstStyle/>
          <a:p>
            <a:pPr indent="0" marL="0">
              <a:buNone/>
            </a:pPr>
            <a:r>
              <a:rPr lang="en-US" sz="2400" b="1" dirty="0">
                <a:solidFill>
                  <a:srgbClr val="2558B8"/>
                </a:solidFill>
                <a:latin typeface="Calibri" pitchFamily="34" charset="0"/>
                <a:ea typeface="Calibri" pitchFamily="34" charset="-122"/>
                <a:cs typeface="Calibri" pitchFamily="34" charset="-120"/>
              </a:rPr>
              <a:t>4</a:t>
            </a:r>
            <a:endParaRPr lang="en-US" sz="2400" dirty="0"/>
          </a:p>
        </p:txBody>
      </p:sp>
      <p:sp>
        <p:nvSpPr>
          <p:cNvPr id="21" name="Text 19"/>
          <p:cNvSpPr txBox="1"/>
          <p:nvPr/>
        </p:nvSpPr>
        <p:spPr>
          <a:xfrm>
            <a:off x="5522976" y="2377440"/>
            <a:ext cx="1143000" cy="548640"/>
          </a:xfrm>
          <a:prstGeom prst="rect">
            <a:avLst/>
          </a:prstGeom>
          <a:noFill/>
          <a:ln/>
        </p:spPr>
        <p:txBody>
          <a:bodyPr wrap="square" lIns="0" tIns="0" rIns="0" bIns="0" rtlCol="0" anchor="t"/>
          <a:lstStyle/>
          <a:p>
            <a:pPr indent="0" marL="0">
              <a:buNone/>
            </a:pPr>
            <a:r>
              <a:rPr lang="en-US" sz="1500" b="1" dirty="0">
                <a:solidFill>
                  <a:srgbClr val="12202B"/>
                </a:solidFill>
                <a:latin typeface="Calibri" pitchFamily="34" charset="0"/>
                <a:ea typeface="Calibri" pitchFamily="34" charset="-122"/>
                <a:cs typeface="Calibri" pitchFamily="34" charset="-120"/>
              </a:rPr>
              <a:t>Chuẩn bị dữ liệu</a:t>
            </a:r>
            <a:endParaRPr lang="en-US" sz="1500" dirty="0"/>
          </a:p>
        </p:txBody>
      </p:sp>
      <p:sp>
        <p:nvSpPr>
          <p:cNvPr id="22" name="Text 20"/>
          <p:cNvSpPr txBox="1"/>
          <p:nvPr/>
        </p:nvSpPr>
        <p:spPr>
          <a:xfrm>
            <a:off x="5522976" y="2971800"/>
            <a:ext cx="1143000" cy="822960"/>
          </a:xfrm>
          <a:prstGeom prst="rect">
            <a:avLst/>
          </a:prstGeom>
          <a:noFill/>
          <a:ln/>
        </p:spPr>
        <p:txBody>
          <a:bodyPr wrap="square" lIns="0" tIns="0" rIns="0" bIns="0" rtlCol="0" anchor="t"/>
          <a:lstStyle/>
          <a:p>
            <a:pPr indent="0" marL="0">
              <a:buNone/>
            </a:pPr>
            <a:r>
              <a:rPr lang="en-US" sz="1300" dirty="0">
                <a:solidFill>
                  <a:srgbClr val="4A5866"/>
                </a:solidFill>
                <a:latin typeface="Calibri" pitchFamily="34" charset="0"/>
                <a:ea typeface="Calibri" pitchFamily="34" charset="-122"/>
                <a:cs typeface="Calibri" pitchFamily="34" charset="-120"/>
              </a:rPr>
              <a:t>Host test, 5 loại cuộc hẹn</a:t>
            </a:r>
            <a:endParaRPr lang="en-US" sz="1300" dirty="0"/>
          </a:p>
        </p:txBody>
      </p:sp>
      <p:sp>
        <p:nvSpPr>
          <p:cNvPr id="23" name="Shape 21"/>
          <p:cNvSpPr/>
          <p:nvPr/>
        </p:nvSpPr>
        <p:spPr>
          <a:xfrm>
            <a:off x="6821424" y="2834640"/>
            <a:ext cx="128016" cy="0"/>
          </a:xfrm>
          <a:prstGeom prst="line">
            <a:avLst/>
          </a:prstGeom>
          <a:noFill/>
          <a:ln w="19050">
            <a:solidFill>
              <a:srgbClr val="7A8592"/>
            </a:solidFill>
            <a:prstDash val="solid"/>
            <a:tailEnd type="triangle"/>
          </a:ln>
        </p:spPr>
      </p:sp>
      <p:sp>
        <p:nvSpPr>
          <p:cNvPr id="24" name="Shape 22"/>
          <p:cNvSpPr/>
          <p:nvPr/>
        </p:nvSpPr>
        <p:spPr>
          <a:xfrm>
            <a:off x="6967728" y="1783080"/>
            <a:ext cx="1417320" cy="2103120"/>
          </a:xfrm>
          <a:prstGeom prst="roundRect">
            <a:avLst>
              <a:gd name="adj" fmla="val 7742"/>
            </a:avLst>
          </a:prstGeom>
          <a:solidFill>
            <a:srgbClr val="12202B"/>
          </a:solidFill>
          <a:ln w="12700">
            <a:solidFill>
              <a:srgbClr val="12202B"/>
            </a:solidFill>
            <a:prstDash val="solid"/>
          </a:ln>
        </p:spPr>
      </p:sp>
      <p:sp>
        <p:nvSpPr>
          <p:cNvPr id="25" name="Text 23"/>
          <p:cNvSpPr txBox="1"/>
          <p:nvPr/>
        </p:nvSpPr>
        <p:spPr>
          <a:xfrm>
            <a:off x="7104888" y="1874520"/>
            <a:ext cx="457200" cy="457200"/>
          </a:xfrm>
          <a:prstGeom prst="rect">
            <a:avLst/>
          </a:prstGeom>
          <a:noFill/>
          <a:ln/>
        </p:spPr>
        <p:txBody>
          <a:bodyPr wrap="square" lIns="0" tIns="0" rIns="0" bIns="0" rtlCol="0" anchor="ctr"/>
          <a:lstStyle/>
          <a:p>
            <a:pPr indent="0" marL="0">
              <a:buNone/>
            </a:pPr>
            <a:r>
              <a:rPr lang="en-US" sz="2400" b="1" dirty="0">
                <a:solidFill>
                  <a:srgbClr val="E07B39"/>
                </a:solidFill>
                <a:latin typeface="Calibri" pitchFamily="34" charset="0"/>
                <a:ea typeface="Calibri" pitchFamily="34" charset="-122"/>
                <a:cs typeface="Calibri" pitchFamily="34" charset="-120"/>
              </a:rPr>
              <a:t>5</a:t>
            </a:r>
            <a:endParaRPr lang="en-US" sz="2400" dirty="0"/>
          </a:p>
        </p:txBody>
      </p:sp>
      <p:sp>
        <p:nvSpPr>
          <p:cNvPr id="26" name="Text 24"/>
          <p:cNvSpPr txBox="1"/>
          <p:nvPr/>
        </p:nvSpPr>
        <p:spPr>
          <a:xfrm>
            <a:off x="7104888" y="2377440"/>
            <a:ext cx="1143000" cy="548640"/>
          </a:xfrm>
          <a:prstGeom prst="rect">
            <a:avLst/>
          </a:prstGeom>
          <a:noFill/>
          <a:ln/>
        </p:spPr>
        <p:txBody>
          <a:bodyPr wrap="square" lIns="0" tIns="0" rIns="0" bIns="0" rtlCol="0" anchor="t"/>
          <a:lstStyle/>
          <a:p>
            <a:pPr indent="0" marL="0">
              <a:buNone/>
            </a:pPr>
            <a:r>
              <a:rPr lang="en-US" sz="1500" b="1" dirty="0">
                <a:solidFill>
                  <a:srgbClr val="F4F2EC"/>
                </a:solidFill>
                <a:latin typeface="Calibri" pitchFamily="34" charset="0"/>
                <a:ea typeface="Calibri" pitchFamily="34" charset="-122"/>
                <a:cs typeface="Calibri" pitchFamily="34" charset="-120"/>
              </a:rPr>
              <a:t>Chạy</a:t>
            </a:r>
            <a:endParaRPr lang="en-US" sz="1500" dirty="0"/>
          </a:p>
        </p:txBody>
      </p:sp>
      <p:sp>
        <p:nvSpPr>
          <p:cNvPr id="27" name="Text 25"/>
          <p:cNvSpPr txBox="1"/>
          <p:nvPr/>
        </p:nvSpPr>
        <p:spPr>
          <a:xfrm>
            <a:off x="7104888" y="2971800"/>
            <a:ext cx="1143000" cy="822960"/>
          </a:xfrm>
          <a:prstGeom prst="rect">
            <a:avLst/>
          </a:prstGeom>
          <a:noFill/>
          <a:ln/>
        </p:spPr>
        <p:txBody>
          <a:bodyPr wrap="square" lIns="0" tIns="0" rIns="0" bIns="0" rtlCol="0" anchor="t"/>
          <a:lstStyle/>
          <a:p>
            <a:pPr indent="0" marL="0">
              <a:buNone/>
            </a:pPr>
            <a:r>
              <a:rPr lang="en-US" sz="1300" dirty="0">
                <a:solidFill>
                  <a:srgbClr val="B8C6D2"/>
                </a:solidFill>
                <a:latin typeface="Calibri" pitchFamily="34" charset="0"/>
                <a:ea typeface="Calibri" pitchFamily="34" charset="-122"/>
                <a:cs typeface="Calibri" pitchFamily="34" charset="-120"/>
              </a:rPr>
              <a:t>Đồng thời (k6) và tuần tự</a:t>
            </a:r>
            <a:endParaRPr lang="en-US" sz="1300" dirty="0"/>
          </a:p>
        </p:txBody>
      </p:sp>
      <p:sp>
        <p:nvSpPr>
          <p:cNvPr id="28" name="Shape 26"/>
          <p:cNvSpPr/>
          <p:nvPr/>
        </p:nvSpPr>
        <p:spPr>
          <a:xfrm>
            <a:off x="8403336" y="2834640"/>
            <a:ext cx="128016" cy="0"/>
          </a:xfrm>
          <a:prstGeom prst="line">
            <a:avLst/>
          </a:prstGeom>
          <a:noFill/>
          <a:ln w="19050">
            <a:solidFill>
              <a:srgbClr val="7A8592"/>
            </a:solidFill>
            <a:prstDash val="solid"/>
            <a:tailEnd type="triangle"/>
          </a:ln>
        </p:spPr>
      </p:sp>
      <p:sp>
        <p:nvSpPr>
          <p:cNvPr id="29" name="Shape 27"/>
          <p:cNvSpPr/>
          <p:nvPr/>
        </p:nvSpPr>
        <p:spPr>
          <a:xfrm>
            <a:off x="8549640" y="1783080"/>
            <a:ext cx="1417320" cy="2103120"/>
          </a:xfrm>
          <a:prstGeom prst="roundRect">
            <a:avLst>
              <a:gd name="adj" fmla="val 7742"/>
            </a:avLst>
          </a:prstGeom>
          <a:solidFill>
            <a:srgbClr val="FBFAF6"/>
          </a:solidFill>
          <a:ln w="12700">
            <a:solidFill>
              <a:srgbClr val="DAD6CC"/>
            </a:solidFill>
            <a:prstDash val="solid"/>
          </a:ln>
        </p:spPr>
      </p:sp>
      <p:sp>
        <p:nvSpPr>
          <p:cNvPr id="30" name="Text 28"/>
          <p:cNvSpPr txBox="1"/>
          <p:nvPr/>
        </p:nvSpPr>
        <p:spPr>
          <a:xfrm>
            <a:off x="8686800" y="1874520"/>
            <a:ext cx="457200" cy="457200"/>
          </a:xfrm>
          <a:prstGeom prst="rect">
            <a:avLst/>
          </a:prstGeom>
          <a:noFill/>
          <a:ln/>
        </p:spPr>
        <p:txBody>
          <a:bodyPr wrap="square" lIns="0" tIns="0" rIns="0" bIns="0" rtlCol="0" anchor="ctr"/>
          <a:lstStyle/>
          <a:p>
            <a:pPr indent="0" marL="0">
              <a:buNone/>
            </a:pPr>
            <a:r>
              <a:rPr lang="en-US" sz="2400" b="1" dirty="0">
                <a:solidFill>
                  <a:srgbClr val="2558B8"/>
                </a:solidFill>
                <a:latin typeface="Calibri" pitchFamily="34" charset="0"/>
                <a:ea typeface="Calibri" pitchFamily="34" charset="-122"/>
                <a:cs typeface="Calibri" pitchFamily="34" charset="-120"/>
              </a:rPr>
              <a:t>6</a:t>
            </a:r>
            <a:endParaRPr lang="en-US" sz="2400" dirty="0"/>
          </a:p>
        </p:txBody>
      </p:sp>
      <p:sp>
        <p:nvSpPr>
          <p:cNvPr id="31" name="Text 29"/>
          <p:cNvSpPr txBox="1"/>
          <p:nvPr/>
        </p:nvSpPr>
        <p:spPr>
          <a:xfrm>
            <a:off x="8686800" y="2377440"/>
            <a:ext cx="1143000" cy="548640"/>
          </a:xfrm>
          <a:prstGeom prst="rect">
            <a:avLst/>
          </a:prstGeom>
          <a:noFill/>
          <a:ln/>
        </p:spPr>
        <p:txBody>
          <a:bodyPr wrap="square" lIns="0" tIns="0" rIns="0" bIns="0" rtlCol="0" anchor="t"/>
          <a:lstStyle/>
          <a:p>
            <a:pPr indent="0" marL="0">
              <a:buNone/>
            </a:pPr>
            <a:r>
              <a:rPr lang="en-US" sz="1500" b="1" dirty="0">
                <a:solidFill>
                  <a:srgbClr val="12202B"/>
                </a:solidFill>
                <a:latin typeface="Calibri" pitchFamily="34" charset="0"/>
                <a:ea typeface="Calibri" pitchFamily="34" charset="-122"/>
                <a:cs typeface="Calibri" pitchFamily="34" charset="-120"/>
              </a:rPr>
              <a:t>Kiểm trong CSDL</a:t>
            </a:r>
            <a:endParaRPr lang="en-US" sz="1500" dirty="0"/>
          </a:p>
        </p:txBody>
      </p:sp>
      <p:sp>
        <p:nvSpPr>
          <p:cNvPr id="32" name="Text 30"/>
          <p:cNvSpPr txBox="1"/>
          <p:nvPr/>
        </p:nvSpPr>
        <p:spPr>
          <a:xfrm>
            <a:off x="8686800" y="2971800"/>
            <a:ext cx="1143000" cy="822960"/>
          </a:xfrm>
          <a:prstGeom prst="rect">
            <a:avLst/>
          </a:prstGeom>
          <a:noFill/>
          <a:ln/>
        </p:spPr>
        <p:txBody>
          <a:bodyPr wrap="square" lIns="0" tIns="0" rIns="0" bIns="0" rtlCol="0" anchor="t"/>
          <a:lstStyle/>
          <a:p>
            <a:pPr indent="0" marL="0">
              <a:buNone/>
            </a:pPr>
            <a:r>
              <a:rPr lang="en-US" sz="1300" dirty="0">
                <a:solidFill>
                  <a:srgbClr val="4A5866"/>
                </a:solidFill>
                <a:latin typeface="Calibri" pitchFamily="34" charset="0"/>
                <a:ea typeface="Calibri" pitchFamily="34" charset="-122"/>
                <a:cs typeface="Calibri" pitchFamily="34" charset="-120"/>
              </a:rPr>
              <a:t>SQL kiểm từng invariant</a:t>
            </a:r>
            <a:endParaRPr lang="en-US" sz="1300" dirty="0"/>
          </a:p>
        </p:txBody>
      </p:sp>
      <p:sp>
        <p:nvSpPr>
          <p:cNvPr id="33" name="Shape 31"/>
          <p:cNvSpPr/>
          <p:nvPr/>
        </p:nvSpPr>
        <p:spPr>
          <a:xfrm>
            <a:off x="9985248" y="2834640"/>
            <a:ext cx="128016" cy="0"/>
          </a:xfrm>
          <a:prstGeom prst="line">
            <a:avLst/>
          </a:prstGeom>
          <a:noFill/>
          <a:ln w="19050">
            <a:solidFill>
              <a:srgbClr val="7A8592"/>
            </a:solidFill>
            <a:prstDash val="solid"/>
            <a:tailEnd type="triangle"/>
          </a:ln>
        </p:spPr>
      </p:sp>
      <p:sp>
        <p:nvSpPr>
          <p:cNvPr id="34" name="Shape 32"/>
          <p:cNvSpPr/>
          <p:nvPr/>
        </p:nvSpPr>
        <p:spPr>
          <a:xfrm>
            <a:off x="10131552" y="1783080"/>
            <a:ext cx="1417320" cy="2103120"/>
          </a:xfrm>
          <a:prstGeom prst="roundRect">
            <a:avLst>
              <a:gd name="adj" fmla="val 7742"/>
            </a:avLst>
          </a:prstGeom>
          <a:solidFill>
            <a:srgbClr val="FBFAF6"/>
          </a:solidFill>
          <a:ln w="12700">
            <a:solidFill>
              <a:srgbClr val="DAD6CC"/>
            </a:solidFill>
            <a:prstDash val="solid"/>
          </a:ln>
        </p:spPr>
      </p:sp>
      <p:sp>
        <p:nvSpPr>
          <p:cNvPr id="35" name="Text 33"/>
          <p:cNvSpPr txBox="1"/>
          <p:nvPr/>
        </p:nvSpPr>
        <p:spPr>
          <a:xfrm>
            <a:off x="10268712" y="1874520"/>
            <a:ext cx="457200" cy="457200"/>
          </a:xfrm>
          <a:prstGeom prst="rect">
            <a:avLst/>
          </a:prstGeom>
          <a:noFill/>
          <a:ln/>
        </p:spPr>
        <p:txBody>
          <a:bodyPr wrap="square" lIns="0" tIns="0" rIns="0" bIns="0" rtlCol="0" anchor="ctr"/>
          <a:lstStyle/>
          <a:p>
            <a:pPr indent="0" marL="0">
              <a:buNone/>
            </a:pPr>
            <a:r>
              <a:rPr lang="en-US" sz="2400" b="1" dirty="0">
                <a:solidFill>
                  <a:srgbClr val="2558B8"/>
                </a:solidFill>
                <a:latin typeface="Calibri" pitchFamily="34" charset="0"/>
                <a:ea typeface="Calibri" pitchFamily="34" charset="-122"/>
                <a:cs typeface="Calibri" pitchFamily="34" charset="-120"/>
              </a:rPr>
              <a:t>7</a:t>
            </a:r>
            <a:endParaRPr lang="en-US" sz="2400" dirty="0"/>
          </a:p>
        </p:txBody>
      </p:sp>
      <p:sp>
        <p:nvSpPr>
          <p:cNvPr id="36" name="Text 34"/>
          <p:cNvSpPr txBox="1"/>
          <p:nvPr/>
        </p:nvSpPr>
        <p:spPr>
          <a:xfrm>
            <a:off x="10268712" y="2377440"/>
            <a:ext cx="1143000" cy="548640"/>
          </a:xfrm>
          <a:prstGeom prst="rect">
            <a:avLst/>
          </a:prstGeom>
          <a:noFill/>
          <a:ln/>
        </p:spPr>
        <p:txBody>
          <a:bodyPr wrap="square" lIns="0" tIns="0" rIns="0" bIns="0" rtlCol="0" anchor="t"/>
          <a:lstStyle/>
          <a:p>
            <a:pPr indent="0" marL="0">
              <a:buNone/>
            </a:pPr>
            <a:r>
              <a:rPr lang="en-US" sz="1500" b="1" dirty="0">
                <a:solidFill>
                  <a:srgbClr val="12202B"/>
                </a:solidFill>
                <a:latin typeface="Calibri" pitchFamily="34" charset="0"/>
                <a:ea typeface="Calibri" pitchFamily="34" charset="-122"/>
                <a:cs typeface="Calibri" pitchFamily="34" charset="-120"/>
              </a:rPr>
              <a:t>Nguyên nhân gốc</a:t>
            </a:r>
            <a:endParaRPr lang="en-US" sz="1500" dirty="0"/>
          </a:p>
        </p:txBody>
      </p:sp>
      <p:sp>
        <p:nvSpPr>
          <p:cNvPr id="37" name="Text 35"/>
          <p:cNvSpPr txBox="1"/>
          <p:nvPr/>
        </p:nvSpPr>
        <p:spPr>
          <a:xfrm>
            <a:off x="10268712" y="2971800"/>
            <a:ext cx="1143000" cy="822960"/>
          </a:xfrm>
          <a:prstGeom prst="rect">
            <a:avLst/>
          </a:prstGeom>
          <a:noFill/>
          <a:ln/>
        </p:spPr>
        <p:txBody>
          <a:bodyPr wrap="square" lIns="0" tIns="0" rIns="0" bIns="0" rtlCol="0" anchor="t"/>
          <a:lstStyle/>
          <a:p>
            <a:pPr indent="0" marL="0">
              <a:buNone/>
            </a:pPr>
            <a:r>
              <a:rPr lang="en-US" sz="1300" dirty="0">
                <a:solidFill>
                  <a:srgbClr val="4A5866"/>
                </a:solidFill>
                <a:latin typeface="Calibri" pitchFamily="34" charset="0"/>
                <a:ea typeface="Calibri" pitchFamily="34" charset="-122"/>
                <a:cs typeface="Calibri" pitchFamily="34" charset="-120"/>
              </a:rPr>
              <a:t>Đọc code, thử khắc phục</a:t>
            </a:r>
            <a:endParaRPr lang="en-US" sz="1300" dirty="0"/>
          </a:p>
        </p:txBody>
      </p:sp>
      <p:sp>
        <p:nvSpPr>
          <p:cNvPr id="38" name="Text 36"/>
          <p:cNvSpPr txBox="1"/>
          <p:nvPr/>
        </p:nvSpPr>
        <p:spPr>
          <a:xfrm>
            <a:off x="640080" y="4206240"/>
            <a:ext cx="10908792" cy="365760"/>
          </a:xfrm>
          <a:prstGeom prst="rect">
            <a:avLst/>
          </a:prstGeom>
          <a:noFill/>
          <a:ln/>
        </p:spPr>
        <p:txBody>
          <a:bodyPr wrap="square" lIns="0" tIns="0" rIns="0" bIns="0" rtlCol="0" anchor="ctr"/>
          <a:lstStyle/>
          <a:p>
            <a:pPr indent="0" marL="0">
              <a:buNone/>
            </a:pPr>
            <a:r>
              <a:rPr lang="en-US" sz="2000" b="1" dirty="0">
                <a:solidFill>
                  <a:srgbClr val="12202B"/>
                </a:solidFill>
                <a:latin typeface="Calibri" pitchFamily="34" charset="0"/>
                <a:ea typeface="Calibri" pitchFamily="34" charset="-122"/>
                <a:cs typeface="Calibri" pitchFamily="34" charset="-120"/>
              </a:rPr>
              <a:t>Tiêu chí pass / fail</a:t>
            </a:r>
            <a:endParaRPr lang="en-US" sz="2000" dirty="0"/>
          </a:p>
        </p:txBody>
      </p:sp>
      <p:sp>
        <p:nvSpPr>
          <p:cNvPr id="39" name="Text 37"/>
          <p:cNvSpPr txBox="1"/>
          <p:nvPr/>
        </p:nvSpPr>
        <p:spPr>
          <a:xfrm>
            <a:off x="640080" y="4617720"/>
            <a:ext cx="10908792"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4A5866"/>
                </a:solidFill>
                <a:latin typeface="Calibri" pitchFamily="34" charset="0"/>
                <a:ea typeface="Calibri" pitchFamily="34" charset="-122"/>
                <a:cs typeface="Calibri" pitchFamily="34" charset="-120"/>
              </a:rPr>
              <a:t>Một vòng PASS khi mọi invariant đúng và không có phản hồi 5xx hay lỗi kết nối.</a:t>
            </a:r>
            <a:endParaRPr lang="en-US" sz="1600" dirty="0"/>
          </a:p>
          <a:p>
            <a:pPr marL="342900" indent="-342900">
              <a:spcAft>
                <a:spcPts val="600"/>
              </a:spcAft>
              <a:buSzPct val="100000"/>
              <a:buChar char="•"/>
            </a:pPr>
            <a:r>
              <a:rPr lang="en-US" sz="1600" dirty="0">
                <a:solidFill>
                  <a:srgbClr val="4A5866"/>
                </a:solidFill>
                <a:latin typeface="Calibri" pitchFamily="34" charset="0"/>
                <a:ea typeface="Calibri" pitchFamily="34" charset="-122"/>
                <a:cs typeface="Calibri" pitchFamily="34" charset="-120"/>
              </a:rPr>
              <a:t>Test case PASS khi cả 10 vòng PASS; một vòng vi phạm là FAIL.</a:t>
            </a:r>
            <a:endParaRPr lang="en-US" sz="1600" dirty="0"/>
          </a:p>
          <a:p>
            <a:pPr marL="342900" indent="-342900">
              <a:buSzPct val="100000"/>
              <a:buChar char="•"/>
            </a:pPr>
            <a:r>
              <a:rPr lang="en-US" sz="1600" dirty="0">
                <a:solidFill>
                  <a:srgbClr val="4A5866"/>
                </a:solidFill>
                <a:latin typeface="Calibri" pitchFamily="34" charset="0"/>
                <a:ea typeface="Calibri" pitchFamily="34" charset="-122"/>
                <a:cs typeface="Calibri" pitchFamily="34" charset="-120"/>
              </a:rPr>
              <a:t>Là lỗi race khi gửi đồng thời FAIL nhưng gửi tuần tự PASS; nếu tuần tự cũng FAIL thì là lỗi logic.</a:t>
            </a:r>
            <a:endParaRPr lang="en-US" sz="1600" dirty="0"/>
          </a:p>
        </p:txBody>
      </p:sp>
      <p:sp>
        <p:nvSpPr>
          <p:cNvPr id="40" name="Text 38"/>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Chi tiết: docs/QUY_TRINH_TEST.md mục 1</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DANH SÁCH TEST CASE</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8 test case, mỗi cái chạy 10 vòng</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914400"/>
                <a:gridCol w="4754880"/>
                <a:gridCol w="3931920"/>
                <a:gridCol w="1307592"/>
              </a:tblGrid>
              <a:tr h="429768">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TC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Input (gửi đồng thời)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Kết quả mong đợi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Invariant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người đặt cùng một giờ 09:00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 người 200, 9 người 409</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TC-02</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giờ lệch 3 phút, event 30 và 60 phút, chồng lấn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Chỉ 1 booking hiệu lực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6 người đặt event 3 ghế, giờ trống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3 người 200, 3 người 409; 3 ghế</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I2, I2b</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6 người tranh 2 ghế còn lại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2 người 200, 4 người 409</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I2, I2b</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người đặt event cần xác nhận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Chỉ 1 booking chờ xác nhận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5 lệnh đổi lịch cùng một 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 lệnh thành công, booking gốc bị hủy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TC-07</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 lệnh hủy + 1 lệnh đổi lịch cùng 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Không thể cả hai cùng thành công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TC-08</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 người đặt 8 giờ khác nhau, giới hạn 1/ngày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Chỉ 1 người thành công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486400"/>
            <a:ext cx="10908792" cy="64008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Dữ liệu: host k15host (UTC, rảnh 24/7); 5 loại cuộc hẹn; mỗi request dùng một email người đặt khác nhau. I7 (không có 5xx) áp dụng cho mọi test case.</a:t>
            </a:r>
            <a:endParaRPr lang="en-US" sz="1500" dirty="0"/>
          </a:p>
        </p:txBody>
      </p:sp>
      <p:sp>
        <p:nvSpPr>
          <p:cNvPr id="6" name="Text 3"/>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Đầy đủ tiền điều kiện và invariant: docs/QUY_TRINH_TEST.md mục 2</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CHI PHÍ TEST</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Chi phí đo thật: 0 đồng, khoảng 12 phút máy</a:t>
            </a:r>
            <a:endParaRPr lang="en-US" sz="3400" dirty="0"/>
          </a:p>
        </p:txBody>
      </p:sp>
      <p:sp>
        <p:nvSpPr>
          <p:cNvPr id="4" name="Shape 2"/>
          <p:cNvSpPr/>
          <p:nvPr/>
        </p:nvSpPr>
        <p:spPr>
          <a:xfrm>
            <a:off x="640080" y="1691640"/>
            <a:ext cx="2521458" cy="1554480"/>
          </a:xfrm>
          <a:prstGeom prst="roundRect">
            <a:avLst>
              <a:gd name="adj" fmla="val 7059"/>
            </a:avLst>
          </a:prstGeom>
          <a:solidFill>
            <a:srgbClr val="FBFAF6"/>
          </a:solidFill>
          <a:ln w="12700">
            <a:solidFill>
              <a:srgbClr val="DAD6CC"/>
            </a:solidFill>
            <a:prstDash val="solid"/>
          </a:ln>
        </p:spPr>
      </p:sp>
      <p:sp>
        <p:nvSpPr>
          <p:cNvPr id="5" name="Text 3"/>
          <p:cNvSpPr txBox="1"/>
          <p:nvPr/>
        </p:nvSpPr>
        <p:spPr>
          <a:xfrm>
            <a:off x="822960" y="1783080"/>
            <a:ext cx="2155698" cy="731520"/>
          </a:xfrm>
          <a:prstGeom prst="rect">
            <a:avLst/>
          </a:prstGeom>
          <a:noFill/>
          <a:ln/>
        </p:spPr>
        <p:txBody>
          <a:bodyPr wrap="square" lIns="0" tIns="0" rIns="0" bIns="0" rtlCol="0" anchor="ctr"/>
          <a:lstStyle/>
          <a:p>
            <a:pPr indent="0" marL="0">
              <a:buNone/>
            </a:pPr>
            <a:r>
              <a:rPr lang="en-US" sz="3200" b="1" dirty="0">
                <a:solidFill>
                  <a:srgbClr val="2558B8"/>
                </a:solidFill>
                <a:latin typeface="Calibri" pitchFamily="34" charset="0"/>
                <a:ea typeface="Calibri" pitchFamily="34" charset="-122"/>
                <a:cs typeface="Calibri" pitchFamily="34" charset="-120"/>
              </a:rPr>
              <a:t>0 đồng</a:t>
            </a:r>
            <a:endParaRPr lang="en-US" sz="3200" dirty="0"/>
          </a:p>
        </p:txBody>
      </p:sp>
      <p:sp>
        <p:nvSpPr>
          <p:cNvPr id="6" name="Text 4"/>
          <p:cNvSpPr txBox="1"/>
          <p:nvPr/>
        </p:nvSpPr>
        <p:spPr>
          <a:xfrm>
            <a:off x="822960" y="2560320"/>
            <a:ext cx="2155698" cy="64008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Công cụ miễn phí, chạy trên máy cá nhân</a:t>
            </a:r>
            <a:endParaRPr lang="en-US" sz="1400" dirty="0"/>
          </a:p>
        </p:txBody>
      </p:sp>
      <p:sp>
        <p:nvSpPr>
          <p:cNvPr id="7" name="Shape 5"/>
          <p:cNvSpPr/>
          <p:nvPr/>
        </p:nvSpPr>
        <p:spPr>
          <a:xfrm>
            <a:off x="3435858" y="1691640"/>
            <a:ext cx="2521458" cy="1554480"/>
          </a:xfrm>
          <a:prstGeom prst="roundRect">
            <a:avLst>
              <a:gd name="adj" fmla="val 7059"/>
            </a:avLst>
          </a:prstGeom>
          <a:solidFill>
            <a:srgbClr val="FBFAF6"/>
          </a:solidFill>
          <a:ln w="12700">
            <a:solidFill>
              <a:srgbClr val="DAD6CC"/>
            </a:solidFill>
            <a:prstDash val="solid"/>
          </a:ln>
        </p:spPr>
      </p:sp>
      <p:sp>
        <p:nvSpPr>
          <p:cNvPr id="8" name="Text 6"/>
          <p:cNvSpPr txBox="1"/>
          <p:nvPr/>
        </p:nvSpPr>
        <p:spPr>
          <a:xfrm>
            <a:off x="3618738" y="1783080"/>
            <a:ext cx="2155698" cy="731520"/>
          </a:xfrm>
          <a:prstGeom prst="rect">
            <a:avLst/>
          </a:prstGeom>
          <a:noFill/>
          <a:ln/>
        </p:spPr>
        <p:txBody>
          <a:bodyPr wrap="square" lIns="0" tIns="0" rIns="0" bIns="0" rtlCol="0" anchor="ctr"/>
          <a:lstStyle/>
          <a:p>
            <a:pPr indent="0" marL="0">
              <a:buNone/>
            </a:pPr>
            <a:r>
              <a:rPr lang="en-US" sz="3200" b="1" dirty="0">
                <a:solidFill>
                  <a:srgbClr val="2558B8"/>
                </a:solidFill>
                <a:latin typeface="Calibri" pitchFamily="34" charset="0"/>
                <a:ea typeface="Calibri" pitchFamily="34" charset="-122"/>
                <a:cs typeface="Calibri" pitchFamily="34" charset="-120"/>
              </a:rPr>
              <a:t>2 080</a:t>
            </a:r>
            <a:endParaRPr lang="en-US" sz="3200" dirty="0"/>
          </a:p>
        </p:txBody>
      </p:sp>
      <p:sp>
        <p:nvSpPr>
          <p:cNvPr id="9" name="Text 7"/>
          <p:cNvSpPr txBox="1"/>
          <p:nvPr/>
        </p:nvSpPr>
        <p:spPr>
          <a:xfrm>
            <a:off x="3618738" y="2560320"/>
            <a:ext cx="2155698" cy="64008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Request đã gửi trong mọi lần chạy</a:t>
            </a:r>
            <a:endParaRPr lang="en-US" sz="1400" dirty="0"/>
          </a:p>
        </p:txBody>
      </p:sp>
      <p:sp>
        <p:nvSpPr>
          <p:cNvPr id="10" name="Shape 8"/>
          <p:cNvSpPr/>
          <p:nvPr/>
        </p:nvSpPr>
        <p:spPr>
          <a:xfrm>
            <a:off x="6231636" y="1691640"/>
            <a:ext cx="2521458" cy="1554480"/>
          </a:xfrm>
          <a:prstGeom prst="roundRect">
            <a:avLst>
              <a:gd name="adj" fmla="val 7059"/>
            </a:avLst>
          </a:prstGeom>
          <a:solidFill>
            <a:srgbClr val="FBFAF6"/>
          </a:solidFill>
          <a:ln w="12700">
            <a:solidFill>
              <a:srgbClr val="DAD6CC"/>
            </a:solidFill>
            <a:prstDash val="solid"/>
          </a:ln>
        </p:spPr>
      </p:sp>
      <p:sp>
        <p:nvSpPr>
          <p:cNvPr id="11" name="Text 9"/>
          <p:cNvSpPr txBox="1"/>
          <p:nvPr/>
        </p:nvSpPr>
        <p:spPr>
          <a:xfrm>
            <a:off x="6414516" y="1783080"/>
            <a:ext cx="2155698" cy="731520"/>
          </a:xfrm>
          <a:prstGeom prst="rect">
            <a:avLst/>
          </a:prstGeom>
          <a:noFill/>
          <a:ln/>
        </p:spPr>
        <p:txBody>
          <a:bodyPr wrap="square" lIns="0" tIns="0" rIns="0" bIns="0" rtlCol="0" anchor="ctr"/>
          <a:lstStyle/>
          <a:p>
            <a:pPr indent="0" marL="0">
              <a:buNone/>
            </a:pPr>
            <a:r>
              <a:rPr lang="en-US" sz="3200" b="1" dirty="0">
                <a:solidFill>
                  <a:srgbClr val="2558B8"/>
                </a:solidFill>
                <a:latin typeface="Calibri" pitchFamily="34" charset="0"/>
                <a:ea typeface="Calibri" pitchFamily="34" charset="-122"/>
                <a:cs typeface="Calibri" pitchFamily="34" charset="-120"/>
              </a:rPr>
              <a:t>≈ 12 phút</a:t>
            </a:r>
            <a:endParaRPr lang="en-US" sz="3200" dirty="0"/>
          </a:p>
        </p:txBody>
      </p:sp>
      <p:sp>
        <p:nvSpPr>
          <p:cNvPr id="12" name="Text 10"/>
          <p:cNvSpPr txBox="1"/>
          <p:nvPr/>
        </p:nvSpPr>
        <p:spPr>
          <a:xfrm>
            <a:off x="6414516" y="2560320"/>
            <a:ext cx="2155698" cy="64008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Tổng thời gian máy chạy test</a:t>
            </a:r>
            <a:endParaRPr lang="en-US" sz="1400" dirty="0"/>
          </a:p>
        </p:txBody>
      </p:sp>
      <p:sp>
        <p:nvSpPr>
          <p:cNvPr id="13" name="Shape 11"/>
          <p:cNvSpPr/>
          <p:nvPr/>
        </p:nvSpPr>
        <p:spPr>
          <a:xfrm>
            <a:off x="9027414" y="1691640"/>
            <a:ext cx="2521458" cy="1554480"/>
          </a:xfrm>
          <a:prstGeom prst="roundRect">
            <a:avLst>
              <a:gd name="adj" fmla="val 7059"/>
            </a:avLst>
          </a:prstGeom>
          <a:solidFill>
            <a:srgbClr val="FBFAF6"/>
          </a:solidFill>
          <a:ln w="12700">
            <a:solidFill>
              <a:srgbClr val="DAD6CC"/>
            </a:solidFill>
            <a:prstDash val="solid"/>
          </a:ln>
        </p:spPr>
      </p:sp>
      <p:sp>
        <p:nvSpPr>
          <p:cNvPr id="14" name="Text 12"/>
          <p:cNvSpPr txBox="1"/>
          <p:nvPr/>
        </p:nvSpPr>
        <p:spPr>
          <a:xfrm>
            <a:off x="9210294" y="1783080"/>
            <a:ext cx="2155698" cy="731520"/>
          </a:xfrm>
          <a:prstGeom prst="rect">
            <a:avLst/>
          </a:prstGeom>
          <a:noFill/>
          <a:ln/>
        </p:spPr>
        <p:txBody>
          <a:bodyPr wrap="square" lIns="0" tIns="0" rIns="0" bIns="0" rtlCol="0" anchor="ctr"/>
          <a:lstStyle/>
          <a:p>
            <a:pPr indent="0" marL="0">
              <a:buNone/>
            </a:pPr>
            <a:r>
              <a:rPr lang="en-US" sz="3200" b="1" dirty="0">
                <a:solidFill>
                  <a:srgbClr val="2558B8"/>
                </a:solidFill>
                <a:latin typeface="Calibri" pitchFamily="34" charset="0"/>
                <a:ea typeface="Calibri" pitchFamily="34" charset="-122"/>
                <a:cs typeface="Calibri" pitchFamily="34" charset="-120"/>
              </a:rPr>
              <a:t>≈ 970</a:t>
            </a:r>
            <a:endParaRPr lang="en-US" sz="3200" dirty="0"/>
          </a:p>
        </p:txBody>
      </p:sp>
      <p:sp>
        <p:nvSpPr>
          <p:cNvPr id="15" name="Text 13"/>
          <p:cNvSpPr txBox="1"/>
          <p:nvPr/>
        </p:nvSpPr>
        <p:spPr>
          <a:xfrm>
            <a:off x="9210294" y="2560320"/>
            <a:ext cx="2155698" cy="64008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Dòng mã bộ test (Node.js, k6, SQL)</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10908792" cy="914400"/>
        </p:xfrm>
        <a:graphic>
          <a:graphicData uri="http://schemas.openxmlformats.org/drawingml/2006/table">
            <a:tbl>
              <a:tblPr/>
              <a:tblGrid>
                <a:gridCol w="6583680"/>
                <a:gridCol w="2011680"/>
                <a:gridCol w="2313432"/>
              </a:tblGrid>
              <a:tr h="384048">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Lần chạy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Request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Thời gian máy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38404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Đồng thời chính (8 test case × 10 vòng)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570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150 giây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Tuần tự đối chứng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570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22 giây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Độ nhạy: chỉ 2 request, 20 vòng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164 giây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Thí nghiệm khắc phục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380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85 giây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Đo cửa sổ race (18 mốc độ trễ)</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360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300 giây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640080" y="5943600"/>
            <a:ext cx="10908792" cy="365760"/>
          </a:xfrm>
          <a:prstGeom prst="rect">
            <a:avLst/>
          </a:prstGeom>
          <a:noFill/>
          <a:ln/>
        </p:spPr>
        <p:txBody>
          <a:bodyPr wrap="square" lIns="0" tIns="0" rIns="0" bIns="0" rtlCol="0" anchor="ctr"/>
          <a:lstStyle/>
          <a:p>
            <a:pPr indent="0" marL="0">
              <a:buNone/>
            </a:pPr>
            <a:r>
              <a:rPr lang="en-US" sz="1400" dirty="0">
                <a:solidFill>
                  <a:srgbClr val="4A5866"/>
                </a:solidFill>
                <a:latin typeface="Calibri" pitchFamily="34" charset="0"/>
                <a:ea typeface="Calibri" pitchFamily="34" charset="-122"/>
                <a:cs typeface="Calibri" pitchFamily="34" charset="-120"/>
              </a:rPr>
              <a:t>Công sức nhóm (người-giờ): [nhóm điền số giờ thực tế của từng thành viên]. Máy: MacBook Apple Silicon 10 nhân, 32 GB RAM.</a:t>
            </a:r>
            <a:endParaRPr lang="en-US" sz="1400" dirty="0"/>
          </a:p>
        </p:txBody>
      </p:sp>
      <p:sp>
        <p:nvSpPr>
          <p:cNvPr id="18" name="Text 15"/>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Số liệu lấy từ summary.json của từng lần chạy: docs/QUY_TRINH_TEST.md mục 3</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LỖI THẬT, TÁI HIỆN ĐỘC LẬP</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6 lỗi, đều tái hiện được bằng curl thuần</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822960"/>
                <a:gridCol w="5394960"/>
                <a:gridCol w="4690872"/>
              </a:tblGrid>
              <a:tr h="502920">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Lỗi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Tái hiện bằng curl (không dùng harness)</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Dữ liệu trong CSDL</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50292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2 khách đặt 2 giờ chồng nhau cùng lúc: cả hai 200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2 booking accepted chồng giờ 09:00–09:30 và 09:15–09:45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D2</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6 người đặt event 3 ghế: 1×200, 5×409</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Chỉ bán 1/3 ghế dù còn ghế</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người đặt event cần xác nhận: 8×200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 booking chờ xác nhận cùng một giờ</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Đổi lịch liên tiếp một booking gốc 3 lần: cả 3 đều 200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3 booking accepted từ cùng một gốc (cả khi tuần tự)</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Hủy và đổi lịch cùng lúc: cả hai 200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Booking 09:00 đã hủy nhưng vẫn còn booking 11:00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 người đặt 8 giờ, giới hạn 1/ngày: 8×200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 booking hiệu lực trong một ngày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394960"/>
            <a:ext cx="10908792" cy="73152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Đối chứng: gửi tuần tự hai request chồng giờ thì request thứ hai bị 409. Nhóm chưa báo lỗi cho Cal.com và chưa sửa mã Cal.com.</a:t>
            </a:r>
            <a:endParaRPr lang="en-US" sz="1600" dirty="0"/>
          </a:p>
        </p:txBody>
      </p:sp>
      <p:sp>
        <p:nvSpPr>
          <p:cNvPr id="6" name="Text 3"/>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race-tests/repro/repro-curl.sh · docs/evidence/repro-curl.txt · docs/MINH_CHUNG_LOI.md</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R05-K15 – Báo cáo giữa kỳ (bổ sung)</dc:title>
  <dc:subject>PptxGenJS Presentation</dc:subject>
  <dc:creator>Nhóm R05-K15</dc:creator>
  <cp:lastModifiedBy>Nhóm R05-K15</cp:lastModifiedBy>
  <cp:revision>1</cp:revision>
  <dcterms:created xsi:type="dcterms:W3CDTF">2026-10-17T18:04:00Z</dcterms:created>
  <dcterms:modified xsi:type="dcterms:W3CDTF">2026-10-17T18:04:00Z</dcterms:modified>
</cp:coreProperties>
</file>