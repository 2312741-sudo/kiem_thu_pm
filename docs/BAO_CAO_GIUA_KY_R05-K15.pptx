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5913233-4e41-bdf6-0380-40651ac9a813}">
          <p14:sldIdLst>
            <p14:sldId id="256"/>
            <p14:sldId id="257"/>
          </p14:sldIdLst>
        </p14:section>
        <p14:section name="Tiến độ" id="{099a27df-3b7a-1502-9a22-27b745971eb9}">
          <p14:sldIdLst>
            <p14:sldId id="258"/>
          </p14:sldIdLst>
        </p14:section>
        <p14:section name="Hệ thống và kiểm thử" id="{b5e90492-87eb-120c-3dc4-6a1d4fa5bb0c}">
          <p14:sldIdLst>
            <p14:sldId id="259"/>
            <p14:sldId id="260"/>
          </p14:sldIdLst>
        </p14:section>
        <p14:section name="Kế hoạch kiểm thử" id="{5760c3a2-78e9-0f69-6596-eb65fb09327b}">
          <p14:sldIdLst>
            <p14:sldId id="261"/>
          </p14:sldIdLst>
        </p14:section>
        <p14:section name="Kết quả sơ bộ" id="{71074cac-7e51-fa6d-4e32-8b511cb9081a}">
          <p14:sldIdLst>
            <p14:sldId id="262"/>
          </p14:sldIdLst>
        </p14:section>
        <p14:section name="Tiếp theo" id="{ac26d88b-fa99-f9c9-e3a0-418126b4428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sơ bộ: S1 đặt cùng slot PASS nhờ khóa idempotency. S2 đặt hai slot chồng lấn thì FAIL ở mọi vòng: host bị đặt chồng. Đây là lý do nhóm chọn kỹ thuật này. Nhóm đã chạy đủ 8 scenario; kết quả đầy đủ, nguyên nhân gốc và thí nghiệm khắc phục xin để dành cho buổi bảo vệ cuối kỳ. Con số 20/20 đến từ thí nghiệm riêng với 2 request, 20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Đã dựng hệ thống, đã vẽ kiến trúc, đã có kế hoạch kiểm thử và kết quả thử nghiệm đầu tiên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7498080" y="5577840"/>
            <a:ext cx="4023360" cy="731520"/>
          </a:xfrm>
          <a:prstGeom prst="rect">
            <a:avLst/>
          </a:prstGeom>
          <a:noFill/>
          <a:ln/>
        </p:spPr>
        <p:txBody>
          <a:bodyPr wrap="square" lIns="0" tIns="0" rIns="0" bIns="0" rtlCol="0" anchor="ctr"/>
          <a:lstStyle/>
          <a:p>
            <a:pPr algn="r" indent="0" marL="0">
              <a:buNone/>
            </a:pPr>
            <a:r>
              <a:rPr lang="en-US" sz="1600" dirty="0">
                <a:solidFill>
                  <a:srgbClr val="B8C6D2"/>
                </a:solidFill>
                <a:latin typeface="Calibri" pitchFamily="34" charset="0"/>
                <a:ea typeface="Calibri" pitchFamily="34" charset="-122"/>
                <a:cs typeface="Calibri" pitchFamily="34" charset="-120"/>
              </a:rPr>
              <a:t>Nhóm: [Tên thành viên 1 – 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42062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 chạy lại trên máy khác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vai 4 người, board Trello/Jira, lịch sử Git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Cần điền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Ảnh board, git log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05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KẾT QUẢ THỬ NGHIỆM ĐẦU TIÊN</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cơ chế bảo vệ hoạt động, một cơ chế thì không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383280"/>
                <a:gridCol w="2926080"/>
                <a:gridCol w="1828800"/>
                <a:gridCol w="2770632"/>
              </a:tblGrid>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Thử nghiệm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request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Gửi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CSDL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66928">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S1 · cùng một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 (0/10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S2 · slot lệch giờ, chồng lấn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FAIL (10/10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booking chồng nhau</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Shape 2"/>
          <p:cNvSpPr/>
          <p:nvPr/>
        </p:nvSpPr>
        <p:spPr>
          <a:xfrm>
            <a:off x="640080" y="3749040"/>
            <a:ext cx="3422904" cy="2103120"/>
          </a:xfrm>
          <a:prstGeom prst="roundRect">
            <a:avLst>
              <a:gd name="adj" fmla="val 5217"/>
            </a:avLst>
          </a:prstGeom>
          <a:solidFill>
            <a:srgbClr val="FBFAF6"/>
          </a:solidFill>
          <a:ln w="12700">
            <a:solidFill>
              <a:srgbClr val="DAD6CC"/>
            </a:solidFill>
            <a:prstDash val="solid"/>
          </a:ln>
        </p:spPr>
      </p:sp>
      <p:sp>
        <p:nvSpPr>
          <p:cNvPr id="6" name="Text 3"/>
          <p:cNvSpPr txBox="1"/>
          <p:nvPr/>
        </p:nvSpPr>
        <p:spPr>
          <a:xfrm>
            <a:off x="914400"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Mã HTTP vẫn 200</a:t>
            </a:r>
            <a:endParaRPr lang="en-US" sz="2000" dirty="0"/>
          </a:p>
        </p:txBody>
      </p:sp>
      <p:sp>
        <p:nvSpPr>
          <p:cNvPr id="7" name="Text 4"/>
          <p:cNvSpPr txBox="1"/>
          <p:nvPr/>
        </p:nvSpPr>
        <p:spPr>
          <a:xfrm>
            <a:off x="914400"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Cả 10 request đều trả thành công. Chỉ truy vấn CSDL mới thấy dữ liệu sai.</a:t>
            </a:r>
            <a:endParaRPr lang="en-US" sz="1500" dirty="0"/>
          </a:p>
        </p:txBody>
      </p:sp>
      <p:sp>
        <p:nvSpPr>
          <p:cNvPr id="8" name="Shape 5"/>
          <p:cNvSpPr/>
          <p:nvPr/>
        </p:nvSpPr>
        <p:spPr>
          <a:xfrm>
            <a:off x="4383024" y="3749040"/>
            <a:ext cx="3422904" cy="2103120"/>
          </a:xfrm>
          <a:prstGeom prst="roundRect">
            <a:avLst>
              <a:gd name="adj" fmla="val 5217"/>
            </a:avLst>
          </a:prstGeom>
          <a:solidFill>
            <a:srgbClr val="FBFAF6"/>
          </a:solidFill>
          <a:ln w="12700">
            <a:solidFill>
              <a:srgbClr val="DAD6CC"/>
            </a:solidFill>
            <a:prstDash val="solid"/>
          </a:ln>
        </p:spPr>
      </p:sp>
      <p:sp>
        <p:nvSpPr>
          <p:cNvPr id="9" name="Text 6"/>
          <p:cNvSpPr txBox="1"/>
          <p:nvPr/>
        </p:nvSpPr>
        <p:spPr>
          <a:xfrm>
            <a:off x="4657344"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Chỉ cần 2 người</a:t>
            </a:r>
            <a:endParaRPr lang="en-US" sz="2000" dirty="0"/>
          </a:p>
        </p:txBody>
      </p:sp>
      <p:sp>
        <p:nvSpPr>
          <p:cNvPr id="10" name="Text 7"/>
          <p:cNvSpPr txBox="1"/>
          <p:nvPr/>
        </p:nvSpPr>
        <p:spPr>
          <a:xfrm>
            <a:off x="4657344"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Thí nghiệm riêng với 2 request đồng thời, 20 vòng: S2 vi phạm 20/20 (results/sensitivity-n2).</a:t>
            </a:r>
            <a:endParaRPr lang="en-US" sz="1500" dirty="0"/>
          </a:p>
        </p:txBody>
      </p:sp>
      <p:sp>
        <p:nvSpPr>
          <p:cNvPr id="11" name="Shape 8"/>
          <p:cNvSpPr/>
          <p:nvPr/>
        </p:nvSpPr>
        <p:spPr>
          <a:xfrm>
            <a:off x="8125968" y="3749040"/>
            <a:ext cx="3422904" cy="2103120"/>
          </a:xfrm>
          <a:prstGeom prst="roundRect">
            <a:avLst>
              <a:gd name="adj" fmla="val 5217"/>
            </a:avLst>
          </a:prstGeom>
          <a:solidFill>
            <a:srgbClr val="FBFAF6"/>
          </a:solidFill>
          <a:ln w="12700">
            <a:solidFill>
              <a:srgbClr val="DAD6CC"/>
            </a:solidFill>
            <a:prstDash val="solid"/>
          </a:ln>
        </p:spPr>
      </p:sp>
      <p:sp>
        <p:nvSpPr>
          <p:cNvPr id="12" name="Text 9"/>
          <p:cNvSpPr txBox="1"/>
          <p:nvPr/>
        </p:nvSpPr>
        <p:spPr>
          <a:xfrm>
            <a:off x="8400288"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Do khóa quá hẹp</a:t>
            </a:r>
            <a:endParaRPr lang="en-US" sz="2000" dirty="0"/>
          </a:p>
        </p:txBody>
      </p:sp>
      <p:sp>
        <p:nvSpPr>
          <p:cNvPr id="13" name="Text 10"/>
          <p:cNvSpPr txBox="1"/>
          <p:nvPr/>
        </p:nvSpPr>
        <p:spPr>
          <a:xfrm>
            <a:off x="8400288"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idempotencyKey chỉ bắt slot trùng khít start, end và host.</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Bảng: 10 request/vòng; demo chạy 3 vòng, kết quả chuẩn 10 vòng · Nhóm đã chạy đủ 8 scenario, trình bày ở cuối kỳ</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chạy lại toàn bộ trên máy sạch của thành viên khác</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2026-10-13T00:58:32Z</dcterms:created>
  <dcterms:modified xsi:type="dcterms:W3CDTF">2026-10-13T00:58:32Z</dcterms:modified>
</cp:coreProperties>
</file>