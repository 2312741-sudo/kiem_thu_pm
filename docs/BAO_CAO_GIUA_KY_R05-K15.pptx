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cd8f40c2-ac26-2047-d8d3-ad9bce72e0c3}">
          <p14:sldIdLst>
            <p14:sldId id="256"/>
            <p14:sldId id="257"/>
          </p14:sldIdLst>
        </p14:section>
        <p14:section name="Tiến độ" id="{e5b731e4-7478-d7f3-d33c-eecfcc6f640c}">
          <p14:sldIdLst>
            <p14:sldId id="258"/>
          </p14:sldIdLst>
        </p14:section>
        <p14:section name="Hệ thống và kiểm thử" id="{2191bc9a-79cd-0a37-4b29-9d8305ea8d1a}">
          <p14:sldIdLst>
            <p14:sldId id="259"/>
            <p14:sldId id="260"/>
          </p14:sldIdLst>
        </p14:section>
        <p14:section name="Kế hoạch kiểm thử" id="{277f953f-c330-8d22-53ea-bcbecd9414dd}">
          <p14:sldIdLst>
            <p14:sldId id="261"/>
          </p14:sldIdLst>
        </p14:section>
        <p14:section name="Kết quả sơ bộ" id="{81ea8cc3-5232-1997-0356-52dca9ae153f}">
          <p14:sldIdLst>
            <p14:sldId id="262"/>
          </p14:sldIdLst>
        </p14:section>
        <p14:section name="Tiếp theo" id="{44ffd690-acca-92ca-a8ca-6b68fd45aa19}">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8 scenario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sơ bộ: S1 đặt cùng slot PASS nhờ khóa idempotency. S2 đặt hai slot chồng lấn thì FAIL ở mọi vòng: host bị đặt chồng. Đây là lý do nhóm chọn kỹ thuật này. Nhóm đã chạy đủ 8 scenario; kết quả đầy đủ, nguyên nhân gốc và thí nghiệm khắc phục xin để dành cho buổi bảo vệ cuối kỳ. Con số 20/20 đến từ thí nghiệm riêng với 2 request, 20 vòng.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Đã dựng hệ thống, đã vẽ kiến trúc, đã có kế hoạch kiểm thử và kết quả thử nghiệm đầu tiên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algn="r" indent="0" marL="0">
              <a:buNone/>
            </a:pPr>
            <a:r>
              <a:rPr lang="en-US" sz="1600" dirty="0">
                <a:solidFill>
                  <a:srgbClr val="B8C6D2"/>
                </a:solidFill>
                <a:latin typeface="Calibri" pitchFamily="34" charset="0"/>
                <a:ea typeface="Calibri" pitchFamily="34" charset="-122"/>
                <a:cs typeface="Calibri" pitchFamily="34" charset="-120"/>
              </a:rPr>
              <a:t>Nhóm 13</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Sprint 1 hoàn thành, harness 8 scenario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5394960"/>
                <a:gridCol w="1097280"/>
                <a:gridCol w="1371600"/>
                <a:gridCol w="3044952"/>
              </a:tblGrid>
              <a:tr h="420624">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slide 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Harness k6 + SQL, 8 scenario, mỗi scenario 10 vòng, có đối chứng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Scenario Playwright qua giao diện, chạy lại trên máy khác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Board GitHub Projects: 18 thẻ ở 3 cột; còn gán người và commit đều các thành viên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docs/evidence/board.png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sp>
      <p:sp>
        <p:nvSpPr>
          <p:cNvPr id="5" name="Text 3"/>
          <p:cNvSpPr txBox="1"/>
          <p:nvPr/>
        </p:nvSpPr>
        <p:spPr>
          <a:xfrm>
            <a:off x="777240"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sp>
      <p:sp>
        <p:nvSpPr>
          <p:cNvPr id="9" name="Text 7"/>
          <p:cNvSpPr txBox="1"/>
          <p:nvPr/>
        </p:nvSpPr>
        <p:spPr>
          <a:xfrm>
            <a:off x="3636264"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sp>
      <p:sp>
        <p:nvSpPr>
          <p:cNvPr id="13" name="Text 11"/>
          <p:cNvSpPr txBox="1"/>
          <p:nvPr/>
        </p:nvSpPr>
        <p:spPr>
          <a:xfrm>
            <a:off x="6495288"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sp>
      <p:sp>
        <p:nvSpPr>
          <p:cNvPr id="17" name="Text 15"/>
          <p:cNvSpPr txBox="1"/>
          <p:nvPr/>
        </p:nvSpPr>
        <p:spPr>
          <a:xfrm>
            <a:off x="9354312"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937760"/>
            <a:ext cx="10908792" cy="822960"/>
          </a:xfrm>
          <a:prstGeom prst="rect">
            <a:avLst/>
          </a:prstGeom>
          <a:noFill/>
          <a:ln/>
        </p:spPr>
        <p:txBody>
          <a:bodyPr wrap="square" lIns="0" tIns="0" rIns="0" bIns="0" rtlCol="0" anchor="t"/>
          <a:lstStyle/>
          <a:p>
            <a:pPr indent="0" marL="0">
              <a:buNone/>
            </a:pPr>
            <a:r>
              <a:rPr lang="en-US" sz="1600" b="1" dirty="0">
                <a:solidFill>
                  <a:srgbClr val="12202B"/>
                </a:solidFill>
                <a:latin typeface="Calibri" pitchFamily="34" charset="0"/>
                <a:ea typeface="Calibri" pitchFamily="34" charset="-122"/>
                <a:cs typeface="Calibri" pitchFamily="34" charset="-120"/>
              </a:rPr>
              <a:t>Khó khăn đã xử lý: </a:t>
            </a:r>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05 · KẾ HOẠCH ÁP DỤNG K15</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số booking/ngày</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sp>
      <p:sp>
        <p:nvSpPr>
          <p:cNvPr id="8" name="Text 6"/>
          <p:cNvSpPr txBox="1"/>
          <p:nvPr/>
        </p:nvSpPr>
        <p:spPr>
          <a:xfrm>
            <a:off x="4657344" y="1874520"/>
            <a:ext cx="2874264" cy="36576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sp>
      <p:sp>
        <p:nvSpPr>
          <p:cNvPr id="11" name="Text 9"/>
          <p:cNvSpPr txBox="1"/>
          <p:nvPr/>
        </p:nvSpPr>
        <p:spPr>
          <a:xfrm>
            <a:off x="8400288"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không vượt số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đổi lịch, hủy, giới hạn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KẾT QUẢ THỬ NGHIỆM ĐẦU TIÊN</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cơ chế bảo vệ hoạt động, một cơ chế thì không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383280"/>
                <a:gridCol w="2926080"/>
                <a:gridCol w="1828800"/>
                <a:gridCol w="2770632"/>
              </a:tblGrid>
              <a:tr h="566928">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Thử nghiệm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10 request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Gửi tuần tự</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CSDL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66928">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S1 · cùng một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PASS (0/10 vòng sai)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PASS</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booking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S2 · slot lệch giờ, chồng lấn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FAIL (10/10 vòng sai)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PASS</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10 booking chồng nhau</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bl>
          </a:graphicData>
        </a:graphic>
      </p:graphicFrame>
      <p:sp>
        <p:nvSpPr>
          <p:cNvPr id="5" name="Shape 2"/>
          <p:cNvSpPr/>
          <p:nvPr/>
        </p:nvSpPr>
        <p:spPr>
          <a:xfrm>
            <a:off x="640080" y="3749040"/>
            <a:ext cx="3422904" cy="2103120"/>
          </a:xfrm>
          <a:prstGeom prst="roundRect">
            <a:avLst>
              <a:gd name="adj" fmla="val 5217"/>
            </a:avLst>
          </a:prstGeom>
          <a:solidFill>
            <a:srgbClr val="FBFAF6"/>
          </a:solidFill>
          <a:ln w="12700">
            <a:solidFill>
              <a:srgbClr val="DAD6CC"/>
            </a:solidFill>
            <a:prstDash val="solid"/>
          </a:ln>
        </p:spPr>
      </p:sp>
      <p:sp>
        <p:nvSpPr>
          <p:cNvPr id="6" name="Text 3"/>
          <p:cNvSpPr txBox="1"/>
          <p:nvPr/>
        </p:nvSpPr>
        <p:spPr>
          <a:xfrm>
            <a:off x="914400" y="393192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Mã HTTP vẫn 200</a:t>
            </a:r>
            <a:endParaRPr lang="en-US" sz="2000" dirty="0"/>
          </a:p>
        </p:txBody>
      </p:sp>
      <p:sp>
        <p:nvSpPr>
          <p:cNvPr id="7" name="Text 4"/>
          <p:cNvSpPr txBox="1"/>
          <p:nvPr/>
        </p:nvSpPr>
        <p:spPr>
          <a:xfrm>
            <a:off x="914400" y="4480560"/>
            <a:ext cx="2874264" cy="128016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Cả 10 request đều trả thành công. Chỉ truy vấn CSDL mới thấy dữ liệu sai.</a:t>
            </a:r>
            <a:endParaRPr lang="en-US" sz="1500" dirty="0"/>
          </a:p>
        </p:txBody>
      </p:sp>
      <p:sp>
        <p:nvSpPr>
          <p:cNvPr id="8" name="Shape 5"/>
          <p:cNvSpPr/>
          <p:nvPr/>
        </p:nvSpPr>
        <p:spPr>
          <a:xfrm>
            <a:off x="4383024" y="3749040"/>
            <a:ext cx="3422904" cy="2103120"/>
          </a:xfrm>
          <a:prstGeom prst="roundRect">
            <a:avLst>
              <a:gd name="adj" fmla="val 5217"/>
            </a:avLst>
          </a:prstGeom>
          <a:solidFill>
            <a:srgbClr val="FBFAF6"/>
          </a:solidFill>
          <a:ln w="12700">
            <a:solidFill>
              <a:srgbClr val="DAD6CC"/>
            </a:solidFill>
            <a:prstDash val="solid"/>
          </a:ln>
        </p:spPr>
      </p:sp>
      <p:sp>
        <p:nvSpPr>
          <p:cNvPr id="9" name="Text 6"/>
          <p:cNvSpPr txBox="1"/>
          <p:nvPr/>
        </p:nvSpPr>
        <p:spPr>
          <a:xfrm>
            <a:off x="4657344" y="393192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Chỉ cần 2 người</a:t>
            </a:r>
            <a:endParaRPr lang="en-US" sz="2000" dirty="0"/>
          </a:p>
        </p:txBody>
      </p:sp>
      <p:sp>
        <p:nvSpPr>
          <p:cNvPr id="10" name="Text 7"/>
          <p:cNvSpPr txBox="1"/>
          <p:nvPr/>
        </p:nvSpPr>
        <p:spPr>
          <a:xfrm>
            <a:off x="4657344" y="4480560"/>
            <a:ext cx="2874264" cy="128016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Thí nghiệm riêng với 2 request đồng thời, 20 vòng: S2 vi phạm 20/20 (results/sensitivity-n2).</a:t>
            </a:r>
            <a:endParaRPr lang="en-US" sz="1500" dirty="0"/>
          </a:p>
        </p:txBody>
      </p:sp>
      <p:sp>
        <p:nvSpPr>
          <p:cNvPr id="11" name="Shape 8"/>
          <p:cNvSpPr/>
          <p:nvPr/>
        </p:nvSpPr>
        <p:spPr>
          <a:xfrm>
            <a:off x="8125968" y="3749040"/>
            <a:ext cx="3422904" cy="2103120"/>
          </a:xfrm>
          <a:prstGeom prst="roundRect">
            <a:avLst>
              <a:gd name="adj" fmla="val 5217"/>
            </a:avLst>
          </a:prstGeom>
          <a:solidFill>
            <a:srgbClr val="FBFAF6"/>
          </a:solidFill>
          <a:ln w="12700">
            <a:solidFill>
              <a:srgbClr val="DAD6CC"/>
            </a:solidFill>
            <a:prstDash val="solid"/>
          </a:ln>
        </p:spPr>
      </p:sp>
      <p:sp>
        <p:nvSpPr>
          <p:cNvPr id="12" name="Text 9"/>
          <p:cNvSpPr txBox="1"/>
          <p:nvPr/>
        </p:nvSpPr>
        <p:spPr>
          <a:xfrm>
            <a:off x="8400288" y="393192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Do khóa quá hẹp</a:t>
            </a:r>
            <a:endParaRPr lang="en-US" sz="2000" dirty="0"/>
          </a:p>
        </p:txBody>
      </p:sp>
      <p:sp>
        <p:nvSpPr>
          <p:cNvPr id="13" name="Text 10"/>
          <p:cNvSpPr txBox="1"/>
          <p:nvPr/>
        </p:nvSpPr>
        <p:spPr>
          <a:xfrm>
            <a:off x="8400288" y="4480560"/>
            <a:ext cx="2874264" cy="128016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idempotencyKey chỉ bắt slot trùng khít start, end và host.</a:t>
            </a:r>
            <a:endParaRPr lang="en-US" sz="1500" dirty="0"/>
          </a:p>
        </p:txBody>
      </p:sp>
      <p:sp>
        <p:nvSpPr>
          <p:cNvPr id="14"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Bảng: 10 request/vòng; demo chạy 3 vòng, kết quả chuẩn 10 vòng · Nhóm đã chạy đủ 8 scenario, trình bày ở cuối kỳ</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07 · KẾ HOẠCH TIẾP THEO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sp>
      <p:sp>
        <p:nvSpPr>
          <p:cNvPr id="5" name="Text 3"/>
          <p:cNvSpPr txBox="1"/>
          <p:nvPr/>
        </p:nvSpPr>
        <p:spPr>
          <a:xfrm>
            <a:off x="640080" y="169164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sp>
      <p:sp>
        <p:nvSpPr>
          <p:cNvPr id="7" name="Text 5"/>
          <p:cNvSpPr txBox="1"/>
          <p:nvPr/>
        </p:nvSpPr>
        <p:spPr>
          <a:xfrm>
            <a:off x="3246120" y="169164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Thêm scenario Playwright qua giao diện, chạy lại toàn bộ trên máy sạch của thành viên khác</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sp>
      <p:sp>
        <p:nvSpPr>
          <p:cNvPr id="9" name="Text 7"/>
          <p:cNvSpPr txBox="1"/>
          <p:nvPr/>
        </p:nvSpPr>
        <p:spPr>
          <a:xfrm>
            <a:off x="640080" y="256032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sp>
      <p:sp>
        <p:nvSpPr>
          <p:cNvPr id="11" name="Text 9"/>
          <p:cNvSpPr txBox="1"/>
          <p:nvPr/>
        </p:nvSpPr>
        <p:spPr>
          <a:xfrm>
            <a:off x="3246120" y="256032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sp>
      <p:sp>
        <p:nvSpPr>
          <p:cNvPr id="13" name="Text 11"/>
          <p:cNvSpPr txBox="1"/>
          <p:nvPr/>
        </p:nvSpPr>
        <p:spPr>
          <a:xfrm>
            <a:off x="640080" y="342900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3246120" y="342900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sp>
      <p:sp>
        <p:nvSpPr>
          <p:cNvPr id="17" name="Text 15"/>
          <p:cNvSpPr txBox="1"/>
          <p:nvPr/>
        </p:nvSpPr>
        <p:spPr>
          <a:xfrm>
            <a:off x="640080" y="429768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sp>
      <p:sp>
        <p:nvSpPr>
          <p:cNvPr id="19" name="Text 17"/>
          <p:cNvSpPr txBox="1"/>
          <p:nvPr/>
        </p:nvSpPr>
        <p:spPr>
          <a:xfrm>
            <a:off x="3246120" y="429768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Nhóm R05-K15</cp:lastModifiedBy>
  <cp:revision>1</cp:revision>
  <dcterms:created xsi:type="dcterms:W3CDTF">2026-10-13T01:17:56Z</dcterms:created>
  <dcterms:modified xsi:type="dcterms:W3CDTF">2026-10-13T01:17:56Z</dcterms:modified>
</cp:coreProperties>
</file>