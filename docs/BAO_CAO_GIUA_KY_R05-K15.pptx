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7eba8989-2e86-0425-2c5e-4dbf780412bd}">
          <p14:sldIdLst>
            <p14:sldId id="256"/>
            <p14:sldId id="257"/>
          </p14:sldIdLst>
        </p14:section>
        <p14:section name="Tiến độ" id="{06951482-2313-cb93-922e-017485c79c5c}">
          <p14:sldIdLst>
            <p14:sldId id="258"/>
          </p14:sldIdLst>
        </p14:section>
        <p14:section name="Hệ thống và kiểm thử" id="{b4b67dec-59ae-c8a5-411b-8d0fc3f524e0}">
          <p14:sldIdLst>
            <p14:sldId id="259"/>
            <p14:sldId id="260"/>
            <p14:sldId id="261"/>
            <p14:sldId id="262"/>
            <p14:sldId id="263"/>
          </p14:sldIdLst>
        </p14:section>
        <p14:section name="Kế hoạch kiểm thử" id="{09b3a325-38a1-b211-a7e5-6e6e8f483cec}">
          <p14:sldIdLst>
            <p14:sldId id="264"/>
            <p14:sldId id="265"/>
          </p14:sldIdLst>
        </p14:section>
        <p14:section name="Kết quả" id="{b17b9ed9-8888-79c9-74ca-59d61f0d200f}">
          <p14:sldIdLst>
            <p14:sldId id="266"/>
            <p14:sldId id="267"/>
            <p14:sldId id="268"/>
            <p14:sldId id="269"/>
            <p14:sldId id="270"/>
            <p14:sldId id="271"/>
          </p14:sldIdLst>
        </p14:section>
        <p14:section name="Tiếp theo" id="{6109a223-8767-1b23-fd5d-da8d12d1bb76}">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Giữa kỳ cần trình bày bốn thứ: demo hệ thống chạy, sơ đồ kiến trúc và tài liệu on-boarding, kế hoạch áp dụng kỹ thuật kiểm thử. Nhóm có thêm một kết quả thử nghiệm đầu tiên.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đã đăng ký là R05-K15. Nhóm khóa phiên bản ở tag v6.2.0 để test chạy lại được. Phạm vi hẹp vào luồng booking theo lưu ý của giảng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mục của Sprint 1 đã xong, và nhóm đã làm trước: harness 20 test case đã chạy 10 vòng mỗi scenario kèm nhóm đối chứng tuần tự, đã phân tích nguyên nhân gốc. Giữa kỳ nhóm chỉ trình bày kết quả sơ bộ S1 và S2; kết quả đầy đủ dành cho buổi bảo vệ cuối kỳ. Còn lại: Playwright qua giao diện, hoàn thiện báo cáo, và chuẩn bị bảo vệ. Nói rõ phân vai và board Trello/Jira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kiến trúc rút gọn. Sơ đồ đầy đủ ở docs/diagrams/kien-truc.md. Điểm mấu chốt rút ra khi đọc code: các bước kiểm tra chỉ đọc, giữa kiểm tra và ghi không có khóa, nên đây là nơi nhóm kỳ vọng tìm ra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on-boarding gồm phiên bản, lệnh cài đặt, biến môi trường, seed data. Smoke test chạy ba luồng: đặt, đổi, hủy lịch. Trong demo, nhóm chạy lệnh npm run demo:midterm để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gồm bảy bước. Điểm khác của kiểm thử race là bước 6: oracle là dữ liệu trong cơ sở dữ liệu, không phải mã HTTP. Bước 5 chạy cả đồng thời và tuần tự để tách lỗi race khỏi lỗi logic thông thường.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đã tăng từ 8 lên 20 test case theo góp ý của thầy. Mười test case đầu: TC-01 và TC-04 là hai trường hợp hệ thống đã có bảo vệ, dùng để kiểm chứng bộ test không báo lỗi giả. TC-02, 03, 05, 06, 07, 08 thử những chỗ đọc mã cho thấy chưa có khóa. TC-09 và TC-10 mới: kiểm tra đường đổi lịch có được bảo vệ chống trùng giờ giống đường đặt mới hay không. Mỗi test case có đặc tả đầy đủ trong báo cáo mục 3.3.6.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Mười hai test case bổ sung đi vào những tính năng mà thầy nhắc là khó thấy: các loại giới hạn đặt lịch (ngày, tuần, thời lượng, số booking của mỗi người), thời gian đệm, hủy nhiều lần, một người chiếm nhiều ghế, hai loại cuộc hẹn cùng giờ bắt đầu, và hai kiểm tra độ ổn định là tải 30 người và 20 giờ độc lập. Năm test case TC-09, 10, 18, 19, 20 cuối cùng đều đạt, nên cho thấy bộ test không báo lỗi giả.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đề bài yêu cầu cho giữa kỳ: kế hoạch áp dụng kỹ thuật với phạm vi test, giả định và tiêu chí đánh giá. Oracle là điểm khác biệt của kiểm thử race: không tin mã HTTP mà kiểm dữ liệu thật trong CSDL.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chi phí máy đo thật từ thời điểm bắt đầu và kết thúc trong file summary.json của mỗi lần chạy. Chạy lại bộ test chính 20 test case, cả đồng thời và tuần tự, mất khoảng tám phút. Tổng cộng mọi lần chạy, cả hai máy, khoảng 33 phút và 8 940 request. Công sức nhân lực là ước lượng 34 đến 46 người-giờ, nhóm chưa theo dõi giờ thực tế từng người và ước lượng này chưa gồm đợt mở rộng.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thật của lượt chạy chính thức: 20 test case, mỗi test case 10 vòng ở hai chế độ đồng thời và tuần tự, tổng 3 180 request. Mười ba test case phát hiện lỗi: mười hai lỗi race chỉ sai khi đồng thời, một lỗi logic TC-06 sai cả khi tuần tự. Bảy test case đạt ở cả hai chế độ, cho thấy các cơ chế bảo vệ hiện có hoạt động và bộ test không báo lỗi giả. Điểm quan trọng: khi chạy tuần tự thì mười chín trên hai mươi test case đạt, nghĩa là kiểm thử chức năng thông thường sẽ kết luận hệ thống đúng; lỗi chỉ lộ ra khi gửi đồng thời và đối chiếu cơ sở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Bạn Vĩ chạy lại bộ test trên máy Windows với cùng phiên bản mã. Ngày 18/10 là tám test case đầu, khớp tám trên tám. Ngày 21/10 chạy đủ hai mươi test case: kết luận khớp hai mươi trên hai mươi với máy Mac. Chỗ khác duy nhất là TC-07 vi phạm chín trên mười vòng thay vì mười: ở vòng một, yêu cầu đổi lịch đến trước nên lệnh hủy bị từ chối, dữ liệu nhất quán, không phải lỗi. Điều này bình thường với bài toán chỉ có hai yêu cầu. Máy Windows chậm hơn: bốn trăm bốn mươi tám giây so với ba trăm tám mươi ba giây. Hai lượt chạy đầu trên máy Windows lần trước bị loại vì thiếu k6 và Cal.com dừng giữa chừng; nhóm chỉ dùng lượt chạy sạch.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chứng minh tính khả thi của test case. Một: tất cả chạy tự động. Hai: bảy test case đạt ở cả hai chế độ và khi chạy tuần tự các cơ chế bảo vệ từ chối bằng mã lỗi riêng như duration_limit_reached hay booker_limit_exceeded_error, nghĩa là test case thật sự kiểm tra chứ không đạt rỗng. Ba: lặp lại mười trên mười vòng và vẫn như vậy khi chỉ có hai request. Bốn: curl thuần cho cùng kết quả. Năm là bằng chứng mạnh nhất: khi nhóm thêm chỉ mục duy nhất theo người tham dự trên cơ sở dữ liệu test thì TC-16 chuyển từ không đạt sang đạt, tức test case đúng là phát hiện lỗi đó. Với ràng buộc loại trừ thì dữ liệu hết chồng giờ nhưng người thua nhận lỗi 500, nên sửa phải làm ở cả hai tầng. Bảy: hai máy khớp hai mươi trên hai mươi test case; TC-07 lệch một vòng vì chỉ có hai request nên thứ tự đến thay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chứng minh đây là lỗi thật, nhóm tái hiện lại từng lỗi bằng lệnh curl thuần, không dùng bộ test, rồi xem trực tiếp dữ liệu trong cơ sở dữ liệu. Năm lỗi đầu D1 đến D6 đã có từ đợt một, năm lỗi D7 đến D11 là phát hiện của đợt mở rộng. D4 là lỗi logic xảy ra cả khi gửi tuần tự; mười lỗi còn lại chỉ xảy ra khi đồng thời. D10 đáng chú ý: mọi lệnh hủy đều thành công nên nhìn bề ngoài không có gì sai, chỉ khi đếm email mới thấy 12 thay vì 2. Nhóm chưa báo lỗi cho nhóm phát triển Cal.com và chưa sửa mã Cal.com, nên nói là lỗi theo tính chất dữ liệu bất biến, chưa phải được nhóm phát triển xác nhận.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trả lời hai yêu cầu của thầy: tìm ra lỗi quan trọng mà khó thấy, và đánh giá rủi ro. Khó thấy vì bốn lý do trên slide. Nổi bật là D10 và D11: D10 mọi lệnh hủy đều thành công, chỉ khi đếm email gửi đi mới thấy mỗi lệnh chạy lại toàn bộ tác dụng phụ; D11 nằm đúng trong cơ chế chống đăng ký trùng mà Cal.com đã viết, và cơ chế đó chạy tốt khi test tuần tự. Về rủi ro, nhóm chấm điểm bằng khả năng nhân ảnh hưởng. D1, tức chủ lịch bị đặt trùng giờ, và D6, tức vượt giới hạn đặt lịch, ở mức nghiêm trọng. Điểm mấu chốt: không có lỗi nào làm hệ thống sập, mà dữ liệu sai một cách âm thầm. Điểm khả năng là đánh giá dựa trên số liệu đã đo (tái hiện 10 trên 10 vòng, chỉ cần 2 request), điểm ảnh hưởng là đánh giá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thành viên có vai trò và nhiệm vụ riêng, theo phân công của nhóm. Công việc được theo dõi trên bảng GitHub Projects; việc gán người cho từng thẻ và lịch sử commit đều các thành viên sẽ được hoàn thiện trước buổi bảo vệ.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 hoạch bốn giai đoạn đến bảo vệ; phần kiểm thử chính đã chạy xong nên thời gian còn lại dành cho kiểm chứng lại, hoàn thiện báo cáo và chuẩn bị bảo vệ. Rủi ro chính là race không tái hiện ổn định nên nhóm chạy nhiều vòng và báo tỉ lệ. Kết thúc phần báo cáo, mời thầy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2E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12202B"/>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F4F2EC"/>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122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40080"/>
            <a:ext cx="10908792" cy="365760"/>
          </a:xfrm>
          <a:prstGeom prst="rect">
            <a:avLst/>
          </a:prstGeom>
          <a:noFill/>
          <a:ln/>
        </p:spPr>
        <p:txBody>
          <a:bodyPr wrap="square" lIns="0" tIns="0" rIns="0" bIns="0" rtlCol="0" anchor="ctr"/>
          <a:lstStyle/>
          <a:p>
            <a:pPr indent="0" marL="0">
              <a:buNone/>
            </a:pPr>
            <a:r>
              <a:rPr lang="en-US" sz="1600" b="1" spc="300" kern="0" dirty="0">
                <a:solidFill>
                  <a:srgbClr val="E07B39"/>
                </a:solidFill>
                <a:latin typeface="Consolas" pitchFamily="34" charset="0"/>
                <a:ea typeface="Consolas" pitchFamily="34" charset="-122"/>
                <a:cs typeface="Consolas" pitchFamily="34" charset="-120"/>
              </a:rPr>
              <a:t>BÁO CÁO GIỮA KỲ · MILESTONE 2 · 20/10</a:t>
            </a:r>
            <a:endParaRPr lang="en-US" sz="1600" dirty="0"/>
          </a:p>
        </p:txBody>
      </p:sp>
      <p:sp>
        <p:nvSpPr>
          <p:cNvPr id="3" name="Text 1"/>
          <p:cNvSpPr txBox="1"/>
          <p:nvPr/>
        </p:nvSpPr>
        <p:spPr>
          <a:xfrm>
            <a:off x="640080" y="1737360"/>
            <a:ext cx="10515600" cy="2194560"/>
          </a:xfrm>
          <a:prstGeom prst="rect">
            <a:avLst/>
          </a:prstGeom>
          <a:noFill/>
          <a:ln/>
        </p:spPr>
        <p:txBody>
          <a:bodyPr wrap="square" lIns="0" tIns="0" rIns="0" bIns="0" rtlCol="0" anchor="t"/>
          <a:lstStyle/>
          <a:p>
            <a:pPr indent="0" marL="0">
              <a:buNone/>
            </a:pPr>
            <a:r>
              <a:rPr lang="en-US" sz="5400" b="1" dirty="0">
                <a:solidFill>
                  <a:srgbClr val="F4F2EC"/>
                </a:solidFill>
                <a:latin typeface="Calibri" pitchFamily="34" charset="0"/>
                <a:ea typeface="Calibri" pitchFamily="34" charset="-122"/>
                <a:cs typeface="Calibri" pitchFamily="34" charset="-120"/>
              </a:rPr>
              <a:t>R05-K15</a:t>
            </a:r>
            <a:endParaRPr lang="en-US" sz="5400" dirty="0"/>
          </a:p>
          <a:p>
            <a:pPr indent="0" marL="0">
              <a:buNone/>
            </a:pPr>
            <a:r>
              <a:rPr lang="en-US" sz="5400" b="1" dirty="0">
                <a:solidFill>
                  <a:srgbClr val="F4F2EC"/>
                </a:solidFill>
                <a:latin typeface="Calibri" pitchFamily="34" charset="0"/>
                <a:ea typeface="Calibri" pitchFamily="34" charset="-122"/>
                <a:cs typeface="Calibri" pitchFamily="34" charset="-120"/>
              </a:rPr>
              <a:t>Kiểm thử race condition cho Cal.com</a:t>
            </a:r>
            <a:endParaRPr lang="en-US" sz="5400" dirty="0"/>
          </a:p>
        </p:txBody>
      </p:sp>
      <p:sp>
        <p:nvSpPr>
          <p:cNvPr id="4" name="Text 2"/>
          <p:cNvSpPr txBox="1"/>
          <p:nvPr/>
        </p:nvSpPr>
        <p:spPr>
          <a:xfrm>
            <a:off x="640080" y="4114800"/>
            <a:ext cx="9601200" cy="822960"/>
          </a:xfrm>
          <a:prstGeom prst="rect">
            <a:avLst/>
          </a:prstGeom>
          <a:noFill/>
          <a:ln/>
        </p:spPr>
        <p:txBody>
          <a:bodyPr wrap="square" lIns="0" tIns="0" rIns="0" bIns="0" rtlCol="0" anchor="t"/>
          <a:lstStyle/>
          <a:p>
            <a:pPr indent="0" marL="0">
              <a:buNone/>
            </a:pPr>
            <a:r>
              <a:rPr lang="en-US" sz="2400" dirty="0">
                <a:solidFill>
                  <a:srgbClr val="B8C6D2"/>
                </a:solidFill>
                <a:latin typeface="Calibri" pitchFamily="34" charset="0"/>
                <a:ea typeface="Calibri" pitchFamily="34" charset="-122"/>
                <a:cs typeface="Calibri" pitchFamily="34" charset="-120"/>
              </a:rPr>
              <a:t>Quy trình test, 20 test case, kết quả test thật và 11 lỗi đã tái hiện</a:t>
            </a:r>
            <a:endParaRPr lang="en-US" sz="2400" dirty="0"/>
          </a:p>
        </p:txBody>
      </p:sp>
      <p:sp>
        <p:nvSpPr>
          <p:cNvPr id="5" name="Text 3"/>
          <p:cNvSpPr txBox="1"/>
          <p:nvPr/>
        </p:nvSpPr>
        <p:spPr>
          <a:xfrm>
            <a:off x="640080" y="5577840"/>
            <a:ext cx="6400800" cy="73152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Môn Kiểm thử phần mềm · GV Nguyễn Thế Lâm</a:t>
            </a:r>
            <a:endParaRPr lang="en-US" sz="1600" dirty="0"/>
          </a:p>
          <a:p>
            <a:pPr indent="0" marL="0">
              <a:buNone/>
            </a:pPr>
            <a:r>
              <a:rPr lang="en-US" sz="1600" dirty="0">
                <a:solidFill>
                  <a:srgbClr val="B8C6D2"/>
                </a:solidFill>
                <a:latin typeface="Calibri" pitchFamily="34" charset="0"/>
                <a:ea typeface="Calibri" pitchFamily="34" charset="-122"/>
                <a:cs typeface="Calibri" pitchFamily="34" charset="-120"/>
              </a:rPr>
              <a:t>Khoa CNTT – Trường Đại học Đà Lạt</a:t>
            </a:r>
            <a:endParaRPr lang="en-US" sz="1600" dirty="0"/>
          </a:p>
        </p:txBody>
      </p:sp>
      <p:sp>
        <p:nvSpPr>
          <p:cNvPr id="6" name="Text 4"/>
          <p:cNvSpPr txBox="1"/>
          <p:nvPr/>
        </p:nvSpPr>
        <p:spPr>
          <a:xfrm>
            <a:off x="6949440" y="5029200"/>
            <a:ext cx="4599432" cy="1325880"/>
          </a:xfrm>
          <a:prstGeom prst="rect">
            <a:avLst/>
          </a:prstGeom>
          <a:noFill/>
          <a:ln/>
        </p:spPr>
        <p:txBody>
          <a:bodyPr wrap="square" lIns="0" tIns="0" rIns="0" bIns="0" rtlCol="0" anchor="b"/>
          <a:lstStyle/>
          <a:p>
            <a:pPr algn="r" indent="0" marL="0">
              <a:buNone/>
            </a:pPr>
            <a:r>
              <a:rPr lang="en-US" sz="1600" dirty="0">
                <a:solidFill>
                  <a:srgbClr val="B8C6D2"/>
                </a:solidFill>
                <a:latin typeface="Calibri" pitchFamily="34" charset="0"/>
                <a:ea typeface="Calibri" pitchFamily="34" charset="-122"/>
                <a:cs typeface="Calibri" pitchFamily="34" charset="-120"/>
              </a:rPr>
              <a:t>Nhóm 14</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2312741 - Nguyễn Thanh Tâm</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2312800 - Võ Công Vinh</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2312774 - Nguyễn Đức Tín</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2312796 - Ngô Quốc Trường Vĩ</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01 · ĐỀ TÀI ĐÃ CHỐT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tổ hợp Repo + Kỹ thuật, đã cố định phiên bản</a:t>
            </a:r>
            <a:endParaRPr lang="en-US" sz="3400" dirty="0"/>
          </a:p>
        </p:txBody>
      </p:sp>
      <p:sp>
        <p:nvSpPr>
          <p:cNvPr id="4" name="Shape 2"/>
          <p:cNvSpPr/>
          <p:nvPr/>
        </p:nvSpPr>
        <p:spPr>
          <a:xfrm>
            <a:off x="640080" y="1783080"/>
            <a:ext cx="3422904" cy="3017520"/>
          </a:xfrm>
          <a:prstGeom prst="roundRect">
            <a:avLst>
              <a:gd name="adj" fmla="val 3636"/>
            </a:avLst>
          </a:prstGeom>
          <a:solidFill>
            <a:srgbClr val="FBFAF6"/>
          </a:solidFill>
          <a:ln w="12700">
            <a:solidFill>
              <a:srgbClr val="DAD6CC"/>
            </a:solidFill>
            <a:prstDash val="solid"/>
          </a:ln>
        </p:spPr>
      </p:sp>
      <p:sp>
        <p:nvSpPr>
          <p:cNvPr id="5" name="Text 3"/>
          <p:cNvSpPr txBox="1"/>
          <p:nvPr/>
        </p:nvSpPr>
        <p:spPr>
          <a:xfrm>
            <a:off x="914400"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REPO · R05</a:t>
            </a:r>
            <a:endParaRPr lang="en-US" sz="1300" dirty="0"/>
          </a:p>
        </p:txBody>
      </p:sp>
      <p:sp>
        <p:nvSpPr>
          <p:cNvPr id="6" name="Text 4"/>
          <p:cNvSpPr txBox="1"/>
          <p:nvPr/>
        </p:nvSpPr>
        <p:spPr>
          <a:xfrm>
            <a:off x="914400"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Cal.com</a:t>
            </a:r>
            <a:endParaRPr lang="en-US" sz="2600" dirty="0"/>
          </a:p>
        </p:txBody>
      </p:sp>
      <p:sp>
        <p:nvSpPr>
          <p:cNvPr id="7" name="Text 5"/>
          <p:cNvSpPr txBox="1"/>
          <p:nvPr/>
        </p:nvSpPr>
        <p:spPr>
          <a:xfrm>
            <a:off x="914400"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Nền tảng đặt lịch mã nguồn mở. TypeScript, Next.js 16, PostgreSQL + Prisma, monorepo.</a:t>
            </a:r>
            <a:endParaRPr lang="en-US" sz="1600" dirty="0"/>
          </a:p>
        </p:txBody>
      </p:sp>
      <p:sp>
        <p:nvSpPr>
          <p:cNvPr id="8" name="Shape 6"/>
          <p:cNvSpPr/>
          <p:nvPr/>
        </p:nvSpPr>
        <p:spPr>
          <a:xfrm>
            <a:off x="4383024" y="1783080"/>
            <a:ext cx="3422904" cy="3017520"/>
          </a:xfrm>
          <a:prstGeom prst="roundRect">
            <a:avLst>
              <a:gd name="adj" fmla="val 3636"/>
            </a:avLst>
          </a:prstGeom>
          <a:solidFill>
            <a:srgbClr val="FBFAF6"/>
          </a:solidFill>
          <a:ln w="12700">
            <a:solidFill>
              <a:srgbClr val="DAD6CC"/>
            </a:solidFill>
            <a:prstDash val="solid"/>
          </a:ln>
        </p:spPr>
      </p:sp>
      <p:sp>
        <p:nvSpPr>
          <p:cNvPr id="9" name="Text 7"/>
          <p:cNvSpPr txBox="1"/>
          <p:nvPr/>
        </p:nvSpPr>
        <p:spPr>
          <a:xfrm>
            <a:off x="4657344"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KỸ THUẬT · K15</a:t>
            </a:r>
            <a:endParaRPr lang="en-US" sz="1300" dirty="0"/>
          </a:p>
        </p:txBody>
      </p:sp>
      <p:sp>
        <p:nvSpPr>
          <p:cNvPr id="10" name="Text 8"/>
          <p:cNvSpPr txBox="1"/>
          <p:nvPr/>
        </p:nvSpPr>
        <p:spPr>
          <a:xfrm>
            <a:off x="4657344"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Concurrency / Race</a:t>
            </a:r>
            <a:endParaRPr lang="en-US" sz="2600" dirty="0"/>
          </a:p>
        </p:txBody>
      </p:sp>
      <p:sp>
        <p:nvSpPr>
          <p:cNvPr id="11" name="Text 9"/>
          <p:cNvSpPr txBox="1"/>
          <p:nvPr/>
        </p:nvSpPr>
        <p:spPr>
          <a:xfrm>
            <a:off x="4657344"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Gửi nhiều request đồng thời, kiểm invariant trực tiếp trong CSDL.</a:t>
            </a:r>
            <a:endParaRPr lang="en-US" sz="1600" dirty="0"/>
          </a:p>
        </p:txBody>
      </p:sp>
      <p:sp>
        <p:nvSpPr>
          <p:cNvPr id="12" name="Shape 10"/>
          <p:cNvSpPr/>
          <p:nvPr/>
        </p:nvSpPr>
        <p:spPr>
          <a:xfrm>
            <a:off x="8125968" y="1783080"/>
            <a:ext cx="3422904" cy="3017520"/>
          </a:xfrm>
          <a:prstGeom prst="roundRect">
            <a:avLst>
              <a:gd name="adj" fmla="val 3636"/>
            </a:avLst>
          </a:prstGeom>
          <a:solidFill>
            <a:srgbClr val="FBFAF6"/>
          </a:solidFill>
          <a:ln w="12700">
            <a:solidFill>
              <a:srgbClr val="DAD6CC"/>
            </a:solidFill>
            <a:prstDash val="solid"/>
          </a:ln>
        </p:spPr>
      </p:sp>
      <p:sp>
        <p:nvSpPr>
          <p:cNvPr id="13" name="Text 11"/>
          <p:cNvSpPr txBox="1"/>
          <p:nvPr/>
        </p:nvSpPr>
        <p:spPr>
          <a:xfrm>
            <a:off x="8400288"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PHIÊN BẢN ĐÃ PIN</a:t>
            </a:r>
            <a:endParaRPr lang="en-US" sz="1300" dirty="0"/>
          </a:p>
        </p:txBody>
      </p:sp>
      <p:sp>
        <p:nvSpPr>
          <p:cNvPr id="14" name="Text 12"/>
          <p:cNvSpPr txBox="1"/>
          <p:nvPr/>
        </p:nvSpPr>
        <p:spPr>
          <a:xfrm>
            <a:off x="8400288"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v6.2.0</a:t>
            </a:r>
            <a:endParaRPr lang="en-US" sz="2600" dirty="0"/>
          </a:p>
        </p:txBody>
      </p:sp>
      <p:sp>
        <p:nvSpPr>
          <p:cNvPr id="15" name="Text 13"/>
          <p:cNvSpPr txBox="1"/>
          <p:nvPr/>
        </p:nvSpPr>
        <p:spPr>
          <a:xfrm>
            <a:off x="8400288"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Commit 1c193cca8682b33b9866c792186033f7ef886682, tránh nhánh main thay đổi giữa kỳ.</a:t>
            </a:r>
            <a:endParaRPr lang="en-US" sz="1600" dirty="0"/>
          </a:p>
        </p:txBody>
      </p:sp>
      <p:sp>
        <p:nvSpPr>
          <p:cNvPr id="16" name="Text 14"/>
          <p:cNvSpPr txBox="1"/>
          <p:nvPr/>
        </p:nvSpPr>
        <p:spPr>
          <a:xfrm>
            <a:off x="640080" y="5166360"/>
            <a:ext cx="10908792" cy="457200"/>
          </a:xfrm>
          <a:prstGeom prst="rect">
            <a:avLst/>
          </a:prstGeom>
          <a:noFill/>
          <a:ln/>
        </p:spPr>
        <p:txBody>
          <a:bodyPr wrap="square" lIns="0" tIns="0" rIns="0" bIns="0" rtlCol="0" anchor="ctr"/>
          <a:lstStyle/>
          <a:p>
            <a:pPr indent="0" marL="0">
              <a:buNone/>
            </a:pPr>
            <a:r>
              <a:rPr lang="en-US" sz="1800" dirty="0">
                <a:solidFill>
                  <a:srgbClr val="4A5866"/>
                </a:solidFill>
                <a:latin typeface="Calibri" pitchFamily="34" charset="0"/>
                <a:ea typeface="Calibri" pitchFamily="34" charset="-122"/>
                <a:cs typeface="Calibri" pitchFamily="34" charset="-120"/>
              </a:rPr>
              <a:t>Phạm vi: chỉ luồng đặt lịch, đổi lịch, hủy lịch (booking). Không ôm toàn bộ monorepo.</a:t>
            </a:r>
            <a:endParaRPr lang="en-US" sz="1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02 · TIẾN ĐỘ SO VỚI KẾ HOẠCH</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Sprint 1 hoàn thành, harness 20 test case đã chạy xong</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5394960"/>
                <a:gridCol w="1097280"/>
                <a:gridCol w="1371600"/>
                <a:gridCol w="3044952"/>
              </a:tblGrid>
              <a:tr h="393192">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Hạng mục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Sprint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Chốt repo, kỹ thuật, pin tag và commit SHA</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mục 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Dựng Cal.com local, seed data, chạy 3 luồng nghiệp vụ</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docs/evidence/smoke-test.txt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Đọc code, vẽ kiến trúc và luồng dữ liệu</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docs/diagrams/kien-truc.md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Tài liệu on-boarding, kế hoạch kiểm thử</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slide 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Harness k6 + SQL, 20 test case, mỗi test case 10 vòng, có đối chứng tuần tự</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Phân tích nguyên nhân gốc, thí nghiệm khắc phục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docs/DEFECTS.md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Báo cáo cuối (bản nháp A–H) và slide bảo vệ</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docs/BAO_CAO.md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Chạy lại trên máy Windows: 20 test case khớp 20/20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race-tests/results/windows-race</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Scenario Playwright qua giao diện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4A5866"/>
                          </a:solidFill>
                          <a:latin typeface="Calibri" pitchFamily="34" charset="0"/>
                          <a:ea typeface="Calibri" pitchFamily="34" charset="-122"/>
                          <a:cs typeface="Calibri" pitchFamily="34" charset="-120"/>
                        </a:rPr>
                        <a:t>Chưa làm</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Board GitHub Projects: 18 thẻ ở 3 cột; còn gán người và commit đều các thành viên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docs/evidence/board.png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03 · KIẾN TRÚC</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request đặt lịch đi qua 4 lớp</a:t>
            </a:r>
            <a:endParaRPr lang="en-US" sz="3400" dirty="0"/>
          </a:p>
        </p:txBody>
      </p:sp>
      <p:sp>
        <p:nvSpPr>
          <p:cNvPr id="4" name="Shape 2"/>
          <p:cNvSpPr/>
          <p:nvPr/>
        </p:nvSpPr>
        <p:spPr>
          <a:xfrm>
            <a:off x="640080" y="1737360"/>
            <a:ext cx="2331720" cy="1645920"/>
          </a:xfrm>
          <a:prstGeom prst="roundRect">
            <a:avLst>
              <a:gd name="adj" fmla="val 6667"/>
            </a:avLst>
          </a:prstGeom>
          <a:solidFill>
            <a:srgbClr val="12202B"/>
          </a:solidFill>
          <a:ln w="12700">
            <a:solidFill>
              <a:srgbClr val="12202B"/>
            </a:solidFill>
            <a:prstDash val="solid"/>
          </a:ln>
        </p:spPr>
      </p:sp>
      <p:sp>
        <p:nvSpPr>
          <p:cNvPr id="5" name="Text 3"/>
          <p:cNvSpPr txBox="1"/>
          <p:nvPr/>
        </p:nvSpPr>
        <p:spPr>
          <a:xfrm>
            <a:off x="777240"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apps/web</a:t>
            </a:r>
            <a:endParaRPr lang="en-US" sz="1300" dirty="0"/>
          </a:p>
        </p:txBody>
      </p:sp>
      <p:sp>
        <p:nvSpPr>
          <p:cNvPr id="6" name="Text 4"/>
          <p:cNvSpPr txBox="1"/>
          <p:nvPr/>
        </p:nvSpPr>
        <p:spPr>
          <a:xfrm>
            <a:off x="777240"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POST /api/book/event</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POST /api/cancel</a:t>
            </a:r>
            <a:endParaRPr lang="en-US" sz="1400" dirty="0"/>
          </a:p>
        </p:txBody>
      </p:sp>
      <p:sp>
        <p:nvSpPr>
          <p:cNvPr id="7" name="Shape 5"/>
          <p:cNvSpPr/>
          <p:nvPr/>
        </p:nvSpPr>
        <p:spPr>
          <a:xfrm>
            <a:off x="3008376" y="2560320"/>
            <a:ext cx="454152" cy="0"/>
          </a:xfrm>
          <a:prstGeom prst="line">
            <a:avLst/>
          </a:prstGeom>
          <a:noFill/>
          <a:ln w="25400">
            <a:solidFill>
              <a:srgbClr val="7A8592"/>
            </a:solidFill>
            <a:prstDash val="solid"/>
            <a:tailEnd type="triangle"/>
          </a:ln>
        </p:spPr>
      </p:sp>
      <p:sp>
        <p:nvSpPr>
          <p:cNvPr id="8" name="Shape 6"/>
          <p:cNvSpPr/>
          <p:nvPr/>
        </p:nvSpPr>
        <p:spPr>
          <a:xfrm>
            <a:off x="3499104" y="1737360"/>
            <a:ext cx="2331720" cy="1645920"/>
          </a:xfrm>
          <a:prstGeom prst="roundRect">
            <a:avLst>
              <a:gd name="adj" fmla="val 6667"/>
            </a:avLst>
          </a:prstGeom>
          <a:solidFill>
            <a:srgbClr val="FBFAF6"/>
          </a:solidFill>
          <a:ln w="12700">
            <a:solidFill>
              <a:srgbClr val="DAD6CC"/>
            </a:solidFill>
            <a:prstDash val="solid"/>
          </a:ln>
        </p:spPr>
      </p:sp>
      <p:sp>
        <p:nvSpPr>
          <p:cNvPr id="9" name="Text 7"/>
          <p:cNvSpPr txBox="1"/>
          <p:nvPr/>
        </p:nvSpPr>
        <p:spPr>
          <a:xfrm>
            <a:off x="3636264"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RegularBookingService</a:t>
            </a:r>
            <a:endParaRPr lang="en-US" sz="1300" dirty="0"/>
          </a:p>
        </p:txBody>
      </p:sp>
      <p:sp>
        <p:nvSpPr>
          <p:cNvPr id="10" name="Text 8"/>
          <p:cNvSpPr txBox="1"/>
          <p:nvPr/>
        </p:nvSpPr>
        <p:spPr>
          <a:xfrm>
            <a:off x="3636264"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Kiểm tra giới hạn, lịch trống, booking gốc</a:t>
            </a:r>
            <a:endParaRPr lang="en-US" sz="1400" dirty="0"/>
          </a:p>
        </p:txBody>
      </p:sp>
      <p:sp>
        <p:nvSpPr>
          <p:cNvPr id="11" name="Shape 9"/>
          <p:cNvSpPr/>
          <p:nvPr/>
        </p:nvSpPr>
        <p:spPr>
          <a:xfrm>
            <a:off x="5867400" y="2560320"/>
            <a:ext cx="454152" cy="0"/>
          </a:xfrm>
          <a:prstGeom prst="line">
            <a:avLst/>
          </a:prstGeom>
          <a:noFill/>
          <a:ln w="25400">
            <a:solidFill>
              <a:srgbClr val="7A8592"/>
            </a:solidFill>
            <a:prstDash val="solid"/>
            <a:tailEnd type="triangle"/>
          </a:ln>
        </p:spPr>
      </p:sp>
      <p:sp>
        <p:nvSpPr>
          <p:cNvPr id="12" name="Shape 10"/>
          <p:cNvSpPr/>
          <p:nvPr/>
        </p:nvSpPr>
        <p:spPr>
          <a:xfrm>
            <a:off x="6358128" y="1737360"/>
            <a:ext cx="2331720" cy="1645920"/>
          </a:xfrm>
          <a:prstGeom prst="roundRect">
            <a:avLst>
              <a:gd name="adj" fmla="val 6667"/>
            </a:avLst>
          </a:prstGeom>
          <a:solidFill>
            <a:srgbClr val="FBFAF6"/>
          </a:solidFill>
          <a:ln w="12700">
            <a:solidFill>
              <a:srgbClr val="DAD6CC"/>
            </a:solidFill>
            <a:prstDash val="solid"/>
          </a:ln>
        </p:spPr>
      </p:sp>
      <p:sp>
        <p:nvSpPr>
          <p:cNvPr id="13" name="Text 11"/>
          <p:cNvSpPr txBox="1"/>
          <p:nvPr/>
        </p:nvSpPr>
        <p:spPr>
          <a:xfrm>
            <a:off x="6495288"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createBooking / handleSeats</a:t>
            </a:r>
            <a:endParaRPr lang="en-US" sz="1300" dirty="0"/>
          </a:p>
        </p:txBody>
      </p:sp>
      <p:sp>
        <p:nvSpPr>
          <p:cNvPr id="14" name="Text 12"/>
          <p:cNvSpPr txBox="1"/>
          <p:nvPr/>
        </p:nvSpPr>
        <p:spPr>
          <a:xfrm>
            <a:off x="6495288"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Ghi Booking, Attendee, BookingSeat</a:t>
            </a:r>
            <a:endParaRPr lang="en-US" sz="1400" dirty="0"/>
          </a:p>
        </p:txBody>
      </p:sp>
      <p:sp>
        <p:nvSpPr>
          <p:cNvPr id="15" name="Shape 13"/>
          <p:cNvSpPr/>
          <p:nvPr/>
        </p:nvSpPr>
        <p:spPr>
          <a:xfrm>
            <a:off x="8726424" y="2560320"/>
            <a:ext cx="454152" cy="0"/>
          </a:xfrm>
          <a:prstGeom prst="line">
            <a:avLst/>
          </a:prstGeom>
          <a:noFill/>
          <a:ln w="25400">
            <a:solidFill>
              <a:srgbClr val="7A8592"/>
            </a:solidFill>
            <a:prstDash val="solid"/>
            <a:tailEnd type="triangle"/>
          </a:ln>
        </p:spPr>
      </p:sp>
      <p:sp>
        <p:nvSpPr>
          <p:cNvPr id="16" name="Shape 14"/>
          <p:cNvSpPr/>
          <p:nvPr/>
        </p:nvSpPr>
        <p:spPr>
          <a:xfrm>
            <a:off x="9217152" y="1737360"/>
            <a:ext cx="2331720" cy="1645920"/>
          </a:xfrm>
          <a:prstGeom prst="roundRect">
            <a:avLst>
              <a:gd name="adj" fmla="val 6667"/>
            </a:avLst>
          </a:prstGeom>
          <a:solidFill>
            <a:srgbClr val="12202B"/>
          </a:solidFill>
          <a:ln w="12700">
            <a:solidFill>
              <a:srgbClr val="12202B"/>
            </a:solidFill>
            <a:prstDash val="solid"/>
          </a:ln>
        </p:spPr>
      </p:sp>
      <p:sp>
        <p:nvSpPr>
          <p:cNvPr id="17" name="Text 15"/>
          <p:cNvSpPr txBox="1"/>
          <p:nvPr/>
        </p:nvSpPr>
        <p:spPr>
          <a:xfrm>
            <a:off x="9354312"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PostgreSQL</a:t>
            </a:r>
            <a:endParaRPr lang="en-US" sz="1300" dirty="0"/>
          </a:p>
        </p:txBody>
      </p:sp>
      <p:sp>
        <p:nvSpPr>
          <p:cNvPr id="18" name="Text 16"/>
          <p:cNvSpPr txBox="1"/>
          <p:nvPr/>
        </p:nvSpPr>
        <p:spPr>
          <a:xfrm>
            <a:off x="9354312"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UNIQUE(uid)</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UNIQUE(idempotencyKey)</a:t>
            </a:r>
            <a:endParaRPr lang="en-US" sz="1400" dirty="0"/>
          </a:p>
        </p:txBody>
      </p:sp>
      <p:sp>
        <p:nvSpPr>
          <p:cNvPr id="19" name="Text 17"/>
          <p:cNvSpPr txBox="1"/>
          <p:nvPr/>
        </p:nvSpPr>
        <p:spPr>
          <a:xfrm>
            <a:off x="640080" y="37490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Điểm cần chú ý cho kiểm thử race</a:t>
            </a:r>
            <a:endParaRPr lang="en-US" sz="2000" dirty="0"/>
          </a:p>
        </p:txBody>
      </p:sp>
      <p:sp>
        <p:nvSpPr>
          <p:cNvPr id="20" name="Text 18"/>
          <p:cNvSpPr txBox="1"/>
          <p:nvPr/>
        </p:nvSpPr>
        <p:spPr>
          <a:xfrm>
            <a:off x="640080" y="4206240"/>
            <a:ext cx="10908792" cy="17373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Các bước kiểm tra (giới hạn, lịch trống, trạng thái booking gốc) chỉ đọc rồi quyết định; không giữ khóa tới lúc ghi.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Chỉ có hai ràng buộc ở CSDL: UNIQUE uid và UNIQUE idempotencyKey (tính từ start, end, host).</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Event có ghế dùng SELECT … FOR UPDATE khi thêm ghế vào booking đã có.</a:t>
            </a:r>
            <a:endParaRPr lang="en-US" sz="16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Sơ đồ container và luồng tuần tự đầy đủ: docs/diagrams/kien-truc.md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04 · MÔI TRƯỜNG VÀ ON-BOARDING</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Hệ thống chạy trên máy, 3 luồng nghiệp vụ đạt</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225796" cy="914400"/>
        </p:xfrm>
        <a:graphic>
          <a:graphicData uri="http://schemas.openxmlformats.org/drawingml/2006/table">
            <a:tbl>
              <a:tblPr/>
              <a:tblGrid>
                <a:gridCol w="2011680"/>
                <a:gridCol w="321411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Thành phần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Phiên bản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Cal.com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v6.2.0 · 1c193cca</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Node / Yarn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22.23 / 4.12.0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PostgreSQL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16 (300 kết nối)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k6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2.3.0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Dữ liệu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host k15host, 5 event type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323076" y="1783080"/>
          <a:ext cx="5225796" cy="914400"/>
        </p:xfrm>
        <a:graphic>
          <a:graphicData uri="http://schemas.openxmlformats.org/drawingml/2006/table">
            <a:tbl>
              <a:tblPr/>
              <a:tblGrid>
                <a:gridCol w="2194560"/>
                <a:gridCol w="914400"/>
                <a:gridCol w="211683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Smoke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HTTP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DB</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Đặt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accepted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 Đổi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bản cũ 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3. Hủy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4. Đặt lại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đã giải phóng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40080" y="4937760"/>
            <a:ext cx="10908792" cy="822960"/>
          </a:xfrm>
          <a:prstGeom prst="rect">
            <a:avLst/>
          </a:prstGeom>
          <a:noFill/>
          <a:ln/>
        </p:spPr>
        <p:txBody>
          <a:bodyPr wrap="square" lIns="0" tIns="0" rIns="0" bIns="0" rtlCol="0" anchor="t"/>
          <a:lstStyle/>
          <a:p>
            <a:pPr indent="0" marL="0">
              <a:buNone/>
            </a:pPr>
            <a:r>
              <a:rPr lang="en-US" sz="1600" b="1" dirty="0">
                <a:solidFill>
                  <a:srgbClr val="12202B"/>
                </a:solidFill>
                <a:latin typeface="Calibri" pitchFamily="34" charset="0"/>
                <a:ea typeface="Calibri" pitchFamily="34" charset="-122"/>
                <a:cs typeface="Calibri" pitchFamily="34" charset="-120"/>
              </a:rPr>
              <a:t>Khó khăn đã xử lý: </a:t>
            </a:r>
            <a:pPr indent="0" marL="0">
              <a:buNone/>
            </a:pPr>
            <a:r>
              <a:rPr lang="en-US" sz="1600" dirty="0">
                <a:solidFill>
                  <a:srgbClr val="4A5866"/>
                </a:solidFill>
                <a:latin typeface="Calibri" pitchFamily="34" charset="0"/>
                <a:ea typeface="Calibri" pitchFamily="34" charset="-122"/>
                <a:cs typeface="Calibri" pitchFamily="34" charset="-120"/>
              </a:rPr>
              <a:t>không có Docker (dùng Postgres.app); cột timestamp lưu UTC nên driver bị lệch +7 giờ; /api/cancel cần CSRF 64 ký tự.</a:t>
            </a:r>
            <a:endParaRPr lang="en-US" sz="1600" dirty="0"/>
          </a:p>
        </p:txBody>
      </p:sp>
      <p:sp>
        <p:nvSpPr>
          <p:cNvPr id="7"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Cài đặt từ máy sạch: README.md · demo: npm run demo:midterm</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05 · QUY TRÌNH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Từ đọc code đến báo cáo: 7 bước, có nhóm đối chứng</a:t>
            </a:r>
            <a:endParaRPr lang="en-US" sz="3400" dirty="0"/>
          </a:p>
        </p:txBody>
      </p:sp>
      <p:sp>
        <p:nvSpPr>
          <p:cNvPr id="4" name="Shape 2"/>
          <p:cNvSpPr/>
          <p:nvPr/>
        </p:nvSpPr>
        <p:spPr>
          <a:xfrm>
            <a:off x="640080" y="1783080"/>
            <a:ext cx="1417320" cy="2103120"/>
          </a:xfrm>
          <a:prstGeom prst="roundRect">
            <a:avLst>
              <a:gd name="adj" fmla="val 7742"/>
            </a:avLst>
          </a:prstGeom>
          <a:solidFill>
            <a:srgbClr val="FBFAF6"/>
          </a:solidFill>
          <a:ln w="12700">
            <a:solidFill>
              <a:srgbClr val="DAD6CC"/>
            </a:solidFill>
            <a:prstDash val="solid"/>
          </a:ln>
        </p:spPr>
      </p:sp>
      <p:sp>
        <p:nvSpPr>
          <p:cNvPr id="5" name="Text 3"/>
          <p:cNvSpPr txBox="1"/>
          <p:nvPr/>
        </p:nvSpPr>
        <p:spPr>
          <a:xfrm>
            <a:off x="777240"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777240"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Đọc code</a:t>
            </a:r>
            <a:endParaRPr lang="en-US" sz="1500" dirty="0"/>
          </a:p>
        </p:txBody>
      </p:sp>
      <p:sp>
        <p:nvSpPr>
          <p:cNvPr id="7" name="Text 5"/>
          <p:cNvSpPr txBox="1"/>
          <p:nvPr/>
        </p:nvSpPr>
        <p:spPr>
          <a:xfrm>
            <a:off x="777240"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Tìm chỗ kiểm tra rồi mới ghi</a:t>
            </a:r>
            <a:endParaRPr lang="en-US" sz="1300" dirty="0"/>
          </a:p>
        </p:txBody>
      </p:sp>
      <p:sp>
        <p:nvSpPr>
          <p:cNvPr id="8" name="Shape 6"/>
          <p:cNvSpPr/>
          <p:nvPr/>
        </p:nvSpPr>
        <p:spPr>
          <a:xfrm>
            <a:off x="2075688" y="2834640"/>
            <a:ext cx="128016" cy="0"/>
          </a:xfrm>
          <a:prstGeom prst="line">
            <a:avLst/>
          </a:prstGeom>
          <a:noFill/>
          <a:ln w="19050">
            <a:solidFill>
              <a:srgbClr val="7A8592"/>
            </a:solidFill>
            <a:prstDash val="solid"/>
            <a:tailEnd type="triangle"/>
          </a:ln>
        </p:spPr>
      </p:sp>
      <p:sp>
        <p:nvSpPr>
          <p:cNvPr id="9" name="Shape 7"/>
          <p:cNvSpPr/>
          <p:nvPr/>
        </p:nvSpPr>
        <p:spPr>
          <a:xfrm>
            <a:off x="2221992" y="1783080"/>
            <a:ext cx="1417320" cy="2103120"/>
          </a:xfrm>
          <a:prstGeom prst="roundRect">
            <a:avLst>
              <a:gd name="adj" fmla="val 7742"/>
            </a:avLst>
          </a:prstGeom>
          <a:solidFill>
            <a:srgbClr val="FBFAF6"/>
          </a:solidFill>
          <a:ln w="12700">
            <a:solidFill>
              <a:srgbClr val="DAD6CC"/>
            </a:solidFill>
            <a:prstDash val="solid"/>
          </a:ln>
        </p:spPr>
      </p:sp>
      <p:sp>
        <p:nvSpPr>
          <p:cNvPr id="10" name="Text 8"/>
          <p:cNvSpPr txBox="1"/>
          <p:nvPr/>
        </p:nvSpPr>
        <p:spPr>
          <a:xfrm>
            <a:off x="2359152"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2</a:t>
            </a:r>
            <a:endParaRPr lang="en-US" sz="2400" dirty="0"/>
          </a:p>
        </p:txBody>
      </p:sp>
      <p:sp>
        <p:nvSpPr>
          <p:cNvPr id="11" name="Text 9"/>
          <p:cNvSpPr txBox="1"/>
          <p:nvPr/>
        </p:nvSpPr>
        <p:spPr>
          <a:xfrm>
            <a:off x="2359152"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Chọn invariant</a:t>
            </a:r>
            <a:endParaRPr lang="en-US" sz="1500" dirty="0"/>
          </a:p>
        </p:txBody>
      </p:sp>
      <p:sp>
        <p:nvSpPr>
          <p:cNvPr id="12" name="Text 10"/>
          <p:cNvSpPr txBox="1"/>
          <p:nvPr/>
        </p:nvSpPr>
        <p:spPr>
          <a:xfrm>
            <a:off x="2359152"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7 tính chất dữ liệu phải đúng</a:t>
            </a:r>
            <a:endParaRPr lang="en-US" sz="1300" dirty="0"/>
          </a:p>
        </p:txBody>
      </p:sp>
      <p:sp>
        <p:nvSpPr>
          <p:cNvPr id="13" name="Shape 11"/>
          <p:cNvSpPr/>
          <p:nvPr/>
        </p:nvSpPr>
        <p:spPr>
          <a:xfrm>
            <a:off x="3657600" y="2834640"/>
            <a:ext cx="128016" cy="0"/>
          </a:xfrm>
          <a:prstGeom prst="line">
            <a:avLst/>
          </a:prstGeom>
          <a:noFill/>
          <a:ln w="19050">
            <a:solidFill>
              <a:srgbClr val="7A8592"/>
            </a:solidFill>
            <a:prstDash val="solid"/>
            <a:tailEnd type="triangle"/>
          </a:ln>
        </p:spPr>
      </p:sp>
      <p:sp>
        <p:nvSpPr>
          <p:cNvPr id="14" name="Shape 12"/>
          <p:cNvSpPr/>
          <p:nvPr/>
        </p:nvSpPr>
        <p:spPr>
          <a:xfrm>
            <a:off x="3803904" y="1783080"/>
            <a:ext cx="1417320" cy="2103120"/>
          </a:xfrm>
          <a:prstGeom prst="roundRect">
            <a:avLst>
              <a:gd name="adj" fmla="val 7742"/>
            </a:avLst>
          </a:prstGeom>
          <a:solidFill>
            <a:srgbClr val="FBFAF6"/>
          </a:solidFill>
          <a:ln w="12700">
            <a:solidFill>
              <a:srgbClr val="DAD6CC"/>
            </a:solidFill>
            <a:prstDash val="solid"/>
          </a:ln>
        </p:spPr>
      </p:sp>
      <p:sp>
        <p:nvSpPr>
          <p:cNvPr id="15" name="Text 13"/>
          <p:cNvSpPr txBox="1"/>
          <p:nvPr/>
        </p:nvSpPr>
        <p:spPr>
          <a:xfrm>
            <a:off x="3941064"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3</a:t>
            </a:r>
            <a:endParaRPr lang="en-US" sz="2400" dirty="0"/>
          </a:p>
        </p:txBody>
      </p:sp>
      <p:sp>
        <p:nvSpPr>
          <p:cNvPr id="16" name="Text 14"/>
          <p:cNvSpPr txBox="1"/>
          <p:nvPr/>
        </p:nvSpPr>
        <p:spPr>
          <a:xfrm>
            <a:off x="3941064"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Thiết kế test case</a:t>
            </a:r>
            <a:endParaRPr lang="en-US" sz="1500" dirty="0"/>
          </a:p>
        </p:txBody>
      </p:sp>
      <p:sp>
        <p:nvSpPr>
          <p:cNvPr id="17" name="Text 15"/>
          <p:cNvSpPr txBox="1"/>
          <p:nvPr/>
        </p:nvSpPr>
        <p:spPr>
          <a:xfrm>
            <a:off x="3941064"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20 test case TC-01 đến TC-20</a:t>
            </a:r>
            <a:endParaRPr lang="en-US" sz="1300" dirty="0"/>
          </a:p>
        </p:txBody>
      </p:sp>
      <p:sp>
        <p:nvSpPr>
          <p:cNvPr id="18" name="Shape 16"/>
          <p:cNvSpPr/>
          <p:nvPr/>
        </p:nvSpPr>
        <p:spPr>
          <a:xfrm>
            <a:off x="5239512" y="2834640"/>
            <a:ext cx="128016" cy="0"/>
          </a:xfrm>
          <a:prstGeom prst="line">
            <a:avLst/>
          </a:prstGeom>
          <a:noFill/>
          <a:ln w="19050">
            <a:solidFill>
              <a:srgbClr val="7A8592"/>
            </a:solidFill>
            <a:prstDash val="solid"/>
            <a:tailEnd type="triangle"/>
          </a:ln>
        </p:spPr>
      </p:sp>
      <p:sp>
        <p:nvSpPr>
          <p:cNvPr id="19" name="Shape 17"/>
          <p:cNvSpPr/>
          <p:nvPr/>
        </p:nvSpPr>
        <p:spPr>
          <a:xfrm>
            <a:off x="5385816" y="1783080"/>
            <a:ext cx="1417320" cy="2103120"/>
          </a:xfrm>
          <a:prstGeom prst="roundRect">
            <a:avLst>
              <a:gd name="adj" fmla="val 7742"/>
            </a:avLst>
          </a:prstGeom>
          <a:solidFill>
            <a:srgbClr val="FBFAF6"/>
          </a:solidFill>
          <a:ln w="12700">
            <a:solidFill>
              <a:srgbClr val="DAD6CC"/>
            </a:solidFill>
            <a:prstDash val="solid"/>
          </a:ln>
        </p:spPr>
      </p:sp>
      <p:sp>
        <p:nvSpPr>
          <p:cNvPr id="20" name="Text 18"/>
          <p:cNvSpPr txBox="1"/>
          <p:nvPr/>
        </p:nvSpPr>
        <p:spPr>
          <a:xfrm>
            <a:off x="5522976"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4</a:t>
            </a:r>
            <a:endParaRPr lang="en-US" sz="2400" dirty="0"/>
          </a:p>
        </p:txBody>
      </p:sp>
      <p:sp>
        <p:nvSpPr>
          <p:cNvPr id="21" name="Text 19"/>
          <p:cNvSpPr txBox="1"/>
          <p:nvPr/>
        </p:nvSpPr>
        <p:spPr>
          <a:xfrm>
            <a:off x="5522976"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Chuẩn bị dữ liệu</a:t>
            </a:r>
            <a:endParaRPr lang="en-US" sz="1500" dirty="0"/>
          </a:p>
        </p:txBody>
      </p:sp>
      <p:sp>
        <p:nvSpPr>
          <p:cNvPr id="22" name="Text 20"/>
          <p:cNvSpPr txBox="1"/>
          <p:nvPr/>
        </p:nvSpPr>
        <p:spPr>
          <a:xfrm>
            <a:off x="5522976"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Host test, 5 loại cuộc hẹn</a:t>
            </a:r>
            <a:endParaRPr lang="en-US" sz="1300" dirty="0"/>
          </a:p>
        </p:txBody>
      </p:sp>
      <p:sp>
        <p:nvSpPr>
          <p:cNvPr id="23" name="Shape 21"/>
          <p:cNvSpPr/>
          <p:nvPr/>
        </p:nvSpPr>
        <p:spPr>
          <a:xfrm>
            <a:off x="6821424" y="2834640"/>
            <a:ext cx="128016" cy="0"/>
          </a:xfrm>
          <a:prstGeom prst="line">
            <a:avLst/>
          </a:prstGeom>
          <a:noFill/>
          <a:ln w="19050">
            <a:solidFill>
              <a:srgbClr val="7A8592"/>
            </a:solidFill>
            <a:prstDash val="solid"/>
            <a:tailEnd type="triangle"/>
          </a:ln>
        </p:spPr>
      </p:sp>
      <p:sp>
        <p:nvSpPr>
          <p:cNvPr id="24" name="Shape 22"/>
          <p:cNvSpPr/>
          <p:nvPr/>
        </p:nvSpPr>
        <p:spPr>
          <a:xfrm>
            <a:off x="6967728" y="1783080"/>
            <a:ext cx="1417320" cy="2103120"/>
          </a:xfrm>
          <a:prstGeom prst="roundRect">
            <a:avLst>
              <a:gd name="adj" fmla="val 7742"/>
            </a:avLst>
          </a:prstGeom>
          <a:solidFill>
            <a:srgbClr val="12202B"/>
          </a:solidFill>
          <a:ln w="12700">
            <a:solidFill>
              <a:srgbClr val="12202B"/>
            </a:solidFill>
            <a:prstDash val="solid"/>
          </a:ln>
        </p:spPr>
      </p:sp>
      <p:sp>
        <p:nvSpPr>
          <p:cNvPr id="25" name="Text 23"/>
          <p:cNvSpPr txBox="1"/>
          <p:nvPr/>
        </p:nvSpPr>
        <p:spPr>
          <a:xfrm>
            <a:off x="7104888" y="1874520"/>
            <a:ext cx="457200" cy="457200"/>
          </a:xfrm>
          <a:prstGeom prst="rect">
            <a:avLst/>
          </a:prstGeom>
          <a:noFill/>
          <a:ln/>
        </p:spPr>
        <p:txBody>
          <a:bodyPr wrap="square" lIns="0" tIns="0" rIns="0" bIns="0" rtlCol="0" anchor="ctr"/>
          <a:lstStyle/>
          <a:p>
            <a:pPr indent="0" marL="0">
              <a:buNone/>
            </a:pPr>
            <a:r>
              <a:rPr lang="en-US" sz="2400" b="1" dirty="0">
                <a:solidFill>
                  <a:srgbClr val="E07B39"/>
                </a:solidFill>
                <a:latin typeface="Calibri" pitchFamily="34" charset="0"/>
                <a:ea typeface="Calibri" pitchFamily="34" charset="-122"/>
                <a:cs typeface="Calibri" pitchFamily="34" charset="-120"/>
              </a:rPr>
              <a:t>5</a:t>
            </a:r>
            <a:endParaRPr lang="en-US" sz="2400" dirty="0"/>
          </a:p>
        </p:txBody>
      </p:sp>
      <p:sp>
        <p:nvSpPr>
          <p:cNvPr id="26" name="Text 24"/>
          <p:cNvSpPr txBox="1"/>
          <p:nvPr/>
        </p:nvSpPr>
        <p:spPr>
          <a:xfrm>
            <a:off x="7104888" y="2377440"/>
            <a:ext cx="1143000" cy="548640"/>
          </a:xfrm>
          <a:prstGeom prst="rect">
            <a:avLst/>
          </a:prstGeom>
          <a:noFill/>
          <a:ln/>
        </p:spPr>
        <p:txBody>
          <a:bodyPr wrap="square" lIns="0" tIns="0" rIns="0" bIns="0" rtlCol="0" anchor="t"/>
          <a:lstStyle/>
          <a:p>
            <a:pPr indent="0" marL="0">
              <a:buNone/>
            </a:pPr>
            <a:r>
              <a:rPr lang="en-US" sz="1500" b="1" dirty="0">
                <a:solidFill>
                  <a:srgbClr val="F4F2EC"/>
                </a:solidFill>
                <a:latin typeface="Calibri" pitchFamily="34" charset="0"/>
                <a:ea typeface="Calibri" pitchFamily="34" charset="-122"/>
                <a:cs typeface="Calibri" pitchFamily="34" charset="-120"/>
              </a:rPr>
              <a:t>Chạy</a:t>
            </a:r>
            <a:endParaRPr lang="en-US" sz="1500" dirty="0"/>
          </a:p>
        </p:txBody>
      </p:sp>
      <p:sp>
        <p:nvSpPr>
          <p:cNvPr id="27" name="Text 25"/>
          <p:cNvSpPr txBox="1"/>
          <p:nvPr/>
        </p:nvSpPr>
        <p:spPr>
          <a:xfrm>
            <a:off x="7104888" y="2971800"/>
            <a:ext cx="1143000" cy="822960"/>
          </a:xfrm>
          <a:prstGeom prst="rect">
            <a:avLst/>
          </a:prstGeom>
          <a:noFill/>
          <a:ln/>
        </p:spPr>
        <p:txBody>
          <a:bodyPr wrap="square" lIns="0" tIns="0" rIns="0" bIns="0" rtlCol="0" anchor="t"/>
          <a:lstStyle/>
          <a:p>
            <a:pPr indent="0" marL="0">
              <a:buNone/>
            </a:pPr>
            <a:r>
              <a:rPr lang="en-US" sz="1300" dirty="0">
                <a:solidFill>
                  <a:srgbClr val="B8C6D2"/>
                </a:solidFill>
                <a:latin typeface="Calibri" pitchFamily="34" charset="0"/>
                <a:ea typeface="Calibri" pitchFamily="34" charset="-122"/>
                <a:cs typeface="Calibri" pitchFamily="34" charset="-120"/>
              </a:rPr>
              <a:t>Đồng thời (k6) và tuần tự</a:t>
            </a:r>
            <a:endParaRPr lang="en-US" sz="1300" dirty="0"/>
          </a:p>
        </p:txBody>
      </p:sp>
      <p:sp>
        <p:nvSpPr>
          <p:cNvPr id="28" name="Shape 26"/>
          <p:cNvSpPr/>
          <p:nvPr/>
        </p:nvSpPr>
        <p:spPr>
          <a:xfrm>
            <a:off x="8403336" y="2834640"/>
            <a:ext cx="128016" cy="0"/>
          </a:xfrm>
          <a:prstGeom prst="line">
            <a:avLst/>
          </a:prstGeom>
          <a:noFill/>
          <a:ln w="19050">
            <a:solidFill>
              <a:srgbClr val="7A8592"/>
            </a:solidFill>
            <a:prstDash val="solid"/>
            <a:tailEnd type="triangle"/>
          </a:ln>
        </p:spPr>
      </p:sp>
      <p:sp>
        <p:nvSpPr>
          <p:cNvPr id="29" name="Shape 27"/>
          <p:cNvSpPr/>
          <p:nvPr/>
        </p:nvSpPr>
        <p:spPr>
          <a:xfrm>
            <a:off x="8549640" y="1783080"/>
            <a:ext cx="1417320" cy="2103120"/>
          </a:xfrm>
          <a:prstGeom prst="roundRect">
            <a:avLst>
              <a:gd name="adj" fmla="val 7742"/>
            </a:avLst>
          </a:prstGeom>
          <a:solidFill>
            <a:srgbClr val="FBFAF6"/>
          </a:solidFill>
          <a:ln w="12700">
            <a:solidFill>
              <a:srgbClr val="DAD6CC"/>
            </a:solidFill>
            <a:prstDash val="solid"/>
          </a:ln>
        </p:spPr>
      </p:sp>
      <p:sp>
        <p:nvSpPr>
          <p:cNvPr id="30" name="Text 28"/>
          <p:cNvSpPr txBox="1"/>
          <p:nvPr/>
        </p:nvSpPr>
        <p:spPr>
          <a:xfrm>
            <a:off x="8686800"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6</a:t>
            </a:r>
            <a:endParaRPr lang="en-US" sz="2400" dirty="0"/>
          </a:p>
        </p:txBody>
      </p:sp>
      <p:sp>
        <p:nvSpPr>
          <p:cNvPr id="31" name="Text 29"/>
          <p:cNvSpPr txBox="1"/>
          <p:nvPr/>
        </p:nvSpPr>
        <p:spPr>
          <a:xfrm>
            <a:off x="8686800"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Kiểm trong CSDL</a:t>
            </a:r>
            <a:endParaRPr lang="en-US" sz="1500" dirty="0"/>
          </a:p>
        </p:txBody>
      </p:sp>
      <p:sp>
        <p:nvSpPr>
          <p:cNvPr id="32" name="Text 30"/>
          <p:cNvSpPr txBox="1"/>
          <p:nvPr/>
        </p:nvSpPr>
        <p:spPr>
          <a:xfrm>
            <a:off x="8686800"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SQL kiểm từng invariant</a:t>
            </a:r>
            <a:endParaRPr lang="en-US" sz="1300" dirty="0"/>
          </a:p>
        </p:txBody>
      </p:sp>
      <p:sp>
        <p:nvSpPr>
          <p:cNvPr id="33" name="Shape 31"/>
          <p:cNvSpPr/>
          <p:nvPr/>
        </p:nvSpPr>
        <p:spPr>
          <a:xfrm>
            <a:off x="9985248" y="2834640"/>
            <a:ext cx="128016" cy="0"/>
          </a:xfrm>
          <a:prstGeom prst="line">
            <a:avLst/>
          </a:prstGeom>
          <a:noFill/>
          <a:ln w="19050">
            <a:solidFill>
              <a:srgbClr val="7A8592"/>
            </a:solidFill>
            <a:prstDash val="solid"/>
            <a:tailEnd type="triangle"/>
          </a:ln>
        </p:spPr>
      </p:sp>
      <p:sp>
        <p:nvSpPr>
          <p:cNvPr id="34" name="Shape 32"/>
          <p:cNvSpPr/>
          <p:nvPr/>
        </p:nvSpPr>
        <p:spPr>
          <a:xfrm>
            <a:off x="10131552" y="1783080"/>
            <a:ext cx="1417320" cy="2103120"/>
          </a:xfrm>
          <a:prstGeom prst="roundRect">
            <a:avLst>
              <a:gd name="adj" fmla="val 7742"/>
            </a:avLst>
          </a:prstGeom>
          <a:solidFill>
            <a:srgbClr val="FBFAF6"/>
          </a:solidFill>
          <a:ln w="12700">
            <a:solidFill>
              <a:srgbClr val="DAD6CC"/>
            </a:solidFill>
            <a:prstDash val="solid"/>
          </a:ln>
        </p:spPr>
      </p:sp>
      <p:sp>
        <p:nvSpPr>
          <p:cNvPr id="35" name="Text 33"/>
          <p:cNvSpPr txBox="1"/>
          <p:nvPr/>
        </p:nvSpPr>
        <p:spPr>
          <a:xfrm>
            <a:off x="10268712"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7</a:t>
            </a:r>
            <a:endParaRPr lang="en-US" sz="2400" dirty="0"/>
          </a:p>
        </p:txBody>
      </p:sp>
      <p:sp>
        <p:nvSpPr>
          <p:cNvPr id="36" name="Text 34"/>
          <p:cNvSpPr txBox="1"/>
          <p:nvPr/>
        </p:nvSpPr>
        <p:spPr>
          <a:xfrm>
            <a:off x="10268712"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Nguyên nhân gốc</a:t>
            </a:r>
            <a:endParaRPr lang="en-US" sz="1500" dirty="0"/>
          </a:p>
        </p:txBody>
      </p:sp>
      <p:sp>
        <p:nvSpPr>
          <p:cNvPr id="37" name="Text 35"/>
          <p:cNvSpPr txBox="1"/>
          <p:nvPr/>
        </p:nvSpPr>
        <p:spPr>
          <a:xfrm>
            <a:off x="10268712"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Đọc code, thử khắc phục</a:t>
            </a:r>
            <a:endParaRPr lang="en-US" sz="1300" dirty="0"/>
          </a:p>
        </p:txBody>
      </p:sp>
      <p:sp>
        <p:nvSpPr>
          <p:cNvPr id="38" name="Text 36"/>
          <p:cNvSpPr txBox="1"/>
          <p:nvPr/>
        </p:nvSpPr>
        <p:spPr>
          <a:xfrm>
            <a:off x="640080" y="42062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Tiêu chí pass / fail</a:t>
            </a:r>
            <a:endParaRPr lang="en-US" sz="2000" dirty="0"/>
          </a:p>
        </p:txBody>
      </p:sp>
      <p:sp>
        <p:nvSpPr>
          <p:cNvPr id="39" name="Text 37"/>
          <p:cNvSpPr txBox="1"/>
          <p:nvPr/>
        </p:nvSpPr>
        <p:spPr>
          <a:xfrm>
            <a:off x="640080" y="4617720"/>
            <a:ext cx="10908792"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Một vòng PASS khi mọi invariant đúng và không có phản hồi 5xx hay lỗi kết nối.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Test case PASS khi cả 10 vòng PASS; một vòng vi phạm là FAIL.</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Là lỗi race khi gửi đồng thời FAIL nhưng gửi tuần tự PASS; nếu tuần tự cũng FAIL thì là lỗi logic.</a:t>
            </a:r>
            <a:endParaRPr lang="en-US" sz="1600" dirty="0"/>
          </a:p>
        </p:txBody>
      </p:sp>
      <p:sp>
        <p:nvSpPr>
          <p:cNvPr id="40" name="Text 38"/>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Chi tiết: docs/QUY_TRINH_TEST.md mục 1</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06 · DANH SÁCH TEST CASE (1/2)</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20 test case, mỗi cái chạy 10 vòng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914400"/>
                <a:gridCol w="4937760"/>
                <a:gridCol w="3749040"/>
                <a:gridCol w="1307592"/>
              </a:tblGrid>
              <a:tr h="356616">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Input (gửi đồng thời)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Kết quả mong đợi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Invariant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10 người đặt cùng một giờ 09:00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người 200, 9 người 409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TC-02</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10 giờ lệch 3 phút, event 30 và 60 phút, chồng lấn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booking hiệu lực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đặt event 3 ghế, giờ trống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 người 200, 3 người 409; 3 ghế</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I2, I2b</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tranh 2 ghế còn lại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 người 200, 4 người 409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I2, I2b</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10 người đặt event cần xác nhận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booking chờ xác nhận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TC-06</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5 lệnh đổi lịch cùng một booking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lệnh thành công, booking gốc bị hủy</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TC-07</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lệnh hủy + 1 lệnh đổi lịch cùng booking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Không thể cả hai cùng thành công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8 người đặt 8 giờ khác nhau, giới hạn 1/ngày</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người thành công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I6</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 booking khác nhau cùng đổi lịch sang một giờ trống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thành công, 1 bị 409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lệnh đổi lịch + 1 người đặt mới cùng nhắm một giờ</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trong 2 giữ được giờ</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852160"/>
            <a:ext cx="10908792" cy="45720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Dữ liệu: host k15host (UTC, rảnh 24/7); 9 loại cuộc hẹn; mỗi request dùng một email người đặt khác nhau (trừ TC-14, 15, 16). I7 (không có 5xx) áp dụng cho mọi test case.</a:t>
            </a:r>
            <a:endParaRPr lang="en-US" sz="13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Đặc tả đầy đủ (tiền điều kiện, input, kết quả mong đợi): báo cáo mục 3.3.6 · docs/QUY_TRINH_TEST.md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07 · DANH SÁCH TEST CASE (2/2)</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12 test case bổ sung: giới hạn, buffer, hủy, ghế, tải</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914400"/>
                <a:gridCol w="5120640"/>
                <a:gridCol w="3566160"/>
                <a:gridCol w="1307592"/>
              </a:tblGrid>
              <a:tr h="356616">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Input (gửi đồng thời)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Kết quả mong đợi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Invariant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đặt 6 giờ sát nhau, buffer 30 phút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Tối đa 3 booking, cách nhau ≥ 30 phút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TC-12</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đặt 6 giờ, giới hạn 30 phút/ngày</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người thành công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đặt 6 ngày trong tuần, giới hạn 1/tuần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người thành công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I6</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người (cùng email) đặt 6 giờ, giới hạn 1 booking/người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booking thành công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lệnh hủy cùng một booking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Đúng 1 lệnh 200, 5 lệnh bị từ chối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TC-16</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email đặt 6 lần vào event 3 ghế đã có 1 người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Email đó chiếm đúng 1 ghế</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TC-17</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5 người đặt event 30 phút + 5 người đặt event 60 phút, đều 09:00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1 booking hiệu lực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Tải cao: 30 người đặt cùng một giờ</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người 200, 29 người 409, không 5xx</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 I7</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TC-19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20 người đặt 20 giờ liền kề, không chồng nhau</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Cả 20 người thành công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I12</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56616">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TC-20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lệnh hủy + 1 người đặt mới đúng giờ vừa hủy</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Không có 2 booking hiệu lực cùng giờ</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I1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852160"/>
            <a:ext cx="10908792" cy="45720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TC-09, 10, 18, 19, 20 là test case đối chứng: cơ chế đang bảo vệ tốt, dùng để chứng minh bộ test không báo lỗi giả. TC-11 đến TC-17 là các chỗ nhóm nghi có lỗi sau khi đọc mã.</a:t>
            </a:r>
            <a:endParaRPr lang="en-US" sz="13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Đặc tả đầy đủ: báo cáo mục 3.3.6 · mã: race-tests/src/scenarios.mjs</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08 · KẾ HOẠCH ÁP DỤNG K15</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Phạm vi, giả định và tiêu chí đánh giá</a:t>
            </a:r>
            <a:endParaRPr lang="en-US" sz="3400" dirty="0"/>
          </a:p>
        </p:txBody>
      </p:sp>
      <p:sp>
        <p:nvSpPr>
          <p:cNvPr id="4" name="Shape 2"/>
          <p:cNvSpPr/>
          <p:nvPr/>
        </p:nvSpPr>
        <p:spPr>
          <a:xfrm>
            <a:off x="640080" y="1691640"/>
            <a:ext cx="3422904" cy="4297680"/>
          </a:xfrm>
          <a:prstGeom prst="roundRect">
            <a:avLst>
              <a:gd name="adj" fmla="val 3206"/>
            </a:avLst>
          </a:prstGeom>
          <a:solidFill>
            <a:srgbClr val="1D3142"/>
          </a:solidFill>
          <a:ln w="12700">
            <a:solidFill>
              <a:srgbClr val="1D3142"/>
            </a:solidFill>
            <a:prstDash val="solid"/>
          </a:ln>
        </p:spPr>
      </p:sp>
      <p:sp>
        <p:nvSpPr>
          <p:cNvPr id="5" name="Text 3"/>
          <p:cNvSpPr txBox="1"/>
          <p:nvPr/>
        </p:nvSpPr>
        <p:spPr>
          <a:xfrm>
            <a:off x="914400"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PHẠM VI</a:t>
            </a:r>
            <a:endParaRPr lang="en-US" sz="1400" dirty="0"/>
          </a:p>
        </p:txBody>
      </p:sp>
      <p:sp>
        <p:nvSpPr>
          <p:cNvPr id="6" name="Text 4"/>
          <p:cNvSpPr txBox="1"/>
          <p:nvPr/>
        </p:nvSpPr>
        <p:spPr>
          <a:xfrm>
            <a:off x="914400"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Đặt lịch 1-1 và event có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Event cần xác nhận (PENDING)</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Đổi lịch, hủy lịch</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Giới hạn: ngày, tuần, thời lượng, người đặt; thời gian đệm</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Ngoài phạm vi: lịch ngoài, thanh toán, team, API v2</a:t>
            </a:r>
            <a:endParaRPr lang="en-US" sz="1500" dirty="0"/>
          </a:p>
        </p:txBody>
      </p:sp>
      <p:sp>
        <p:nvSpPr>
          <p:cNvPr id="7" name="Shape 5"/>
          <p:cNvSpPr/>
          <p:nvPr/>
        </p:nvSpPr>
        <p:spPr>
          <a:xfrm>
            <a:off x="4383024" y="1691640"/>
            <a:ext cx="3422904" cy="4297680"/>
          </a:xfrm>
          <a:prstGeom prst="roundRect">
            <a:avLst>
              <a:gd name="adj" fmla="val 3206"/>
            </a:avLst>
          </a:prstGeom>
          <a:solidFill>
            <a:srgbClr val="1D3142"/>
          </a:solidFill>
          <a:ln w="12700">
            <a:solidFill>
              <a:srgbClr val="1D3142"/>
            </a:solidFill>
            <a:prstDash val="solid"/>
          </a:ln>
        </p:spPr>
      </p:sp>
      <p:sp>
        <p:nvSpPr>
          <p:cNvPr id="8" name="Text 6"/>
          <p:cNvSpPr txBox="1"/>
          <p:nvPr/>
        </p:nvSpPr>
        <p:spPr>
          <a:xfrm>
            <a:off x="4657344" y="1874520"/>
            <a:ext cx="2874264" cy="365760"/>
          </a:xfrm>
          <a:prstGeom prst="rect">
            <a:avLst/>
          </a:prstGeom>
          <a:noFill/>
          <a:ln/>
        </p:spPr>
        <p:txBody>
          <a:bodyPr wrap="square" lIns="0" tIns="0" rIns="0" bIns="0" rtlCol="0" anchor="ctr"/>
          <a:lstStyle/>
          <a:p>
            <a:pPr indent="0" marL="0">
              <a:buNone/>
            </a:pPr>
            <a:r>
              <a:rPr lang="en-US" sz="1400" b="1" dirty="0">
                <a:solidFill>
                  <a:srgbClr val="7FB0FF"/>
                </a:solidFill>
                <a:latin typeface="Consolas" pitchFamily="34" charset="0"/>
                <a:ea typeface="Consolas" pitchFamily="34" charset="-122"/>
                <a:cs typeface="Consolas" pitchFamily="34" charset="-120"/>
              </a:rPr>
              <a:t>GIẢ ĐỊNH</a:t>
            </a:r>
            <a:endParaRPr lang="en-US" sz="1400" dirty="0"/>
          </a:p>
        </p:txBody>
      </p:sp>
      <p:sp>
        <p:nvSpPr>
          <p:cNvPr id="9" name="Text 7"/>
          <p:cNvSpPr txBox="1"/>
          <p:nvPr/>
        </p:nvSpPr>
        <p:spPr>
          <a:xfrm>
            <a:off x="4657344"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Một instance, một PostgreSQL, chạy local</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Chạy yarn dev; production có thể rộng cửa sổ hơn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Host không nối lịch ngoài</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Rate limit tắt</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Mỗi vòng dùng một ngày riêng</a:t>
            </a:r>
            <a:endParaRPr lang="en-US" sz="1500" dirty="0"/>
          </a:p>
        </p:txBody>
      </p:sp>
      <p:sp>
        <p:nvSpPr>
          <p:cNvPr id="10" name="Shape 8"/>
          <p:cNvSpPr/>
          <p:nvPr/>
        </p:nvSpPr>
        <p:spPr>
          <a:xfrm>
            <a:off x="8125968" y="1691640"/>
            <a:ext cx="3422904" cy="4297680"/>
          </a:xfrm>
          <a:prstGeom prst="roundRect">
            <a:avLst>
              <a:gd name="adj" fmla="val 3206"/>
            </a:avLst>
          </a:prstGeom>
          <a:solidFill>
            <a:srgbClr val="1D3142"/>
          </a:solidFill>
          <a:ln w="12700">
            <a:solidFill>
              <a:srgbClr val="1D3142"/>
            </a:solidFill>
            <a:prstDash val="solid"/>
          </a:ln>
        </p:spPr>
      </p:sp>
      <p:sp>
        <p:nvSpPr>
          <p:cNvPr id="11" name="Text 9"/>
          <p:cNvSpPr txBox="1"/>
          <p:nvPr/>
        </p:nvSpPr>
        <p:spPr>
          <a:xfrm>
            <a:off x="8400288"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TIÊU CHÍ PASS / FAIL</a:t>
            </a:r>
            <a:endParaRPr lang="en-US" sz="1400" dirty="0"/>
          </a:p>
        </p:txBody>
      </p:sp>
      <p:sp>
        <p:nvSpPr>
          <p:cNvPr id="12" name="Text 10"/>
          <p:cNvSpPr txBox="1"/>
          <p:nvPr/>
        </p:nvSpPr>
        <p:spPr>
          <a:xfrm>
            <a:off x="8400288"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Oracle là invariant trong CSDL, không phải mã HTTP</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I1: host không có 2 booking chồng giờ</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I2, I11: không vượt số ghế, một người một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I4–I6, I8–I10: đổi lịch, hủy, giới hạn, đệm</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FAIL khi 1 vòng vi phạm; so với nhóm đối chứng tuần tự</a:t>
            </a:r>
            <a:endParaRPr lang="en-US" sz="1500" dirty="0"/>
          </a:p>
        </p:txBody>
      </p:sp>
      <p:sp>
        <p:nvSpPr>
          <p:cNvPr id="13"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Chi tiết: BAO_CAO.md phần D, 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09 · CHI PHÍ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Chi phí đo thật: 0 đồng, khoảng 33 phút máy</a:t>
            </a:r>
            <a:endParaRPr lang="en-US" sz="3400" dirty="0"/>
          </a:p>
        </p:txBody>
      </p:sp>
      <p:sp>
        <p:nvSpPr>
          <p:cNvPr id="4" name="Shape 2"/>
          <p:cNvSpPr/>
          <p:nvPr/>
        </p:nvSpPr>
        <p:spPr>
          <a:xfrm>
            <a:off x="640080" y="1691640"/>
            <a:ext cx="2521458" cy="1554480"/>
          </a:xfrm>
          <a:prstGeom prst="roundRect">
            <a:avLst>
              <a:gd name="adj" fmla="val 7059"/>
            </a:avLst>
          </a:prstGeom>
          <a:solidFill>
            <a:srgbClr val="FBFAF6"/>
          </a:solidFill>
          <a:ln w="12700">
            <a:solidFill>
              <a:srgbClr val="DAD6CC"/>
            </a:solidFill>
            <a:prstDash val="solid"/>
          </a:ln>
        </p:spPr>
      </p:sp>
      <p:sp>
        <p:nvSpPr>
          <p:cNvPr id="5" name="Text 3"/>
          <p:cNvSpPr txBox="1"/>
          <p:nvPr/>
        </p:nvSpPr>
        <p:spPr>
          <a:xfrm>
            <a:off x="822960"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0 đồng</a:t>
            </a:r>
            <a:endParaRPr lang="en-US" sz="3200" dirty="0"/>
          </a:p>
        </p:txBody>
      </p:sp>
      <p:sp>
        <p:nvSpPr>
          <p:cNvPr id="6" name="Text 4"/>
          <p:cNvSpPr txBox="1"/>
          <p:nvPr/>
        </p:nvSpPr>
        <p:spPr>
          <a:xfrm>
            <a:off x="822960"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Công cụ miễn phí, chạy trên máy cá nhân</a:t>
            </a:r>
            <a:endParaRPr lang="en-US" sz="1400" dirty="0"/>
          </a:p>
        </p:txBody>
      </p:sp>
      <p:sp>
        <p:nvSpPr>
          <p:cNvPr id="7" name="Shape 5"/>
          <p:cNvSpPr/>
          <p:nvPr/>
        </p:nvSpPr>
        <p:spPr>
          <a:xfrm>
            <a:off x="3435858" y="1691640"/>
            <a:ext cx="2521458" cy="1554480"/>
          </a:xfrm>
          <a:prstGeom prst="roundRect">
            <a:avLst>
              <a:gd name="adj" fmla="val 7059"/>
            </a:avLst>
          </a:prstGeom>
          <a:solidFill>
            <a:srgbClr val="FBFAF6"/>
          </a:solidFill>
          <a:ln w="12700">
            <a:solidFill>
              <a:srgbClr val="DAD6CC"/>
            </a:solidFill>
            <a:prstDash val="solid"/>
          </a:ln>
        </p:spPr>
      </p:sp>
      <p:sp>
        <p:nvSpPr>
          <p:cNvPr id="8" name="Text 6"/>
          <p:cNvSpPr txBox="1"/>
          <p:nvPr/>
        </p:nvSpPr>
        <p:spPr>
          <a:xfrm>
            <a:off x="3618738"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8 940</a:t>
            </a:r>
            <a:endParaRPr lang="en-US" sz="3200" dirty="0"/>
          </a:p>
        </p:txBody>
      </p:sp>
      <p:sp>
        <p:nvSpPr>
          <p:cNvPr id="9" name="Text 7"/>
          <p:cNvSpPr txBox="1"/>
          <p:nvPr/>
        </p:nvSpPr>
        <p:spPr>
          <a:xfrm>
            <a:off x="3618738"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Request đã gửi trong mọi lần chạy</a:t>
            </a:r>
            <a:endParaRPr lang="en-US" sz="1400" dirty="0"/>
          </a:p>
        </p:txBody>
      </p:sp>
      <p:sp>
        <p:nvSpPr>
          <p:cNvPr id="10" name="Shape 8"/>
          <p:cNvSpPr/>
          <p:nvPr/>
        </p:nvSpPr>
        <p:spPr>
          <a:xfrm>
            <a:off x="6231636" y="1691640"/>
            <a:ext cx="2521458" cy="1554480"/>
          </a:xfrm>
          <a:prstGeom prst="roundRect">
            <a:avLst>
              <a:gd name="adj" fmla="val 7059"/>
            </a:avLst>
          </a:prstGeom>
          <a:solidFill>
            <a:srgbClr val="FBFAF6"/>
          </a:solidFill>
          <a:ln w="12700">
            <a:solidFill>
              <a:srgbClr val="DAD6CC"/>
            </a:solidFill>
            <a:prstDash val="solid"/>
          </a:ln>
        </p:spPr>
      </p:sp>
      <p:sp>
        <p:nvSpPr>
          <p:cNvPr id="11" name="Text 9"/>
          <p:cNvSpPr txBox="1"/>
          <p:nvPr/>
        </p:nvSpPr>
        <p:spPr>
          <a:xfrm>
            <a:off x="6414516"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 8 phút</a:t>
            </a:r>
            <a:endParaRPr lang="en-US" sz="3200" dirty="0"/>
          </a:p>
        </p:txBody>
      </p:sp>
      <p:sp>
        <p:nvSpPr>
          <p:cNvPr id="12" name="Text 10"/>
          <p:cNvSpPr txBox="1"/>
          <p:nvPr/>
        </p:nvSpPr>
        <p:spPr>
          <a:xfrm>
            <a:off x="6414516"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Chạy lại 20 test case, cả hai chế độ</a:t>
            </a:r>
            <a:endParaRPr lang="en-US" sz="1400" dirty="0"/>
          </a:p>
        </p:txBody>
      </p:sp>
      <p:sp>
        <p:nvSpPr>
          <p:cNvPr id="13" name="Shape 11"/>
          <p:cNvSpPr/>
          <p:nvPr/>
        </p:nvSpPr>
        <p:spPr>
          <a:xfrm>
            <a:off x="9027414" y="1691640"/>
            <a:ext cx="2521458" cy="1554480"/>
          </a:xfrm>
          <a:prstGeom prst="roundRect">
            <a:avLst>
              <a:gd name="adj" fmla="val 7059"/>
            </a:avLst>
          </a:prstGeom>
          <a:solidFill>
            <a:srgbClr val="FBFAF6"/>
          </a:solidFill>
          <a:ln w="12700">
            <a:solidFill>
              <a:srgbClr val="DAD6CC"/>
            </a:solidFill>
            <a:prstDash val="solid"/>
          </a:ln>
        </p:spPr>
      </p:sp>
      <p:sp>
        <p:nvSpPr>
          <p:cNvPr id="14" name="Text 12"/>
          <p:cNvSpPr txBox="1"/>
          <p:nvPr/>
        </p:nvSpPr>
        <p:spPr>
          <a:xfrm>
            <a:off x="9210294"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 1 600</a:t>
            </a:r>
            <a:endParaRPr lang="en-US" sz="3200" dirty="0"/>
          </a:p>
        </p:txBody>
      </p:sp>
      <p:sp>
        <p:nvSpPr>
          <p:cNvPr id="15" name="Text 13"/>
          <p:cNvSpPr txBox="1"/>
          <p:nvPr/>
        </p:nvSpPr>
        <p:spPr>
          <a:xfrm>
            <a:off x="9210294"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Dòng mã bộ test (Node.js, k6, SQL, bash)</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3520440"/>
          <a:ext cx="10908792" cy="914400"/>
        </p:xfrm>
        <a:graphic>
          <a:graphicData uri="http://schemas.openxmlformats.org/drawingml/2006/table">
            <a:tbl>
              <a:tblPr/>
              <a:tblGrid>
                <a:gridCol w="6583680"/>
                <a:gridCol w="2011680"/>
                <a:gridCol w="2313432"/>
              </a:tblGrid>
              <a:tr h="384048">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Lần chạy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Request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Thời gian máy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Đợt 1: 8 test case, đồng thời + 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1 140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177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Đợt 2: 20 test case, đồng thời (chính thức)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1 590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383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Đợt 2: 20 test case, tuần tự (đối chứng)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1 590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76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Đợt 2 trên máy Windows (đồng thời + 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3 180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561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Thí nghiệm phụ: độ nhạy 2 request, khắc phục, cửa sổ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1 440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755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17" name="Text 14"/>
          <p:cNvSpPr txBox="1"/>
          <p:nvPr/>
        </p:nvSpPr>
        <p:spPr>
          <a:xfrm>
            <a:off x="640080" y="5943600"/>
            <a:ext cx="10908792" cy="365760"/>
          </a:xfrm>
          <a:prstGeom prst="rect">
            <a:avLst/>
          </a:prstGeom>
          <a:noFill/>
          <a:ln/>
        </p:spPr>
        <p:txBody>
          <a:bodyPr wrap="square" lIns="0" tIns="0" rIns="0" bIns="0" rtlCol="0" anchor="ctr"/>
          <a:lstStyle/>
          <a:p>
            <a:pPr indent="0" marL="0">
              <a:buNone/>
            </a:pPr>
            <a:r>
              <a:rPr lang="en-US" sz="1400" dirty="0">
                <a:solidFill>
                  <a:srgbClr val="4A5866"/>
                </a:solidFill>
                <a:latin typeface="Calibri" pitchFamily="34" charset="0"/>
                <a:ea typeface="Calibri" pitchFamily="34" charset="-122"/>
                <a:cs typeface="Calibri" pitchFamily="34" charset="-120"/>
              </a:rPr>
              <a:t>Công sức nhóm: ước lượng 34–46 người-giờ (chưa theo dõi giờ thực tế, chưa gồm đợt mở rộng lên 20 test case). Máy: MacBook Apple Silicon 10 nhân, 32 GB RAM.</a:t>
            </a:r>
            <a:endParaRPr lang="en-US" sz="1400" dirty="0"/>
          </a:p>
        </p:txBody>
      </p:sp>
      <p:sp>
        <p:nvSpPr>
          <p:cNvPr id="18" name="Text 15"/>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Số liệu lấy từ summary.json của từng lần chạy: báo cáo bảng 'Chi phí chạy kiểm thử đo được' · docs/QUY_TRINH_TEST.md mục 3</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10 · KẾT QUẢ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13 trên 20 test case phát hiện lỗi</a:t>
            </a:r>
            <a:endParaRPr lang="en-US" sz="3400" dirty="0"/>
          </a:p>
        </p:txBody>
      </p:sp>
      <p:pic>
        <p:nvPicPr>
          <p:cNvPr id="4" name="Image 0" descr="/Users/nthtam/Lưu trữ/kiem_thu_pm/docs/figures/hinh-ket-qua-20.png">    </p:cNvPr>
          <p:cNvPicPr>
            <a:picLocks noChangeAspect="1"/>
          </p:cNvPicPr>
          <p:nvPr/>
        </p:nvPicPr>
        <p:blipFill>
          <a:blip r:embed="rId1"/>
          <a:stretch>
            <a:fillRect/>
          </a:stretch>
        </p:blipFill>
        <p:spPr>
          <a:xfrm>
            <a:off x="640080" y="1554480"/>
            <a:ext cx="7589520" cy="3487077"/>
          </a:xfrm>
          <a:prstGeom prst="rect">
            <a:avLst/>
          </a:prstGeom>
        </p:spPr>
      </p:pic>
      <p:sp>
        <p:nvSpPr>
          <p:cNvPr id="5" name="Shape 2"/>
          <p:cNvSpPr/>
          <p:nvPr/>
        </p:nvSpPr>
        <p:spPr>
          <a:xfrm>
            <a:off x="8503920" y="1554480"/>
            <a:ext cx="3044952" cy="1051560"/>
          </a:xfrm>
          <a:prstGeom prst="roundRect">
            <a:avLst>
              <a:gd name="adj" fmla="val 10435"/>
            </a:avLst>
          </a:prstGeom>
          <a:solidFill>
            <a:srgbClr val="FBFAF6"/>
          </a:solidFill>
          <a:ln w="12700">
            <a:solidFill>
              <a:srgbClr val="DAD6CC"/>
            </a:solidFill>
            <a:prstDash val="solid"/>
          </a:ln>
        </p:spPr>
      </p:sp>
      <p:sp>
        <p:nvSpPr>
          <p:cNvPr id="6" name="Text 3"/>
          <p:cNvSpPr txBox="1"/>
          <p:nvPr/>
        </p:nvSpPr>
        <p:spPr>
          <a:xfrm>
            <a:off x="8686800" y="1600200"/>
            <a:ext cx="1737360" cy="960120"/>
          </a:xfrm>
          <a:prstGeom prst="rect">
            <a:avLst/>
          </a:prstGeom>
          <a:noFill/>
          <a:ln/>
        </p:spPr>
        <p:txBody>
          <a:bodyPr wrap="square" lIns="0" tIns="0" rIns="0" bIns="0" rtlCol="0" anchor="ctr"/>
          <a:lstStyle/>
          <a:p>
            <a:pPr indent="0" marL="0">
              <a:buNone/>
            </a:pPr>
            <a:r>
              <a:rPr lang="en-US" sz="2800" b="1" dirty="0">
                <a:solidFill>
                  <a:srgbClr val="B4531A"/>
                </a:solidFill>
                <a:latin typeface="Calibri" pitchFamily="34" charset="0"/>
                <a:ea typeface="Calibri" pitchFamily="34" charset="-122"/>
                <a:cs typeface="Calibri" pitchFamily="34" charset="-120"/>
              </a:rPr>
              <a:t>13 / 20</a:t>
            </a:r>
            <a:endParaRPr lang="en-US" sz="2800" dirty="0"/>
          </a:p>
        </p:txBody>
      </p:sp>
      <p:sp>
        <p:nvSpPr>
          <p:cNvPr id="7" name="Text 4"/>
          <p:cNvSpPr txBox="1"/>
          <p:nvPr/>
        </p:nvSpPr>
        <p:spPr>
          <a:xfrm>
            <a:off x="10378440" y="1600200"/>
            <a:ext cx="1124712" cy="960120"/>
          </a:xfrm>
          <a:prstGeom prst="rect">
            <a:avLst/>
          </a:prstGeom>
          <a:noFill/>
          <a:ln/>
        </p:spPr>
        <p:txBody>
          <a:bodyPr wrap="square" lIns="0" tIns="0" rIns="0" bIns="0" rtlCol="0" anchor="ctr"/>
          <a:lstStyle/>
          <a:p>
            <a:pPr indent="0" marL="0">
              <a:buNone/>
            </a:pPr>
            <a:r>
              <a:rPr lang="en-US" sz="1300" dirty="0">
                <a:solidFill>
                  <a:srgbClr val="4A5866"/>
                </a:solidFill>
                <a:latin typeface="Calibri" pitchFamily="34" charset="0"/>
                <a:ea typeface="Calibri" pitchFamily="34" charset="-122"/>
                <a:cs typeface="Calibri" pitchFamily="34" charset="-120"/>
              </a:rPr>
              <a:t>test case phát hiện lỗi: 12 lỗi race, 1 lỗi logic (TC-06)</a:t>
            </a:r>
            <a:endParaRPr lang="en-US" sz="1300" dirty="0"/>
          </a:p>
        </p:txBody>
      </p:sp>
      <p:sp>
        <p:nvSpPr>
          <p:cNvPr id="8" name="Shape 5"/>
          <p:cNvSpPr/>
          <p:nvPr/>
        </p:nvSpPr>
        <p:spPr>
          <a:xfrm>
            <a:off x="8503920" y="2743200"/>
            <a:ext cx="3044952" cy="1051560"/>
          </a:xfrm>
          <a:prstGeom prst="roundRect">
            <a:avLst>
              <a:gd name="adj" fmla="val 10435"/>
            </a:avLst>
          </a:prstGeom>
          <a:solidFill>
            <a:srgbClr val="FBFAF6"/>
          </a:solidFill>
          <a:ln w="12700">
            <a:solidFill>
              <a:srgbClr val="DAD6CC"/>
            </a:solidFill>
            <a:prstDash val="solid"/>
          </a:ln>
        </p:spPr>
      </p:sp>
      <p:sp>
        <p:nvSpPr>
          <p:cNvPr id="9" name="Text 6"/>
          <p:cNvSpPr txBox="1"/>
          <p:nvPr/>
        </p:nvSpPr>
        <p:spPr>
          <a:xfrm>
            <a:off x="8686800" y="2788920"/>
            <a:ext cx="1737360" cy="960120"/>
          </a:xfrm>
          <a:prstGeom prst="rect">
            <a:avLst/>
          </a:prstGeom>
          <a:noFill/>
          <a:ln/>
        </p:spPr>
        <p:txBody>
          <a:bodyPr wrap="square" lIns="0" tIns="0" rIns="0" bIns="0" rtlCol="0" anchor="ctr"/>
          <a:lstStyle/>
          <a:p>
            <a:pPr indent="0" marL="0">
              <a:buNone/>
            </a:pPr>
            <a:r>
              <a:rPr lang="en-US" sz="2800" b="1" dirty="0">
                <a:solidFill>
                  <a:srgbClr val="2558B8"/>
                </a:solidFill>
                <a:latin typeface="Calibri" pitchFamily="34" charset="0"/>
                <a:ea typeface="Calibri" pitchFamily="34" charset="-122"/>
                <a:cs typeface="Calibri" pitchFamily="34" charset="-120"/>
              </a:rPr>
              <a:t>7 / 20</a:t>
            </a:r>
            <a:endParaRPr lang="en-US" sz="2800" dirty="0"/>
          </a:p>
        </p:txBody>
      </p:sp>
      <p:sp>
        <p:nvSpPr>
          <p:cNvPr id="10" name="Text 7"/>
          <p:cNvSpPr txBox="1"/>
          <p:nvPr/>
        </p:nvSpPr>
        <p:spPr>
          <a:xfrm>
            <a:off x="10378440" y="2788920"/>
            <a:ext cx="1124712" cy="960120"/>
          </a:xfrm>
          <a:prstGeom prst="rect">
            <a:avLst/>
          </a:prstGeom>
          <a:noFill/>
          <a:ln/>
        </p:spPr>
        <p:txBody>
          <a:bodyPr wrap="square" lIns="0" tIns="0" rIns="0" bIns="0" rtlCol="0" anchor="ctr"/>
          <a:lstStyle/>
          <a:p>
            <a:pPr indent="0" marL="0">
              <a:buNone/>
            </a:pPr>
            <a:r>
              <a:rPr lang="en-US" sz="1300" dirty="0">
                <a:solidFill>
                  <a:srgbClr val="4A5866"/>
                </a:solidFill>
                <a:latin typeface="Calibri" pitchFamily="34" charset="0"/>
                <a:ea typeface="Calibri" pitchFamily="34" charset="-122"/>
                <a:cs typeface="Calibri" pitchFamily="34" charset="-120"/>
              </a:rPr>
              <a:t>đạt ở cả hai chế độ: bộ test không báo lỗi giả</a:t>
            </a:r>
            <a:endParaRPr lang="en-US" sz="1300" dirty="0"/>
          </a:p>
        </p:txBody>
      </p:sp>
      <p:sp>
        <p:nvSpPr>
          <p:cNvPr id="11" name="Shape 8"/>
          <p:cNvSpPr/>
          <p:nvPr/>
        </p:nvSpPr>
        <p:spPr>
          <a:xfrm>
            <a:off x="8503920" y="3931920"/>
            <a:ext cx="3044952" cy="1051560"/>
          </a:xfrm>
          <a:prstGeom prst="roundRect">
            <a:avLst>
              <a:gd name="adj" fmla="val 10435"/>
            </a:avLst>
          </a:prstGeom>
          <a:solidFill>
            <a:srgbClr val="FBFAF6"/>
          </a:solidFill>
          <a:ln w="12700">
            <a:solidFill>
              <a:srgbClr val="DAD6CC"/>
            </a:solidFill>
            <a:prstDash val="solid"/>
          </a:ln>
        </p:spPr>
      </p:sp>
      <p:sp>
        <p:nvSpPr>
          <p:cNvPr id="12" name="Text 9"/>
          <p:cNvSpPr txBox="1"/>
          <p:nvPr/>
        </p:nvSpPr>
        <p:spPr>
          <a:xfrm>
            <a:off x="8686800" y="3977640"/>
            <a:ext cx="1737360" cy="960120"/>
          </a:xfrm>
          <a:prstGeom prst="rect">
            <a:avLst/>
          </a:prstGeom>
          <a:noFill/>
          <a:ln/>
        </p:spPr>
        <p:txBody>
          <a:bodyPr wrap="square" lIns="0" tIns="0" rIns="0" bIns="0" rtlCol="0" anchor="ctr"/>
          <a:lstStyle/>
          <a:p>
            <a:pPr indent="0" marL="0">
              <a:buNone/>
            </a:pPr>
            <a:r>
              <a:rPr lang="en-US" sz="2800" b="1" dirty="0">
                <a:solidFill>
                  <a:srgbClr val="2558B8"/>
                </a:solidFill>
                <a:latin typeface="Calibri" pitchFamily="34" charset="0"/>
                <a:ea typeface="Calibri" pitchFamily="34" charset="-122"/>
                <a:cs typeface="Calibri" pitchFamily="34" charset="-120"/>
              </a:rPr>
              <a:t>19 / 20</a:t>
            </a:r>
            <a:endParaRPr lang="en-US" sz="2800" dirty="0"/>
          </a:p>
        </p:txBody>
      </p:sp>
      <p:sp>
        <p:nvSpPr>
          <p:cNvPr id="13" name="Text 10"/>
          <p:cNvSpPr txBox="1"/>
          <p:nvPr/>
        </p:nvSpPr>
        <p:spPr>
          <a:xfrm>
            <a:off x="10378440" y="3977640"/>
            <a:ext cx="1124712" cy="960120"/>
          </a:xfrm>
          <a:prstGeom prst="rect">
            <a:avLst/>
          </a:prstGeom>
          <a:noFill/>
          <a:ln/>
        </p:spPr>
        <p:txBody>
          <a:bodyPr wrap="square" lIns="0" tIns="0" rIns="0" bIns="0" rtlCol="0" anchor="ctr"/>
          <a:lstStyle/>
          <a:p>
            <a:pPr indent="0" marL="0">
              <a:buNone/>
            </a:pPr>
            <a:r>
              <a:rPr lang="en-US" sz="1300" dirty="0">
                <a:solidFill>
                  <a:srgbClr val="4A5866"/>
                </a:solidFill>
                <a:latin typeface="Calibri" pitchFamily="34" charset="0"/>
                <a:ea typeface="Calibri" pitchFamily="34" charset="-122"/>
                <a:cs typeface="Calibri" pitchFamily="34" charset="-120"/>
              </a:rPr>
              <a:t>đạt khi chạy tuần tự: kiểm thử thường không thấy lỗi</a:t>
            </a:r>
            <a:endParaRPr lang="en-US" sz="1300" dirty="0"/>
          </a:p>
        </p:txBody>
      </p:sp>
      <p:sp>
        <p:nvSpPr>
          <p:cNvPr id="14" name="Text 11"/>
          <p:cNvSpPr txBox="1"/>
          <p:nvPr/>
        </p:nvSpPr>
        <p:spPr>
          <a:xfrm>
            <a:off x="640080" y="5257800"/>
            <a:ext cx="10908792" cy="91440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Cột là số vòng vi phạm trên 10 vòng. TC-02: mã HTTP của cả 10 request đều là 200 nhưng CSDL có 10 booking chồng giờ. TC-15: một booking bị hủy 6 lần, Cal.com gửi 12 email thay vì 2. Chỉ cần 2 request đồng thời, 7 test case mới vẫn vi phạm 10/10 vòng.</a:t>
            </a:r>
            <a:endParaRPr lang="en-US" sz="1500" dirty="0"/>
          </a:p>
        </p:txBody>
      </p:sp>
      <p:sp>
        <p:nvSpPr>
          <p:cNvPr id="15" name="Text 12"/>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Lượt chạy chính thức 20/10/2026 · docs/KET_QUA_TEST_GIUA_KY.md · race-tests/results/giua-ky-20-race và giua-ky-20-sequential</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11 · CHẠY LẠI TRÊN MÁY THỨ HAI</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Máy Windows: cả 20 test case khớp 20/20</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3840480"/>
                <a:gridCol w="1920240"/>
                <a:gridCol w="2194560"/>
                <a:gridCol w="2103120"/>
                <a:gridCol w="850392"/>
              </a:tblGrid>
              <a:tr h="411480">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Test case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Mac: 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Windows: 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Windows: 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Khớp</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1148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TC-01, 04, 09, 10, 18, 19, 20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Có</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TC-02, 03, 05, 08, 11–17</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Có</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Có</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TC-07</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9/10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Có (lệch 1 vòng)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023360"/>
            <a:ext cx="3422904" cy="1828800"/>
          </a:xfrm>
          <a:prstGeom prst="roundRect">
            <a:avLst>
              <a:gd name="adj" fmla="val 6000"/>
            </a:avLst>
          </a:prstGeom>
          <a:solidFill>
            <a:srgbClr val="FBFAF6"/>
          </a:solidFill>
          <a:ln w="12700">
            <a:solidFill>
              <a:srgbClr val="DAD6CC"/>
            </a:solidFill>
            <a:prstDash val="solid"/>
          </a:ln>
        </p:spPr>
      </p:sp>
      <p:sp>
        <p:nvSpPr>
          <p:cNvPr id="6" name="Text 3"/>
          <p:cNvSpPr txBox="1"/>
          <p:nvPr/>
        </p:nvSpPr>
        <p:spPr>
          <a:xfrm>
            <a:off x="914400" y="420624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Thời gian</a:t>
            </a:r>
            <a:endParaRPr lang="en-US" sz="2000" dirty="0"/>
          </a:p>
        </p:txBody>
      </p:sp>
      <p:sp>
        <p:nvSpPr>
          <p:cNvPr id="7" name="Text 4"/>
          <p:cNvSpPr txBox="1"/>
          <p:nvPr/>
        </p:nvSpPr>
        <p:spPr>
          <a:xfrm>
            <a:off x="914400" y="4754880"/>
            <a:ext cx="2874264" cy="100584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20 test case: đồng thời 448 giây (Mac 383 giây); tuần tự 113 giây (Mac 76 giây).</a:t>
            </a:r>
            <a:endParaRPr lang="en-US" sz="1500" dirty="0"/>
          </a:p>
        </p:txBody>
      </p:sp>
      <p:sp>
        <p:nvSpPr>
          <p:cNvPr id="8" name="Shape 5"/>
          <p:cNvSpPr/>
          <p:nvPr/>
        </p:nvSpPr>
        <p:spPr>
          <a:xfrm>
            <a:off x="4383024" y="4023360"/>
            <a:ext cx="3422904" cy="1828800"/>
          </a:xfrm>
          <a:prstGeom prst="roundRect">
            <a:avLst>
              <a:gd name="adj" fmla="val 6000"/>
            </a:avLst>
          </a:prstGeom>
          <a:solidFill>
            <a:srgbClr val="FBFAF6"/>
          </a:solidFill>
          <a:ln w="12700">
            <a:solidFill>
              <a:srgbClr val="DAD6CC"/>
            </a:solidFill>
            <a:prstDash val="solid"/>
          </a:ln>
        </p:spPr>
      </p:sp>
      <p:sp>
        <p:nvSpPr>
          <p:cNvPr id="9" name="Text 6"/>
          <p:cNvSpPr txBox="1"/>
          <p:nvPr/>
        </p:nvSpPr>
        <p:spPr>
          <a:xfrm>
            <a:off x="4657344" y="420624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Hai lượt đầu bị loại</a:t>
            </a:r>
            <a:endParaRPr lang="en-US" sz="2000" dirty="0"/>
          </a:p>
        </p:txBody>
      </p:sp>
      <p:sp>
        <p:nvSpPr>
          <p:cNvPr id="10" name="Text 7"/>
          <p:cNvSpPr txBox="1"/>
          <p:nvPr/>
        </p:nvSpPr>
        <p:spPr>
          <a:xfrm>
            <a:off x="4657344" y="4754880"/>
            <a:ext cx="2874264" cy="100584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Thiếu k6 và Cal.com dừng giữa chừng. Chỉ dùng lượt chạy sạch.</a:t>
            </a:r>
            <a:endParaRPr lang="en-US" sz="1500" dirty="0"/>
          </a:p>
        </p:txBody>
      </p:sp>
      <p:sp>
        <p:nvSpPr>
          <p:cNvPr id="11" name="Shape 8"/>
          <p:cNvSpPr/>
          <p:nvPr/>
        </p:nvSpPr>
        <p:spPr>
          <a:xfrm>
            <a:off x="8125968" y="4023360"/>
            <a:ext cx="3422904" cy="1828800"/>
          </a:xfrm>
          <a:prstGeom prst="roundRect">
            <a:avLst>
              <a:gd name="adj" fmla="val 6000"/>
            </a:avLst>
          </a:prstGeom>
          <a:solidFill>
            <a:srgbClr val="FBFAF6"/>
          </a:solidFill>
          <a:ln w="12700">
            <a:solidFill>
              <a:srgbClr val="DAD6CC"/>
            </a:solidFill>
            <a:prstDash val="solid"/>
          </a:ln>
        </p:spPr>
      </p:sp>
      <p:sp>
        <p:nvSpPr>
          <p:cNvPr id="12" name="Text 9"/>
          <p:cNvSpPr txBox="1"/>
          <p:nvPr/>
        </p:nvSpPr>
        <p:spPr>
          <a:xfrm>
            <a:off x="8400288" y="420624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Máy Windows</a:t>
            </a:r>
            <a:endParaRPr lang="en-US" sz="2000" dirty="0"/>
          </a:p>
        </p:txBody>
      </p:sp>
      <p:sp>
        <p:nvSpPr>
          <p:cNvPr id="13" name="Text 10"/>
          <p:cNvSpPr txBox="1"/>
          <p:nvPr/>
        </p:nvSpPr>
        <p:spPr>
          <a:xfrm>
            <a:off x="8400288" y="4754880"/>
            <a:ext cx="2874264" cy="100584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Người test: Ngô Quốc Trường Vĩ. Máy MSI, Core i7-13620H, RAM 16 GB. TC-07 lệch 1 vòng (9/10): bình thường với 2 request.</a:t>
            </a:r>
            <a:endParaRPr lang="en-US" sz="1500" dirty="0"/>
          </a:p>
        </p:txBody>
      </p:sp>
      <p:sp>
        <p:nvSpPr>
          <p:cNvPr id="14"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race-tests/results/windows-20-race · race-tests/results/windows-20-sequential</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12 · CHỨNG MINH TEST CASE KHẢ THI</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Bảy bằng chứng test case chạy được và đúng</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3200400"/>
                <a:gridCol w="7708392"/>
              </a:tblGrid>
              <a:tr h="51206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Tiêu chí</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Bằng chứng đã thực hiện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1206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Chạy được, đo được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20/20 test case chạy tự động, 3 180 request, mỗi vòng kiểm dữ liệu trong CSDL</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Không báo lỗi giả</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7 test case đạt ở cả hai chế độ; khi tuần tự, cơ chế bảo vệ từ chối đúng bằng mã lỗi riêng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 Lặp lại được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13 test case vi phạm 10/10 vòng, vẫn 10/10 khi chỉ 2 request 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4. Công cụ khác cho cùng kết quả</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curl thuần tái hiện cả 11 lỗi; D7–D11 chạy 2 lần liên tiếp, giống hệt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 Sửa lỗi thì test đạt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mục duy nhất theo người tham dự: TC-16 từ FAIL 10/10 sang PASS 10/10; ràng buộc loại trừ: TC-02, 05, 17 hết chồng giờ</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Chi phí chấp nhận được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20 test case, 10 vòng, hai chế độ: ≈ 8 phút máy, 0 đồng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7. Nhiều máy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Cả 20 test case khớp 20/20 giữa macOS và Windows (TC-07 lệch 1 vòng, 9/10)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806440"/>
            <a:ext cx="10908792" cy="4572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Nếu bỏ một test case thì mất một lỗi mà kiểm thử tuần tự không thấy, hoặc mất một mốc đối chứng: bảng 'Vai trò của từng test case' trong báo cáo mục 4.4.4.</a:t>
            </a:r>
            <a:endParaRPr lang="en-US" sz="14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Báo cáo mục 4.4.4 · docs/DANH_GIA_RUI_RO.md · results/fix-unique-attendee, fix-exclusion-20, sensitivity-n2-new</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13 · LỖI THẬT, TÁI HIỆN ĐỘC LẬP</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11 lỗi, đều tái hiện được bằng curl thuần</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908792" cy="914400"/>
        </p:xfrm>
        <a:graphic>
          <a:graphicData uri="http://schemas.openxmlformats.org/drawingml/2006/table">
            <a:tbl>
              <a:tblPr/>
              <a:tblGrid>
                <a:gridCol w="731520"/>
                <a:gridCol w="5669280"/>
                <a:gridCol w="4507992"/>
              </a:tblGrid>
              <a:tr h="329184">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Lỗi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Tái hiện bằng curl (không dùng harness)</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Dữ liệu trong CSDL</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 khách đặt 2 giờ chồng nhau cùng lúc: cả hai 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 booking accepted chồng giờ</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D2</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đặt event 3 ghế: 1×200, 5×409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Chỉ bán 1/3 ghế dù còn ghế</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10 người đặt event cần xác nhận: 8×200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8 booking chờ xác nhận cùng giờ</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Đổi lịch một booking gốc 3 lần liên tiếp: 3×200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 booking accepted từ một gốc (cả khi tuần tự)</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Hủy và đổi lịch cùng lúc: cả hai 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Booking 09:00 đã hủy nhưng còn booking 11:00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D6</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8 người đặt 8 giờ, giới hạn 1/ngày: 8×200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8 booking hiệu lực trong một ngày</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D7</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đặt 6 giờ sát nhau, buffer 30 phút: 6×200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booking cách nhau 0 phút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người đặt 6 giờ, giới hạn 30 phút/ngày: 6×200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Tổng 180 phút trong ngày</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người đặt 6 giờ, giới hạn 1 booking/người: 6×200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6 booking hiệu lực của cùng một email</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D10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Hủy 1 booking 6 lần cùng lúc: 6×200</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12 email hủy được gửi (kỳ vọng 2)</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29184">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D11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 email đặt 6 lần vào event 3 ghế: 2×200, 4×409</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Email đó chiếm 2 ghế</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897880"/>
            <a:ext cx="10908792" cy="5029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Đối chứng: gửi tuần tự thì cơ chế bảo vệ từ chối đúng (trừ D4). Nhóm chưa báo lỗi cho Cal.com và chưa sửa mã Cal.com.</a:t>
            </a:r>
            <a:endParaRPr lang="en-US" sz="15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race-tests/repro/repro-curl.sh, repro-curl-2.sh · docs/evidence/repro-curl*.txt · docs/MINH_CHUNG_LOI.md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14 · LỖI KHÓ TÌM VÀ ĐÁNH GIÁ RỦI RO</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Vì sao khó tìm, và lỗi nào nguy hiểm nhất</a:t>
            </a:r>
            <a:endParaRPr lang="en-US" sz="3400" dirty="0"/>
          </a:p>
        </p:txBody>
      </p:sp>
      <p:pic>
        <p:nvPicPr>
          <p:cNvPr id="4" name="Image 0" descr="/Users/nthtam/Lưu trữ/kiem_thu_pm/docs/figures/hinh-ma-tran-rui-ro.png">    </p:cNvPr>
          <p:cNvPicPr>
            <a:picLocks noChangeAspect="1"/>
          </p:cNvPicPr>
          <p:nvPr/>
        </p:nvPicPr>
        <p:blipFill>
          <a:blip r:embed="rId1"/>
          <a:stretch>
            <a:fillRect/>
          </a:stretch>
        </p:blipFill>
        <p:spPr>
          <a:xfrm>
            <a:off x="640080" y="1508760"/>
            <a:ext cx="4480560" cy="3308721"/>
          </a:xfrm>
          <a:prstGeom prst="rect">
            <a:avLst/>
          </a:prstGeom>
        </p:spPr>
      </p:pic>
      <p:sp>
        <p:nvSpPr>
          <p:cNvPr id="5" name="Text 2"/>
          <p:cNvSpPr txBox="1"/>
          <p:nvPr/>
        </p:nvSpPr>
        <p:spPr>
          <a:xfrm>
            <a:off x="640080" y="4892040"/>
            <a:ext cx="4480560" cy="64008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Rủi ro = khả năng × ảnh hưởng (thang 1–5). Đỏ: nghiêm trọng (D1: 25, D6: 20).</a:t>
            </a:r>
            <a:endParaRPr lang="en-US" sz="1300" dirty="0"/>
          </a:p>
        </p:txBody>
      </p:sp>
      <p:sp>
        <p:nvSpPr>
          <p:cNvPr id="6" name="Shape 3"/>
          <p:cNvSpPr/>
          <p:nvPr/>
        </p:nvSpPr>
        <p:spPr>
          <a:xfrm>
            <a:off x="5486400" y="1508760"/>
            <a:ext cx="6062472" cy="2148840"/>
          </a:xfrm>
          <a:prstGeom prst="roundRect">
            <a:avLst>
              <a:gd name="adj" fmla="val 5106"/>
            </a:avLst>
          </a:prstGeom>
          <a:solidFill>
            <a:srgbClr val="FBFAF6"/>
          </a:solidFill>
          <a:ln w="12700">
            <a:solidFill>
              <a:srgbClr val="DAD6CC"/>
            </a:solidFill>
            <a:prstDash val="solid"/>
          </a:ln>
        </p:spPr>
      </p:sp>
      <p:sp>
        <p:nvSpPr>
          <p:cNvPr id="7" name="Text 4"/>
          <p:cNvSpPr txBox="1"/>
          <p:nvPr/>
        </p:nvSpPr>
        <p:spPr>
          <a:xfrm>
            <a:off x="5715000" y="1600200"/>
            <a:ext cx="5605272" cy="32004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VÌ SAO KHÓ PHÁT HIỆN</a:t>
            </a:r>
            <a:endParaRPr lang="en-US" sz="1300" dirty="0"/>
          </a:p>
        </p:txBody>
      </p:sp>
      <p:sp>
        <p:nvSpPr>
          <p:cNvPr id="8" name="Text 5"/>
          <p:cNvSpPr txBox="1"/>
          <p:nvPr/>
        </p:nvSpPr>
        <p:spPr>
          <a:xfrm>
            <a:off x="5715000" y="1965960"/>
            <a:ext cx="5605272" cy="16002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4A5866"/>
                </a:solidFill>
                <a:latin typeface="Calibri" pitchFamily="34" charset="0"/>
                <a:ea typeface="Calibri" pitchFamily="34" charset="-122"/>
                <a:cs typeface="Calibri" pitchFamily="34" charset="-120"/>
              </a:rPr>
              <a:t>Cửa sổ chỉ 30–60 ms: thử tay gần như không gặp</a:t>
            </a:r>
            <a:endParaRPr lang="en-US" sz="1400" dirty="0"/>
          </a:p>
          <a:p>
            <a:pPr marL="342900" indent="-342900">
              <a:spcAft>
                <a:spcPts val="400"/>
              </a:spcAft>
              <a:buSzPct val="100000"/>
              <a:buChar char="•"/>
            </a:pPr>
            <a:r>
              <a:rPr lang="en-US" sz="1400" dirty="0">
                <a:solidFill>
                  <a:srgbClr val="4A5866"/>
                </a:solidFill>
                <a:latin typeface="Calibri" pitchFamily="34" charset="0"/>
                <a:ea typeface="Calibri" pitchFamily="34" charset="-122"/>
                <a:cs typeface="Calibri" pitchFamily="34" charset="-120"/>
              </a:rPr>
              <a:t>Mọi request trả 200, giao diện báo thành công</a:t>
            </a:r>
            <a:endParaRPr lang="en-US" sz="1400" dirty="0"/>
          </a:p>
          <a:p>
            <a:pPr marL="342900" indent="-342900">
              <a:spcAft>
                <a:spcPts val="400"/>
              </a:spcAft>
              <a:buSzPct val="100000"/>
              <a:buChar char="•"/>
            </a:pPr>
            <a:r>
              <a:rPr lang="en-US" sz="1400" dirty="0">
                <a:solidFill>
                  <a:srgbClr val="4A5866"/>
                </a:solidFill>
                <a:latin typeface="Calibri" pitchFamily="34" charset="0"/>
                <a:ea typeface="Calibri" pitchFamily="34" charset="-122"/>
                <a:cs typeface="Calibri" pitchFamily="34" charset="-120"/>
              </a:rPr>
              <a:t>Chạy tuần tự thì đúng: 19/20 test case đạt</a:t>
            </a:r>
            <a:endParaRPr lang="en-US" sz="1400" dirty="0"/>
          </a:p>
          <a:p>
            <a:pPr marL="342900" indent="-342900">
              <a:buSzPct val="100000"/>
              <a:buChar char="•"/>
            </a:pPr>
            <a:r>
              <a:rPr lang="en-US" sz="1400" dirty="0">
                <a:solidFill>
                  <a:srgbClr val="4A5866"/>
                </a:solidFill>
                <a:latin typeface="Calibri" pitchFamily="34" charset="0"/>
                <a:ea typeface="Calibri" pitchFamily="34" charset="-122"/>
                <a:cs typeface="Calibri" pitchFamily="34" charset="-120"/>
              </a:rPr>
              <a:t>Chỉ lộ ra khi đối chiếu CSDL hoặc đếm tác dụng phụ</a:t>
            </a:r>
            <a:endParaRPr lang="en-US" sz="1400" dirty="0"/>
          </a:p>
        </p:txBody>
      </p:sp>
      <p:sp>
        <p:nvSpPr>
          <p:cNvPr id="9" name="Shape 6"/>
          <p:cNvSpPr/>
          <p:nvPr/>
        </p:nvSpPr>
        <p:spPr>
          <a:xfrm>
            <a:off x="5486400" y="3794760"/>
            <a:ext cx="6062472" cy="2194560"/>
          </a:xfrm>
          <a:prstGeom prst="roundRect">
            <a:avLst>
              <a:gd name="adj" fmla="val 5000"/>
            </a:avLst>
          </a:prstGeom>
          <a:solidFill>
            <a:srgbClr val="FBFAF6"/>
          </a:solidFill>
          <a:ln w="12700">
            <a:solidFill>
              <a:srgbClr val="DAD6CC"/>
            </a:solidFill>
            <a:prstDash val="solid"/>
          </a:ln>
        </p:spPr>
      </p:sp>
      <p:sp>
        <p:nvSpPr>
          <p:cNvPr id="10" name="Text 7"/>
          <p:cNvSpPr txBox="1"/>
          <p:nvPr/>
        </p:nvSpPr>
        <p:spPr>
          <a:xfrm>
            <a:off x="5715000" y="3886200"/>
            <a:ext cx="5605272" cy="320040"/>
          </a:xfrm>
          <a:prstGeom prst="rect">
            <a:avLst/>
          </a:prstGeom>
          <a:noFill/>
          <a:ln/>
        </p:spPr>
        <p:txBody>
          <a:bodyPr wrap="square" lIns="0" tIns="0" rIns="0" bIns="0" rtlCol="0" anchor="ctr"/>
          <a:lstStyle/>
          <a:p>
            <a:pPr indent="0" marL="0">
              <a:buNone/>
            </a:pPr>
            <a:r>
              <a:rPr lang="en-US" sz="1300" b="1" dirty="0">
                <a:solidFill>
                  <a:srgbClr val="B4531A"/>
                </a:solidFill>
                <a:latin typeface="Consolas" pitchFamily="34" charset="0"/>
                <a:ea typeface="Consolas" pitchFamily="34" charset="-122"/>
                <a:cs typeface="Consolas" pitchFamily="34" charset="-120"/>
              </a:rPr>
              <a:t>MẤU CHỐT: NẾU KHÔNG KIỂM TRA THÌ SAO</a:t>
            </a:r>
            <a:endParaRPr lang="en-US" sz="1300" dirty="0"/>
          </a:p>
        </p:txBody>
      </p:sp>
      <p:sp>
        <p:nvSpPr>
          <p:cNvPr id="11" name="Text 8"/>
          <p:cNvSpPr txBox="1"/>
          <p:nvPr/>
        </p:nvSpPr>
        <p:spPr>
          <a:xfrm>
            <a:off x="5715000" y="4251960"/>
            <a:ext cx="5605272" cy="16916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4A5866"/>
                </a:solidFill>
                <a:latin typeface="Calibri" pitchFamily="34" charset="0"/>
                <a:ea typeface="Calibri" pitchFamily="34" charset="-122"/>
                <a:cs typeface="Calibri" pitchFamily="34" charset="-120"/>
              </a:rPr>
              <a:t>Không có lỗi nào làm sập hệ thống (30 request: không 5xx)</a:t>
            </a:r>
            <a:endParaRPr lang="en-US" sz="1400" dirty="0"/>
          </a:p>
          <a:p>
            <a:pPr marL="342900" indent="-342900">
              <a:spcAft>
                <a:spcPts val="400"/>
              </a:spcAft>
              <a:buSzPct val="100000"/>
              <a:buChar char="•"/>
            </a:pPr>
            <a:r>
              <a:rPr lang="en-US" sz="1400" dirty="0">
                <a:solidFill>
                  <a:srgbClr val="4A5866"/>
                </a:solidFill>
                <a:latin typeface="Calibri" pitchFamily="34" charset="0"/>
                <a:ea typeface="Calibri" pitchFamily="34" charset="-122"/>
                <a:cs typeface="Calibri" pitchFamily="34" charset="-120"/>
              </a:rPr>
              <a:t>Nguy hiểm hơn: dữ liệu sai âm thầm, hai khách cùng đến một giờ</a:t>
            </a:r>
            <a:endParaRPr lang="en-US" sz="1400" dirty="0"/>
          </a:p>
          <a:p>
            <a:pPr marL="342900" indent="-342900">
              <a:spcAft>
                <a:spcPts val="400"/>
              </a:spcAft>
              <a:buSzPct val="100000"/>
              <a:buChar char="•"/>
            </a:pPr>
            <a:r>
              <a:rPr lang="en-US" sz="1400" dirty="0">
                <a:solidFill>
                  <a:srgbClr val="4A5866"/>
                </a:solidFill>
                <a:latin typeface="Calibri" pitchFamily="34" charset="0"/>
                <a:ea typeface="Calibri" pitchFamily="34" charset="-122"/>
                <a:cs typeface="Calibri" pitchFamily="34" charset="-120"/>
              </a:rPr>
              <a:t>D10: 1 lần hủy gửi 12 email; D11: 1 người chiếm 2/3 ghế</a:t>
            </a:r>
            <a:endParaRPr lang="en-US" sz="1400" dirty="0"/>
          </a:p>
          <a:p>
            <a:pPr marL="342900" indent="-342900">
              <a:buSzPct val="100000"/>
              <a:buChar char="•"/>
            </a:pPr>
            <a:r>
              <a:rPr lang="en-US" sz="1400" dirty="0">
                <a:solidFill>
                  <a:srgbClr val="4A5866"/>
                </a:solidFill>
                <a:latin typeface="Calibri" pitchFamily="34" charset="0"/>
                <a:ea typeface="Calibri" pitchFamily="34" charset="-122"/>
                <a:cs typeface="Calibri" pitchFamily="34" charset="-120"/>
              </a:rPr>
              <a:t>Sửa thiếu cũng nguy hiểm: ràng buộc CSDL mà không ánh xạ lỗi thì thua nhận 500</a:t>
            </a:r>
            <a:endParaRPr lang="en-US" sz="1400" dirty="0"/>
          </a:p>
        </p:txBody>
      </p:sp>
      <p:sp>
        <p:nvSpPr>
          <p:cNvPr id="12" name="Text 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Báo cáo mục 3.4.3, 4.5.5, 4.5.6 · docs/DANH_GIA_RUI_RO.md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15 · NHIỆM VỤ VÀ ĐÓNG GÓP</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Nhiệm vụ và đóng góp của từng thành viên</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2834640"/>
                <a:gridCol w="1920240"/>
                <a:gridCol w="4206240"/>
                <a:gridCol w="1947672"/>
              </a:tblGrid>
              <a:tr h="685800">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Thành viên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Vai trò</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Nhiệm vụ đã thực hiện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Sản phẩm</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6858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Nguyễn Thanh Tâm · 2312741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Môi trường, DevOps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Dựng Cal.com, CSDL, seed data; ghim phiên bản; chạy test trên macOS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README, kết quả chạy chính thức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Võ Công Vinh · 2312800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Phân tích hệ thống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Đọc mã, vẽ kiến trúc, luồng dữ liệu; phân tích nguyên nhân gốc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Sơ đồ, DEFECTS.md, thí nghiệm khắc phục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Nguyễn Đức Tín · 2312774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Tác giả test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Thiết kế invariant và test case; viết bộ test (k6, Node.js, SQL)</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race-tests/, đặc tả test case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Ngô Quốc Trường Vĩ · 2312796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Chạy test, báo cáo</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Chạy test, ghi kết quả; chạy lại trên Windows; báo cáo, slide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windows-race, báo cáo, slide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394960"/>
            <a:ext cx="10908792" cy="7315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Quản lý công việc: bảng GitHub Projects (18 thẻ, 3 cột), mã nguồn trên GitHub. Việc gán người cho từng thẻ và commit đều các thành viên sẽ hoàn thiện trước buổi bảo vệ.</a:t>
            </a:r>
            <a:endParaRPr lang="en-US" sz="15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Chi tiết: báo cáo mục 4.6 · github.com/users/2312741-sudo/projects/1</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16 · KẾ HOẠCH TIẾP THEO</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Từ giữa kỳ đến bảo vệ</a:t>
            </a:r>
            <a:endParaRPr lang="en-US" sz="3400" dirty="0"/>
          </a:p>
        </p:txBody>
      </p:sp>
      <p:sp>
        <p:nvSpPr>
          <p:cNvPr id="4" name="Shape 2"/>
          <p:cNvSpPr/>
          <p:nvPr/>
        </p:nvSpPr>
        <p:spPr>
          <a:xfrm>
            <a:off x="640080" y="1691640"/>
            <a:ext cx="2194560" cy="685800"/>
          </a:xfrm>
          <a:prstGeom prst="roundRect">
            <a:avLst>
              <a:gd name="adj" fmla="val 13333"/>
            </a:avLst>
          </a:prstGeom>
          <a:solidFill>
            <a:srgbClr val="E07B39"/>
          </a:solidFill>
          <a:ln w="12700">
            <a:solidFill>
              <a:srgbClr val="E07B39"/>
            </a:solidFill>
            <a:prstDash val="solid"/>
          </a:ln>
        </p:spPr>
      </p:sp>
      <p:sp>
        <p:nvSpPr>
          <p:cNvPr id="5" name="Text 3"/>
          <p:cNvSpPr txBox="1"/>
          <p:nvPr/>
        </p:nvSpPr>
        <p:spPr>
          <a:xfrm>
            <a:off x="640080" y="169164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21/10 – 3/11</a:t>
            </a:r>
            <a:endParaRPr lang="en-US" sz="1700" dirty="0"/>
          </a:p>
        </p:txBody>
      </p:sp>
      <p:sp>
        <p:nvSpPr>
          <p:cNvPr id="6" name="Shape 4"/>
          <p:cNvSpPr/>
          <p:nvPr/>
        </p:nvSpPr>
        <p:spPr>
          <a:xfrm>
            <a:off x="3017520" y="1691640"/>
            <a:ext cx="8531352" cy="685800"/>
          </a:xfrm>
          <a:prstGeom prst="roundRect">
            <a:avLst>
              <a:gd name="adj" fmla="val 13333"/>
            </a:avLst>
          </a:prstGeom>
          <a:solidFill>
            <a:srgbClr val="1D3142"/>
          </a:solidFill>
          <a:ln w="12700">
            <a:solidFill>
              <a:srgbClr val="1D3142"/>
            </a:solidFill>
            <a:prstDash val="solid"/>
          </a:ln>
        </p:spPr>
      </p:sp>
      <p:sp>
        <p:nvSpPr>
          <p:cNvPr id="7" name="Text 5"/>
          <p:cNvSpPr txBox="1"/>
          <p:nvPr/>
        </p:nvSpPr>
        <p:spPr>
          <a:xfrm>
            <a:off x="3246120" y="169164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Thêm scenario Playwright qua giao diện, hoàn thiện báo cáo</a:t>
            </a:r>
            <a:endParaRPr lang="en-US" sz="1600" dirty="0"/>
          </a:p>
        </p:txBody>
      </p:sp>
      <p:sp>
        <p:nvSpPr>
          <p:cNvPr id="8" name="Shape 6"/>
          <p:cNvSpPr/>
          <p:nvPr/>
        </p:nvSpPr>
        <p:spPr>
          <a:xfrm>
            <a:off x="640080" y="2560320"/>
            <a:ext cx="2194560" cy="685800"/>
          </a:xfrm>
          <a:prstGeom prst="roundRect">
            <a:avLst>
              <a:gd name="adj" fmla="val 13333"/>
            </a:avLst>
          </a:prstGeom>
          <a:solidFill>
            <a:srgbClr val="E07B39"/>
          </a:solidFill>
          <a:ln w="12700">
            <a:solidFill>
              <a:srgbClr val="E07B39"/>
            </a:solidFill>
            <a:prstDash val="solid"/>
          </a:ln>
        </p:spPr>
      </p:sp>
      <p:sp>
        <p:nvSpPr>
          <p:cNvPr id="9" name="Text 7"/>
          <p:cNvSpPr txBox="1"/>
          <p:nvPr/>
        </p:nvSpPr>
        <p:spPr>
          <a:xfrm>
            <a:off x="640080" y="256032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4/11 – 17/11</a:t>
            </a:r>
            <a:endParaRPr lang="en-US" sz="1700" dirty="0"/>
          </a:p>
        </p:txBody>
      </p:sp>
      <p:sp>
        <p:nvSpPr>
          <p:cNvPr id="10" name="Shape 8"/>
          <p:cNvSpPr/>
          <p:nvPr/>
        </p:nvSpPr>
        <p:spPr>
          <a:xfrm>
            <a:off x="3017520" y="2560320"/>
            <a:ext cx="8531352" cy="685800"/>
          </a:xfrm>
          <a:prstGeom prst="roundRect">
            <a:avLst>
              <a:gd name="adj" fmla="val 13333"/>
            </a:avLst>
          </a:prstGeom>
          <a:solidFill>
            <a:srgbClr val="1D3142"/>
          </a:solidFill>
          <a:ln w="12700">
            <a:solidFill>
              <a:srgbClr val="1D3142"/>
            </a:solidFill>
            <a:prstDash val="solid"/>
          </a:ln>
        </p:spPr>
      </p:sp>
      <p:sp>
        <p:nvSpPr>
          <p:cNvPr id="11" name="Text 9"/>
          <p:cNvSpPr txBox="1"/>
          <p:nvPr/>
        </p:nvSpPr>
        <p:spPr>
          <a:xfrm>
            <a:off x="3246120" y="256032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Rà soát nguyên nhân gốc và đề xuất sửa; chuẩn bị báo cáo lỗi D1, D4 cho Cal.com</a:t>
            </a:r>
            <a:endParaRPr lang="en-US" sz="1600" dirty="0"/>
          </a:p>
        </p:txBody>
      </p:sp>
      <p:sp>
        <p:nvSpPr>
          <p:cNvPr id="12" name="Shape 10"/>
          <p:cNvSpPr/>
          <p:nvPr/>
        </p:nvSpPr>
        <p:spPr>
          <a:xfrm>
            <a:off x="640080" y="3429000"/>
            <a:ext cx="2194560" cy="685800"/>
          </a:xfrm>
          <a:prstGeom prst="roundRect">
            <a:avLst>
              <a:gd name="adj" fmla="val 13333"/>
            </a:avLst>
          </a:prstGeom>
          <a:solidFill>
            <a:srgbClr val="E07B39"/>
          </a:solidFill>
          <a:ln w="12700">
            <a:solidFill>
              <a:srgbClr val="E07B39"/>
            </a:solidFill>
            <a:prstDash val="solid"/>
          </a:ln>
        </p:spPr>
      </p:sp>
      <p:sp>
        <p:nvSpPr>
          <p:cNvPr id="13" name="Text 11"/>
          <p:cNvSpPr txBox="1"/>
          <p:nvPr/>
        </p:nvSpPr>
        <p:spPr>
          <a:xfrm>
            <a:off x="640080" y="342900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18/11 – 30/11</a:t>
            </a:r>
            <a:endParaRPr lang="en-US" sz="1700" dirty="0"/>
          </a:p>
        </p:txBody>
      </p:sp>
      <p:sp>
        <p:nvSpPr>
          <p:cNvPr id="14" name="Shape 12"/>
          <p:cNvSpPr/>
          <p:nvPr/>
        </p:nvSpPr>
        <p:spPr>
          <a:xfrm>
            <a:off x="3017520" y="3429000"/>
            <a:ext cx="8531352" cy="685800"/>
          </a:xfrm>
          <a:prstGeom prst="roundRect">
            <a:avLst>
              <a:gd name="adj" fmla="val 13333"/>
            </a:avLst>
          </a:prstGeom>
          <a:solidFill>
            <a:srgbClr val="1D3142"/>
          </a:solidFill>
          <a:ln w="12700">
            <a:solidFill>
              <a:srgbClr val="1D3142"/>
            </a:solidFill>
            <a:prstDash val="solid"/>
          </a:ln>
        </p:spPr>
      </p:sp>
      <p:sp>
        <p:nvSpPr>
          <p:cNvPr id="15" name="Text 13"/>
          <p:cNvSpPr txBox="1"/>
          <p:nvPr/>
        </p:nvSpPr>
        <p:spPr>
          <a:xfrm>
            <a:off x="3246120" y="342900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Hoàn thiện báo cáo A–H, nộp trước bảo vệ 1 tuần</a:t>
            </a:r>
            <a:endParaRPr lang="en-US" sz="1600" dirty="0"/>
          </a:p>
        </p:txBody>
      </p:sp>
      <p:sp>
        <p:nvSpPr>
          <p:cNvPr id="16" name="Shape 14"/>
          <p:cNvSpPr/>
          <p:nvPr/>
        </p:nvSpPr>
        <p:spPr>
          <a:xfrm>
            <a:off x="640080" y="4297680"/>
            <a:ext cx="2194560" cy="685800"/>
          </a:xfrm>
          <a:prstGeom prst="roundRect">
            <a:avLst>
              <a:gd name="adj" fmla="val 13333"/>
            </a:avLst>
          </a:prstGeom>
          <a:solidFill>
            <a:srgbClr val="E07B39"/>
          </a:solidFill>
          <a:ln w="12700">
            <a:solidFill>
              <a:srgbClr val="E07B39"/>
            </a:solidFill>
            <a:prstDash val="solid"/>
          </a:ln>
        </p:spPr>
      </p:sp>
      <p:sp>
        <p:nvSpPr>
          <p:cNvPr id="17" name="Text 15"/>
          <p:cNvSpPr txBox="1"/>
          <p:nvPr/>
        </p:nvSpPr>
        <p:spPr>
          <a:xfrm>
            <a:off x="640080" y="429768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Tháng 12</a:t>
            </a:r>
            <a:endParaRPr lang="en-US" sz="1700" dirty="0"/>
          </a:p>
        </p:txBody>
      </p:sp>
      <p:sp>
        <p:nvSpPr>
          <p:cNvPr id="18" name="Shape 16"/>
          <p:cNvSpPr/>
          <p:nvPr/>
        </p:nvSpPr>
        <p:spPr>
          <a:xfrm>
            <a:off x="3017520" y="4297680"/>
            <a:ext cx="8531352" cy="685800"/>
          </a:xfrm>
          <a:prstGeom prst="roundRect">
            <a:avLst>
              <a:gd name="adj" fmla="val 13333"/>
            </a:avLst>
          </a:prstGeom>
          <a:solidFill>
            <a:srgbClr val="1D3142"/>
          </a:solidFill>
          <a:ln w="12700">
            <a:solidFill>
              <a:srgbClr val="1D3142"/>
            </a:solidFill>
            <a:prstDash val="solid"/>
          </a:ln>
        </p:spPr>
      </p:sp>
      <p:sp>
        <p:nvSpPr>
          <p:cNvPr id="19" name="Text 17"/>
          <p:cNvSpPr txBox="1"/>
          <p:nvPr/>
        </p:nvSpPr>
        <p:spPr>
          <a:xfrm>
            <a:off x="3246120" y="429768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Slide bảo vệ, tập dượt, đánh giá chéo giữa các thành viên</a:t>
            </a:r>
            <a:endParaRPr lang="en-US" sz="1600" dirty="0"/>
          </a:p>
        </p:txBody>
      </p:sp>
      <p:sp>
        <p:nvSpPr>
          <p:cNvPr id="20" name="Text 18"/>
          <p:cNvSpPr txBox="1"/>
          <p:nvPr/>
        </p:nvSpPr>
        <p:spPr>
          <a:xfrm>
            <a:off x="640080" y="5303520"/>
            <a:ext cx="10908792" cy="82296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Rủi ro: kết quả race có thể khác trên máy khác (báo tỉ lệ, không báo một lần chạy) · máy yếu khi chạy Cal.com + PostgreSQL + k6 (giảm số VU) · thành viên đóng góp không đều (board có người phụ trách, đánh giá chéo hằng tuần).</a:t>
            </a:r>
            <a:endParaRPr lang="en-US" sz="15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Cảm ơn thầy và các bạn. Mời đặt câu hỏi.</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Báo cáo giữa kỳ</dc:title>
  <dc:subject>PptxGenJS Presentation</dc:subject>
  <dc:creator>Nhóm R05-K15</dc:creator>
  <cp:lastModifiedBy>Nhóm R05-K15</cp:lastModifiedBy>
  <cp:revision>1</cp:revision>
  <dcterms:created xsi:type="dcterms:W3CDTF">2026-10-21T11:29:50Z</dcterms:created>
  <dcterms:modified xsi:type="dcterms:W3CDTF">2026-10-21T11:29:50Z</dcterms:modified>
</cp:coreProperties>
</file>