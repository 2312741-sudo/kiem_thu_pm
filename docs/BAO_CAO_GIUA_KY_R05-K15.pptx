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0efd6425-b430-55d7-cdcf-3fc6700ef64e}">
          <p14:sldIdLst>
            <p14:sldId id="256"/>
            <p14:sldId id="257"/>
          </p14:sldIdLst>
        </p14:section>
        <p14:section name="Tiến độ" id="{1da4ca07-aa1b-6573-cbf7-cfd80f2773e9}">
          <p14:sldIdLst>
            <p14:sldId id="258"/>
          </p14:sldIdLst>
        </p14:section>
        <p14:section name="Hệ thống và kiểm thử" id="{44508039-1f20-e7c0-b96d-f22635fd19f2}">
          <p14:sldIdLst>
            <p14:sldId id="259"/>
            <p14:sldId id="260"/>
            <p14:sldId id="261"/>
            <p14:sldId id="262"/>
          </p14:sldIdLst>
        </p14:section>
        <p14:section name="Kế hoạch kiểm thử" id="{a516ebde-66f9-54b1-cf27-b7edbe4598e6}">
          <p14:sldIdLst>
            <p14:sldId id="263"/>
            <p14:sldId id="264"/>
          </p14:sldIdLst>
        </p14:section>
        <p14:section name="Kết quả sơ bộ" id="{731c1199-535b-5a6e-c261-95ec7148f954}">
          <p14:sldIdLst>
            <p14:sldId id="265"/>
            <p14:sldId id="266"/>
          </p14:sldIdLst>
        </p14:section>
        <p14:section name="Tiếp theo" id="{f6fea610-c268-d37e-d53c-07ec83a04a3b}">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8 scenario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bảy bước. Điểm khác của kiểm thử race là bước 6: oracle là dữ liệu trong cơ sở dữ liệu, không phải mã HTTP. Bước 5 chạy cả đồng thời và tuần tự để tách lỗi race khỏi lỗi logic thông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test case chọn một cơ chế bảo vệ khác nhau để thử. TC-01 và TC-04 là hai trường hợp hệ thống đã có bảo vệ, dùng để kiểm chứng harness không báo lỗi giả. Sáu test case còn lại thử những chỗ đọc code cho thấy chưa có bảo vệ ở tầng cơ sở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chi phí máy đo thật từ thời điểm bắt đầu và kết thúc trong file summary.json của mỗi lần chạy. Chạy lại bộ test chính cả đồng thời và tuần tự mất dưới ba phút. Phần công sức người-giờ nhóm tự điền theo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thật của lượt chạy chính thức: mỗi test case chạy 10 vòng, ở hai chế độ đồng thời và tuần tự. TC-01 và TC-04 đúng, hai cơ chế bảo vệ của hệ thống hoạt động. Năm test case chỉ sai khi đồng thời là lỗi race. TC-06 sai cả khi tuần tự nên là lỗi logic, không phải race. Mã HTTP đều thành công, chỉ truy vấn trực tiếp cơ sở dữ liệu mới thấy dữ liệu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chứng minh đây là lỗi thật, nhóm tái hiện lại từng lỗi bằng lệnh curl thuần, không dùng bộ test, rồi xem trực tiếp dữ liệu trong cơ sở dữ liệu. D4 là lỗi logic xảy ra cả khi gửi tuần tự; năm lỗi còn lại chỉ xảy ra khi đồng thời. Nhóm chưa báo lỗi cho nhóm phát triển Cal.com và chưa sửa mã Cal.com, nên nói là lỗi nhóm tìm được trên bản v6.2.0 chạy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Quy trình test, 8 test case, kết quả test thật và 6 lỗi đã tái hiện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14</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8 scenario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420624">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8 scenario, mỗi scenario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 chạy lại trên máy khác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Board GitHub Projects: 18 thẻ ở 3 cột; còn gán người và commit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docs/evidence/board.png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05 · QUY TRÌNH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Từ đọc code đến báo cáo: 7 bước, có nhóm đối chứng</a:t>
            </a:r>
            <a:endParaRPr lang="en-US" sz="3400" dirty="0"/>
          </a:p>
        </p:txBody>
      </p:sp>
      <p:sp>
        <p:nvSpPr>
          <p:cNvPr id="4" name="Shape 2"/>
          <p:cNvSpPr/>
          <p:nvPr/>
        </p:nvSpPr>
        <p:spPr>
          <a:xfrm>
            <a:off x="640080" y="1783080"/>
            <a:ext cx="1417320" cy="2103120"/>
          </a:xfrm>
          <a:prstGeom prst="roundRect">
            <a:avLst>
              <a:gd name="adj" fmla="val 7742"/>
            </a:avLst>
          </a:prstGeom>
          <a:solidFill>
            <a:srgbClr val="FBFAF6"/>
          </a:solidFill>
          <a:ln w="12700">
            <a:solidFill>
              <a:srgbClr val="DAD6CC"/>
            </a:solidFill>
            <a:prstDash val="solid"/>
          </a:ln>
        </p:spPr>
      </p:sp>
      <p:sp>
        <p:nvSpPr>
          <p:cNvPr id="5" name="Text 3"/>
          <p:cNvSpPr txBox="1"/>
          <p:nvPr/>
        </p:nvSpPr>
        <p:spPr>
          <a:xfrm>
            <a:off x="77724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77724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Đọc code</a:t>
            </a:r>
            <a:endParaRPr lang="en-US" sz="1500" dirty="0"/>
          </a:p>
        </p:txBody>
      </p:sp>
      <p:sp>
        <p:nvSpPr>
          <p:cNvPr id="7" name="Text 5"/>
          <p:cNvSpPr txBox="1"/>
          <p:nvPr/>
        </p:nvSpPr>
        <p:spPr>
          <a:xfrm>
            <a:off x="77724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Tìm chỗ kiểm tra rồi mới ghi</a:t>
            </a:r>
            <a:endParaRPr lang="en-US" sz="1300" dirty="0"/>
          </a:p>
        </p:txBody>
      </p:sp>
      <p:sp>
        <p:nvSpPr>
          <p:cNvPr id="8" name="Shape 6"/>
          <p:cNvSpPr/>
          <p:nvPr/>
        </p:nvSpPr>
        <p:spPr>
          <a:xfrm>
            <a:off x="2075688" y="2834640"/>
            <a:ext cx="128016" cy="0"/>
          </a:xfrm>
          <a:prstGeom prst="line">
            <a:avLst/>
          </a:prstGeom>
          <a:noFill/>
          <a:ln w="19050">
            <a:solidFill>
              <a:srgbClr val="7A8592"/>
            </a:solidFill>
            <a:prstDash val="solid"/>
            <a:tailEnd type="triangle"/>
          </a:ln>
        </p:spPr>
      </p:sp>
      <p:sp>
        <p:nvSpPr>
          <p:cNvPr id="9" name="Shape 7"/>
          <p:cNvSpPr/>
          <p:nvPr/>
        </p:nvSpPr>
        <p:spPr>
          <a:xfrm>
            <a:off x="2221992" y="1783080"/>
            <a:ext cx="1417320" cy="2103120"/>
          </a:xfrm>
          <a:prstGeom prst="roundRect">
            <a:avLst>
              <a:gd name="adj" fmla="val 7742"/>
            </a:avLst>
          </a:prstGeom>
          <a:solidFill>
            <a:srgbClr val="FBFAF6"/>
          </a:solidFill>
          <a:ln w="12700">
            <a:solidFill>
              <a:srgbClr val="DAD6CC"/>
            </a:solidFill>
            <a:prstDash val="solid"/>
          </a:ln>
        </p:spPr>
      </p:sp>
      <p:sp>
        <p:nvSpPr>
          <p:cNvPr id="10" name="Text 8"/>
          <p:cNvSpPr txBox="1"/>
          <p:nvPr/>
        </p:nvSpPr>
        <p:spPr>
          <a:xfrm>
            <a:off x="235915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2</a:t>
            </a:r>
            <a:endParaRPr lang="en-US" sz="2400" dirty="0"/>
          </a:p>
        </p:txBody>
      </p:sp>
      <p:sp>
        <p:nvSpPr>
          <p:cNvPr id="11" name="Text 9"/>
          <p:cNvSpPr txBox="1"/>
          <p:nvPr/>
        </p:nvSpPr>
        <p:spPr>
          <a:xfrm>
            <a:off x="235915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Chọn invariant</a:t>
            </a:r>
            <a:endParaRPr lang="en-US" sz="1500" dirty="0"/>
          </a:p>
        </p:txBody>
      </p:sp>
      <p:sp>
        <p:nvSpPr>
          <p:cNvPr id="12" name="Text 10"/>
          <p:cNvSpPr txBox="1"/>
          <p:nvPr/>
        </p:nvSpPr>
        <p:spPr>
          <a:xfrm>
            <a:off x="235915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7 tính chất dữ liệu phải đúng</a:t>
            </a:r>
            <a:endParaRPr lang="en-US" sz="1300" dirty="0"/>
          </a:p>
        </p:txBody>
      </p:sp>
      <p:sp>
        <p:nvSpPr>
          <p:cNvPr id="13" name="Shape 11"/>
          <p:cNvSpPr/>
          <p:nvPr/>
        </p:nvSpPr>
        <p:spPr>
          <a:xfrm>
            <a:off x="3657600" y="2834640"/>
            <a:ext cx="128016" cy="0"/>
          </a:xfrm>
          <a:prstGeom prst="line">
            <a:avLst/>
          </a:prstGeom>
          <a:noFill/>
          <a:ln w="19050">
            <a:solidFill>
              <a:srgbClr val="7A8592"/>
            </a:solidFill>
            <a:prstDash val="solid"/>
            <a:tailEnd type="triangle"/>
          </a:ln>
        </p:spPr>
      </p:sp>
      <p:sp>
        <p:nvSpPr>
          <p:cNvPr id="14" name="Shape 12"/>
          <p:cNvSpPr/>
          <p:nvPr/>
        </p:nvSpPr>
        <p:spPr>
          <a:xfrm>
            <a:off x="3803904" y="1783080"/>
            <a:ext cx="1417320" cy="2103120"/>
          </a:xfrm>
          <a:prstGeom prst="roundRect">
            <a:avLst>
              <a:gd name="adj" fmla="val 7742"/>
            </a:avLst>
          </a:prstGeom>
          <a:solidFill>
            <a:srgbClr val="FBFAF6"/>
          </a:solidFill>
          <a:ln w="12700">
            <a:solidFill>
              <a:srgbClr val="DAD6CC"/>
            </a:solidFill>
            <a:prstDash val="solid"/>
          </a:ln>
        </p:spPr>
      </p:sp>
      <p:sp>
        <p:nvSpPr>
          <p:cNvPr id="15" name="Text 13"/>
          <p:cNvSpPr txBox="1"/>
          <p:nvPr/>
        </p:nvSpPr>
        <p:spPr>
          <a:xfrm>
            <a:off x="3941064"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3</a:t>
            </a:r>
            <a:endParaRPr lang="en-US" sz="2400" dirty="0"/>
          </a:p>
        </p:txBody>
      </p:sp>
      <p:sp>
        <p:nvSpPr>
          <p:cNvPr id="16" name="Text 14"/>
          <p:cNvSpPr txBox="1"/>
          <p:nvPr/>
        </p:nvSpPr>
        <p:spPr>
          <a:xfrm>
            <a:off x="3941064"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Thiết kế test case</a:t>
            </a:r>
            <a:endParaRPr lang="en-US" sz="1500" dirty="0"/>
          </a:p>
        </p:txBody>
      </p:sp>
      <p:sp>
        <p:nvSpPr>
          <p:cNvPr id="17" name="Text 15"/>
          <p:cNvSpPr txBox="1"/>
          <p:nvPr/>
        </p:nvSpPr>
        <p:spPr>
          <a:xfrm>
            <a:off x="3941064"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8 test case TC-01 đến TC-08</a:t>
            </a:r>
            <a:endParaRPr lang="en-US" sz="1300" dirty="0"/>
          </a:p>
        </p:txBody>
      </p:sp>
      <p:sp>
        <p:nvSpPr>
          <p:cNvPr id="18" name="Shape 16"/>
          <p:cNvSpPr/>
          <p:nvPr/>
        </p:nvSpPr>
        <p:spPr>
          <a:xfrm>
            <a:off x="5239512" y="2834640"/>
            <a:ext cx="128016" cy="0"/>
          </a:xfrm>
          <a:prstGeom prst="line">
            <a:avLst/>
          </a:prstGeom>
          <a:noFill/>
          <a:ln w="19050">
            <a:solidFill>
              <a:srgbClr val="7A8592"/>
            </a:solidFill>
            <a:prstDash val="solid"/>
            <a:tailEnd type="triangle"/>
          </a:ln>
        </p:spPr>
      </p:sp>
      <p:sp>
        <p:nvSpPr>
          <p:cNvPr id="19" name="Shape 17"/>
          <p:cNvSpPr/>
          <p:nvPr/>
        </p:nvSpPr>
        <p:spPr>
          <a:xfrm>
            <a:off x="5385816" y="1783080"/>
            <a:ext cx="1417320" cy="2103120"/>
          </a:xfrm>
          <a:prstGeom prst="roundRect">
            <a:avLst>
              <a:gd name="adj" fmla="val 7742"/>
            </a:avLst>
          </a:prstGeom>
          <a:solidFill>
            <a:srgbClr val="FBFAF6"/>
          </a:solidFill>
          <a:ln w="12700">
            <a:solidFill>
              <a:srgbClr val="DAD6CC"/>
            </a:solidFill>
            <a:prstDash val="solid"/>
          </a:ln>
        </p:spPr>
      </p:sp>
      <p:sp>
        <p:nvSpPr>
          <p:cNvPr id="20" name="Text 18"/>
          <p:cNvSpPr txBox="1"/>
          <p:nvPr/>
        </p:nvSpPr>
        <p:spPr>
          <a:xfrm>
            <a:off x="5522976"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4</a:t>
            </a:r>
            <a:endParaRPr lang="en-US" sz="2400" dirty="0"/>
          </a:p>
        </p:txBody>
      </p:sp>
      <p:sp>
        <p:nvSpPr>
          <p:cNvPr id="21" name="Text 19"/>
          <p:cNvSpPr txBox="1"/>
          <p:nvPr/>
        </p:nvSpPr>
        <p:spPr>
          <a:xfrm>
            <a:off x="5522976"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Chuẩn bị dữ liệu</a:t>
            </a:r>
            <a:endParaRPr lang="en-US" sz="1500" dirty="0"/>
          </a:p>
        </p:txBody>
      </p:sp>
      <p:sp>
        <p:nvSpPr>
          <p:cNvPr id="22" name="Text 20"/>
          <p:cNvSpPr txBox="1"/>
          <p:nvPr/>
        </p:nvSpPr>
        <p:spPr>
          <a:xfrm>
            <a:off x="5522976"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Host test, 5 loại cuộc hẹn</a:t>
            </a:r>
            <a:endParaRPr lang="en-US" sz="1300" dirty="0"/>
          </a:p>
        </p:txBody>
      </p:sp>
      <p:sp>
        <p:nvSpPr>
          <p:cNvPr id="23" name="Shape 21"/>
          <p:cNvSpPr/>
          <p:nvPr/>
        </p:nvSpPr>
        <p:spPr>
          <a:xfrm>
            <a:off x="6821424" y="2834640"/>
            <a:ext cx="128016" cy="0"/>
          </a:xfrm>
          <a:prstGeom prst="line">
            <a:avLst/>
          </a:prstGeom>
          <a:noFill/>
          <a:ln w="19050">
            <a:solidFill>
              <a:srgbClr val="7A8592"/>
            </a:solidFill>
            <a:prstDash val="solid"/>
            <a:tailEnd type="triangle"/>
          </a:ln>
        </p:spPr>
      </p:sp>
      <p:sp>
        <p:nvSpPr>
          <p:cNvPr id="24" name="Shape 22"/>
          <p:cNvSpPr/>
          <p:nvPr/>
        </p:nvSpPr>
        <p:spPr>
          <a:xfrm>
            <a:off x="6967728" y="1783080"/>
            <a:ext cx="1417320" cy="2103120"/>
          </a:xfrm>
          <a:prstGeom prst="roundRect">
            <a:avLst>
              <a:gd name="adj" fmla="val 7742"/>
            </a:avLst>
          </a:prstGeom>
          <a:solidFill>
            <a:srgbClr val="12202B"/>
          </a:solidFill>
          <a:ln w="12700">
            <a:solidFill>
              <a:srgbClr val="12202B"/>
            </a:solidFill>
            <a:prstDash val="solid"/>
          </a:ln>
        </p:spPr>
      </p:sp>
      <p:sp>
        <p:nvSpPr>
          <p:cNvPr id="25" name="Text 23"/>
          <p:cNvSpPr txBox="1"/>
          <p:nvPr/>
        </p:nvSpPr>
        <p:spPr>
          <a:xfrm>
            <a:off x="7104888" y="1874520"/>
            <a:ext cx="457200" cy="457200"/>
          </a:xfrm>
          <a:prstGeom prst="rect">
            <a:avLst/>
          </a:prstGeom>
          <a:noFill/>
          <a:ln/>
        </p:spPr>
        <p:txBody>
          <a:bodyPr wrap="square" lIns="0" tIns="0" rIns="0" bIns="0" rtlCol="0" anchor="ctr"/>
          <a:lstStyle/>
          <a:p>
            <a:pPr indent="0" marL="0">
              <a:buNone/>
            </a:pPr>
            <a:r>
              <a:rPr lang="en-US" sz="2400" b="1" dirty="0">
                <a:solidFill>
                  <a:srgbClr val="E07B39"/>
                </a:solidFill>
                <a:latin typeface="Calibri" pitchFamily="34" charset="0"/>
                <a:ea typeface="Calibri" pitchFamily="34" charset="-122"/>
                <a:cs typeface="Calibri" pitchFamily="34" charset="-120"/>
              </a:rPr>
              <a:t>5</a:t>
            </a:r>
            <a:endParaRPr lang="en-US" sz="2400" dirty="0"/>
          </a:p>
        </p:txBody>
      </p:sp>
      <p:sp>
        <p:nvSpPr>
          <p:cNvPr id="26" name="Text 24"/>
          <p:cNvSpPr txBox="1"/>
          <p:nvPr/>
        </p:nvSpPr>
        <p:spPr>
          <a:xfrm>
            <a:off x="7104888" y="2377440"/>
            <a:ext cx="1143000" cy="548640"/>
          </a:xfrm>
          <a:prstGeom prst="rect">
            <a:avLst/>
          </a:prstGeom>
          <a:noFill/>
          <a:ln/>
        </p:spPr>
        <p:txBody>
          <a:bodyPr wrap="square" lIns="0" tIns="0" rIns="0" bIns="0" rtlCol="0" anchor="t"/>
          <a:lstStyle/>
          <a:p>
            <a:pPr indent="0" marL="0">
              <a:buNone/>
            </a:pPr>
            <a:r>
              <a:rPr lang="en-US" sz="1500" b="1" dirty="0">
                <a:solidFill>
                  <a:srgbClr val="F4F2EC"/>
                </a:solidFill>
                <a:latin typeface="Calibri" pitchFamily="34" charset="0"/>
                <a:ea typeface="Calibri" pitchFamily="34" charset="-122"/>
                <a:cs typeface="Calibri" pitchFamily="34" charset="-120"/>
              </a:rPr>
              <a:t>Chạy</a:t>
            </a:r>
            <a:endParaRPr lang="en-US" sz="1500" dirty="0"/>
          </a:p>
        </p:txBody>
      </p:sp>
      <p:sp>
        <p:nvSpPr>
          <p:cNvPr id="27" name="Text 25"/>
          <p:cNvSpPr txBox="1"/>
          <p:nvPr/>
        </p:nvSpPr>
        <p:spPr>
          <a:xfrm>
            <a:off x="7104888" y="2971800"/>
            <a:ext cx="1143000" cy="822960"/>
          </a:xfrm>
          <a:prstGeom prst="rect">
            <a:avLst/>
          </a:prstGeom>
          <a:noFill/>
          <a:ln/>
        </p:spPr>
        <p:txBody>
          <a:bodyPr wrap="square" lIns="0" tIns="0" rIns="0" bIns="0" rtlCol="0" anchor="t"/>
          <a:lstStyle/>
          <a:p>
            <a:pPr indent="0" marL="0">
              <a:buNone/>
            </a:pPr>
            <a:r>
              <a:rPr lang="en-US" sz="1300" dirty="0">
                <a:solidFill>
                  <a:srgbClr val="B8C6D2"/>
                </a:solidFill>
                <a:latin typeface="Calibri" pitchFamily="34" charset="0"/>
                <a:ea typeface="Calibri" pitchFamily="34" charset="-122"/>
                <a:cs typeface="Calibri" pitchFamily="34" charset="-120"/>
              </a:rPr>
              <a:t>Đồng thời (k6) và tuần tự</a:t>
            </a:r>
            <a:endParaRPr lang="en-US" sz="1300" dirty="0"/>
          </a:p>
        </p:txBody>
      </p:sp>
      <p:sp>
        <p:nvSpPr>
          <p:cNvPr id="28" name="Shape 26"/>
          <p:cNvSpPr/>
          <p:nvPr/>
        </p:nvSpPr>
        <p:spPr>
          <a:xfrm>
            <a:off x="8403336" y="2834640"/>
            <a:ext cx="128016" cy="0"/>
          </a:xfrm>
          <a:prstGeom prst="line">
            <a:avLst/>
          </a:prstGeom>
          <a:noFill/>
          <a:ln w="19050">
            <a:solidFill>
              <a:srgbClr val="7A8592"/>
            </a:solidFill>
            <a:prstDash val="solid"/>
            <a:tailEnd type="triangle"/>
          </a:ln>
        </p:spPr>
      </p:sp>
      <p:sp>
        <p:nvSpPr>
          <p:cNvPr id="29" name="Shape 27"/>
          <p:cNvSpPr/>
          <p:nvPr/>
        </p:nvSpPr>
        <p:spPr>
          <a:xfrm>
            <a:off x="8549640" y="1783080"/>
            <a:ext cx="1417320" cy="2103120"/>
          </a:xfrm>
          <a:prstGeom prst="roundRect">
            <a:avLst>
              <a:gd name="adj" fmla="val 7742"/>
            </a:avLst>
          </a:prstGeom>
          <a:solidFill>
            <a:srgbClr val="FBFAF6"/>
          </a:solidFill>
          <a:ln w="12700">
            <a:solidFill>
              <a:srgbClr val="DAD6CC"/>
            </a:solidFill>
            <a:prstDash val="solid"/>
          </a:ln>
        </p:spPr>
      </p:sp>
      <p:sp>
        <p:nvSpPr>
          <p:cNvPr id="30" name="Text 28"/>
          <p:cNvSpPr txBox="1"/>
          <p:nvPr/>
        </p:nvSpPr>
        <p:spPr>
          <a:xfrm>
            <a:off x="868680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6</a:t>
            </a:r>
            <a:endParaRPr lang="en-US" sz="2400" dirty="0"/>
          </a:p>
        </p:txBody>
      </p:sp>
      <p:sp>
        <p:nvSpPr>
          <p:cNvPr id="31" name="Text 29"/>
          <p:cNvSpPr txBox="1"/>
          <p:nvPr/>
        </p:nvSpPr>
        <p:spPr>
          <a:xfrm>
            <a:off x="868680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Kiểm trong CSDL</a:t>
            </a:r>
            <a:endParaRPr lang="en-US" sz="1500" dirty="0"/>
          </a:p>
        </p:txBody>
      </p:sp>
      <p:sp>
        <p:nvSpPr>
          <p:cNvPr id="32" name="Text 30"/>
          <p:cNvSpPr txBox="1"/>
          <p:nvPr/>
        </p:nvSpPr>
        <p:spPr>
          <a:xfrm>
            <a:off x="868680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SQL kiểm từng invariant</a:t>
            </a:r>
            <a:endParaRPr lang="en-US" sz="1300" dirty="0"/>
          </a:p>
        </p:txBody>
      </p:sp>
      <p:sp>
        <p:nvSpPr>
          <p:cNvPr id="33" name="Shape 31"/>
          <p:cNvSpPr/>
          <p:nvPr/>
        </p:nvSpPr>
        <p:spPr>
          <a:xfrm>
            <a:off x="9985248" y="2834640"/>
            <a:ext cx="128016" cy="0"/>
          </a:xfrm>
          <a:prstGeom prst="line">
            <a:avLst/>
          </a:prstGeom>
          <a:noFill/>
          <a:ln w="19050">
            <a:solidFill>
              <a:srgbClr val="7A8592"/>
            </a:solidFill>
            <a:prstDash val="solid"/>
            <a:tailEnd type="triangle"/>
          </a:ln>
        </p:spPr>
      </p:sp>
      <p:sp>
        <p:nvSpPr>
          <p:cNvPr id="34" name="Shape 32"/>
          <p:cNvSpPr/>
          <p:nvPr/>
        </p:nvSpPr>
        <p:spPr>
          <a:xfrm>
            <a:off x="10131552" y="1783080"/>
            <a:ext cx="1417320" cy="2103120"/>
          </a:xfrm>
          <a:prstGeom prst="roundRect">
            <a:avLst>
              <a:gd name="adj" fmla="val 7742"/>
            </a:avLst>
          </a:prstGeom>
          <a:solidFill>
            <a:srgbClr val="FBFAF6"/>
          </a:solidFill>
          <a:ln w="12700">
            <a:solidFill>
              <a:srgbClr val="DAD6CC"/>
            </a:solidFill>
            <a:prstDash val="solid"/>
          </a:ln>
        </p:spPr>
      </p:sp>
      <p:sp>
        <p:nvSpPr>
          <p:cNvPr id="35" name="Text 33"/>
          <p:cNvSpPr txBox="1"/>
          <p:nvPr/>
        </p:nvSpPr>
        <p:spPr>
          <a:xfrm>
            <a:off x="1026871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7</a:t>
            </a:r>
            <a:endParaRPr lang="en-US" sz="2400" dirty="0"/>
          </a:p>
        </p:txBody>
      </p:sp>
      <p:sp>
        <p:nvSpPr>
          <p:cNvPr id="36" name="Text 34"/>
          <p:cNvSpPr txBox="1"/>
          <p:nvPr/>
        </p:nvSpPr>
        <p:spPr>
          <a:xfrm>
            <a:off x="1026871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Nguyên nhân gốc</a:t>
            </a:r>
            <a:endParaRPr lang="en-US" sz="1500" dirty="0"/>
          </a:p>
        </p:txBody>
      </p:sp>
      <p:sp>
        <p:nvSpPr>
          <p:cNvPr id="37" name="Text 35"/>
          <p:cNvSpPr txBox="1"/>
          <p:nvPr/>
        </p:nvSpPr>
        <p:spPr>
          <a:xfrm>
            <a:off x="1026871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Đọc code, thử khắc phục</a:t>
            </a:r>
            <a:endParaRPr lang="en-US" sz="1300" dirty="0"/>
          </a:p>
        </p:txBody>
      </p:sp>
      <p:sp>
        <p:nvSpPr>
          <p:cNvPr id="38" name="Text 36"/>
          <p:cNvSpPr txBox="1"/>
          <p:nvPr/>
        </p:nvSpPr>
        <p:spPr>
          <a:xfrm>
            <a:off x="640080" y="42062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Tiêu chí pass / fail</a:t>
            </a:r>
            <a:endParaRPr lang="en-US" sz="2000" dirty="0"/>
          </a:p>
        </p:txBody>
      </p:sp>
      <p:sp>
        <p:nvSpPr>
          <p:cNvPr id="39" name="Text 37"/>
          <p:cNvSpPr txBox="1"/>
          <p:nvPr/>
        </p:nvSpPr>
        <p:spPr>
          <a:xfrm>
            <a:off x="640080" y="4617720"/>
            <a:ext cx="10908792"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Một vòng PASS khi mọi invariant đúng và không có phản hồi 5xx hay lỗi kết nối.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Test case PASS khi cả 10 vòng PASS; một vòng vi phạm là FAIL.</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Là lỗi race khi gửi đồng thời FAIL nhưng gửi tuần tự PASS; nếu tuần tự cũng FAIL thì là lỗi logic.</a:t>
            </a:r>
            <a:endParaRPr lang="en-US" sz="1600" dirty="0"/>
          </a:p>
        </p:txBody>
      </p:sp>
      <p:sp>
        <p:nvSpPr>
          <p:cNvPr id="40" name="Text 38"/>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docs/QUY_TRINH_TEST.md mục 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DANH SÁCH TEST CASE</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8 test case, mỗi cái chạy 10 vòng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914400"/>
                <a:gridCol w="4754880"/>
                <a:gridCol w="3931920"/>
                <a:gridCol w="1307592"/>
              </a:tblGrid>
              <a:tr h="42976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Input (gửi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quả mong đợi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Invariant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cùng một giờ 09:00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người 200, 9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giờ lệch 3 phút, event 30 và 60 phút,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hiệu lực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giờ trống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người 200, 3 người 409; 3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tranh 2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người 200, 4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lệnh đổi lịch cùng một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thành công, booking gốc bị hủy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hủy + 1 lệnh đổi lịch cùng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Không thể cả hai cùng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khác nhau,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người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486400"/>
            <a:ext cx="10908792" cy="64008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Dữ liệu: host k15host (UTC, rảnh 24/7); 5 loại cuộc hẹn; mỗi request dùng một email người đặt khác nhau. I7 (không có 5xx) áp dụng cho mọi test case.</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Đầy đủ tiền điều kiện và invariant: docs/QUY_TRINH_TEST.md mục 2</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07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số booking/ngày</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không vượt số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đổi lịch, hủy, giới hạn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08 · CHI PHÍ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Chi phí đo thật: 0 đồng, khoảng 12 phút máy</a:t>
            </a:r>
            <a:endParaRPr lang="en-US" sz="3400" dirty="0"/>
          </a:p>
        </p:txBody>
      </p:sp>
      <p:sp>
        <p:nvSpPr>
          <p:cNvPr id="4" name="Shape 2"/>
          <p:cNvSpPr/>
          <p:nvPr/>
        </p:nvSpPr>
        <p:spPr>
          <a:xfrm>
            <a:off x="640080" y="1691640"/>
            <a:ext cx="2521458" cy="1554480"/>
          </a:xfrm>
          <a:prstGeom prst="roundRect">
            <a:avLst>
              <a:gd name="adj" fmla="val 7059"/>
            </a:avLst>
          </a:prstGeom>
          <a:solidFill>
            <a:srgbClr val="FBFAF6"/>
          </a:solidFill>
          <a:ln w="12700">
            <a:solidFill>
              <a:srgbClr val="DAD6CC"/>
            </a:solidFill>
            <a:prstDash val="solid"/>
          </a:ln>
        </p:spPr>
      </p:sp>
      <p:sp>
        <p:nvSpPr>
          <p:cNvPr id="5" name="Text 3"/>
          <p:cNvSpPr txBox="1"/>
          <p:nvPr/>
        </p:nvSpPr>
        <p:spPr>
          <a:xfrm>
            <a:off x="822960"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0 đồng</a:t>
            </a:r>
            <a:endParaRPr lang="en-US" sz="3200" dirty="0"/>
          </a:p>
        </p:txBody>
      </p:sp>
      <p:sp>
        <p:nvSpPr>
          <p:cNvPr id="6" name="Text 4"/>
          <p:cNvSpPr txBox="1"/>
          <p:nvPr/>
        </p:nvSpPr>
        <p:spPr>
          <a:xfrm>
            <a:off x="822960"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Công cụ miễn phí, chạy trên máy cá nhân</a:t>
            </a:r>
            <a:endParaRPr lang="en-US" sz="1400" dirty="0"/>
          </a:p>
        </p:txBody>
      </p:sp>
      <p:sp>
        <p:nvSpPr>
          <p:cNvPr id="7" name="Shape 5"/>
          <p:cNvSpPr/>
          <p:nvPr/>
        </p:nvSpPr>
        <p:spPr>
          <a:xfrm>
            <a:off x="3435858" y="1691640"/>
            <a:ext cx="2521458" cy="1554480"/>
          </a:xfrm>
          <a:prstGeom prst="roundRect">
            <a:avLst>
              <a:gd name="adj" fmla="val 7059"/>
            </a:avLst>
          </a:prstGeom>
          <a:solidFill>
            <a:srgbClr val="FBFAF6"/>
          </a:solidFill>
          <a:ln w="12700">
            <a:solidFill>
              <a:srgbClr val="DAD6CC"/>
            </a:solidFill>
            <a:prstDash val="solid"/>
          </a:ln>
        </p:spPr>
      </p:sp>
      <p:sp>
        <p:nvSpPr>
          <p:cNvPr id="8" name="Text 6"/>
          <p:cNvSpPr txBox="1"/>
          <p:nvPr/>
        </p:nvSpPr>
        <p:spPr>
          <a:xfrm>
            <a:off x="3618738"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2 080</a:t>
            </a:r>
            <a:endParaRPr lang="en-US" sz="3200" dirty="0"/>
          </a:p>
        </p:txBody>
      </p:sp>
      <p:sp>
        <p:nvSpPr>
          <p:cNvPr id="9" name="Text 7"/>
          <p:cNvSpPr txBox="1"/>
          <p:nvPr/>
        </p:nvSpPr>
        <p:spPr>
          <a:xfrm>
            <a:off x="3618738"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Request đã gửi trong mọi lần chạy</a:t>
            </a:r>
            <a:endParaRPr lang="en-US" sz="1400" dirty="0"/>
          </a:p>
        </p:txBody>
      </p:sp>
      <p:sp>
        <p:nvSpPr>
          <p:cNvPr id="10" name="Shape 8"/>
          <p:cNvSpPr/>
          <p:nvPr/>
        </p:nvSpPr>
        <p:spPr>
          <a:xfrm>
            <a:off x="6231636" y="1691640"/>
            <a:ext cx="2521458" cy="1554480"/>
          </a:xfrm>
          <a:prstGeom prst="roundRect">
            <a:avLst>
              <a:gd name="adj" fmla="val 7059"/>
            </a:avLst>
          </a:prstGeom>
          <a:solidFill>
            <a:srgbClr val="FBFAF6"/>
          </a:solidFill>
          <a:ln w="12700">
            <a:solidFill>
              <a:srgbClr val="DAD6CC"/>
            </a:solidFill>
            <a:prstDash val="solid"/>
          </a:ln>
        </p:spPr>
      </p:sp>
      <p:sp>
        <p:nvSpPr>
          <p:cNvPr id="11" name="Text 9"/>
          <p:cNvSpPr txBox="1"/>
          <p:nvPr/>
        </p:nvSpPr>
        <p:spPr>
          <a:xfrm>
            <a:off x="6414516"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12 phút</a:t>
            </a:r>
            <a:endParaRPr lang="en-US" sz="3200" dirty="0"/>
          </a:p>
        </p:txBody>
      </p:sp>
      <p:sp>
        <p:nvSpPr>
          <p:cNvPr id="12" name="Text 10"/>
          <p:cNvSpPr txBox="1"/>
          <p:nvPr/>
        </p:nvSpPr>
        <p:spPr>
          <a:xfrm>
            <a:off x="6414516"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Tổng thời gian máy chạy test</a:t>
            </a:r>
            <a:endParaRPr lang="en-US" sz="1400" dirty="0"/>
          </a:p>
        </p:txBody>
      </p:sp>
      <p:sp>
        <p:nvSpPr>
          <p:cNvPr id="13" name="Shape 11"/>
          <p:cNvSpPr/>
          <p:nvPr/>
        </p:nvSpPr>
        <p:spPr>
          <a:xfrm>
            <a:off x="9027414" y="1691640"/>
            <a:ext cx="2521458" cy="1554480"/>
          </a:xfrm>
          <a:prstGeom prst="roundRect">
            <a:avLst>
              <a:gd name="adj" fmla="val 7059"/>
            </a:avLst>
          </a:prstGeom>
          <a:solidFill>
            <a:srgbClr val="FBFAF6"/>
          </a:solidFill>
          <a:ln w="12700">
            <a:solidFill>
              <a:srgbClr val="DAD6CC"/>
            </a:solidFill>
            <a:prstDash val="solid"/>
          </a:ln>
        </p:spPr>
      </p:sp>
      <p:sp>
        <p:nvSpPr>
          <p:cNvPr id="14" name="Text 12"/>
          <p:cNvSpPr txBox="1"/>
          <p:nvPr/>
        </p:nvSpPr>
        <p:spPr>
          <a:xfrm>
            <a:off x="9210294"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970</a:t>
            </a:r>
            <a:endParaRPr lang="en-US" sz="3200" dirty="0"/>
          </a:p>
        </p:txBody>
      </p:sp>
      <p:sp>
        <p:nvSpPr>
          <p:cNvPr id="15" name="Text 13"/>
          <p:cNvSpPr txBox="1"/>
          <p:nvPr/>
        </p:nvSpPr>
        <p:spPr>
          <a:xfrm>
            <a:off x="9210294"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Dòng mã bộ test (Node.js, k6, SQL)</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6583680"/>
                <a:gridCol w="2011680"/>
                <a:gridCol w="2313432"/>
              </a:tblGrid>
              <a:tr h="38404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Lần chạy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Request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Thời gian máy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Đồng thời chính (8 test case × 10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150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Tuần tự đối chứng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22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Độ nhạy: chỉ 2 request, 20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164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Thí nghiệm khắc phục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380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85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Đo cửa sổ race (18 mốc độ trễ)</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360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300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17" name="Text 14"/>
          <p:cNvSpPr txBox="1"/>
          <p:nvPr/>
        </p:nvSpPr>
        <p:spPr>
          <a:xfrm>
            <a:off x="640080" y="5943600"/>
            <a:ext cx="10908792" cy="365760"/>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Công sức nhóm (người-giờ): [nhóm điền số giờ thực tế của từng thành viên]. Máy: MacBook Apple Silicon 10 nhân, 32 GB RAM.</a:t>
            </a:r>
            <a:endParaRPr lang="en-US" sz="1400" dirty="0"/>
          </a:p>
        </p:txBody>
      </p:sp>
      <p:sp>
        <p:nvSpPr>
          <p:cNvPr id="18" name="Text 15"/>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Số liệu lấy từ summary.json của từng lần chạy: docs/QUY_TRINH_TEST.md mục 3</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09 · KẾT QUẢ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trên 8 test case phát hiện lỗi</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023360"/>
                <a:gridCol w="1828800"/>
                <a:gridCol w="1828800"/>
                <a:gridCol w="2194560"/>
                <a:gridCol w="1033272"/>
              </a:tblGrid>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luận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TC-02 giờ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TC-03 ghế đầu tiên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TC-05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TC-06 đổi lịch lặp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logic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TC-07 hủy và đổi lịch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TC-08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Text 2"/>
          <p:cNvSpPr txBox="1"/>
          <p:nvPr/>
        </p:nvSpPr>
        <p:spPr>
          <a:xfrm>
            <a:off x="640080" y="5577840"/>
            <a:ext cx="10908792" cy="64008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Vòng vi phạm trên 10 vòng. Mã HTTP đều là 200 nhưng dữ liệu trong CSDL sai. Chỉ cần 2 request đồng thời, TC-02 vi phạm ở 20/20 vòng.</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Lượt chạy chính thức 18/10/2026 · docs/KET_QUA_TEST_GIUA_KY.md · race-tests/results/giua-ky-race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10 · LỖI THẬT, TÁI HIỆN ĐỘC LẬP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lỗi, đều tái hiện được bằng curl thuần</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822960"/>
                <a:gridCol w="5394960"/>
                <a:gridCol w="4690872"/>
              </a:tblGrid>
              <a:tr h="50292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Tái hiện bằng curl (không dùng harness)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Dữ liệu trong CSDL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khách đặt 2 giờ chồng nhau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booking accepted chồng giờ 09:00–09:30 và 09:15–09:45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1×200, 5×409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bán 1/3 ghế dù còn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chờ xác nhận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Đổi lịch liên tiếp một booking gốc 3 lần: cả 3 đều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booking accepted từ cùng một gốc (cả khi 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Hủy và đổi lịch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Booking 09:00 đã hủy nhưng vẫn còn booking 11:00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giới hạn 1/ngày: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hiệu lực trong một 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394960"/>
            <a:ext cx="10908792" cy="7315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Đối chứng: gửi tuần tự hai request chồng giờ thì request thứ hai bị 409. Nhóm chưa báo lỗi cho Cal.com và chưa sửa mã Cal.com.</a:t>
            </a:r>
            <a:endParaRPr lang="en-US" sz="16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race-tests/repro/repro-curl.sh · docs/evidence/repro-curl.txt · docs/MINH_CHUNG_LOI.md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11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chạy lại toàn bộ trên máy sạch của thành viên khác</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2026-10-18T10:52:00Z</dcterms:created>
  <dcterms:modified xsi:type="dcterms:W3CDTF">2026-10-18T10:52:00Z</dcterms:modified>
</cp:coreProperties>
</file>