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e3ac7673-3648-5bfd-f0e8-accd34a59645}">
          <p14:sldIdLst>
            <p14:sldId id="256"/>
            <p14:sldId id="257"/>
          </p14:sldIdLst>
        </p14:section>
        <p14:section name="Tiến độ" id="{6ac773ea-cba5-c446-5a24-adfef4912c26}">
          <p14:sldIdLst>
            <p14:sldId id="258"/>
          </p14:sldIdLst>
        </p14:section>
        <p14:section name="Hệ thống và kiểm thử" id="{75eb1a7a-25fc-1f14-27db-0da681e8b984}">
          <p14:sldIdLst>
            <p14:sldId id="259"/>
            <p14:sldId id="260"/>
            <p14:sldId id="261"/>
            <p14:sldId id="262"/>
          </p14:sldIdLst>
        </p14:section>
        <p14:section name="Kế hoạch kiểm thử" id="{165856e3-3d75-024d-70b5-d53d924e5f6d}">
          <p14:sldIdLst>
            <p14:sldId id="263"/>
            <p14:sldId id="264"/>
          </p14:sldIdLst>
        </p14:section>
        <p14:section name="Kết quả sơ bộ" id="{60faa17d-b5c9-4d07-d7a6-cf127c16c49a}">
          <p14:sldIdLst>
            <p14:sldId id="265"/>
            <p14:sldId id="266"/>
            <p14:sldId id="267"/>
            <p14:sldId id="268"/>
          </p14:sldIdLst>
        </p14:section>
        <p14:section name="Tiếp theo" id="{c436ed9c-7370-e18c-47cb-0241eb07d67d}">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Giữa kỳ cần trình bày bốn thứ: demo hệ thống chạy, sơ đồ kiến trúc và tài liệu on-boarding, kế hoạch áp dụng kỹ thuật kiểm thử. Nhóm có thêm một kết quả thử nghiệm đầu tiên.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Đề tài đã đăng ký là R05-K15. Nhóm khóa phiên bản ở tag v6.2.0 để test chạy lại được. Phạm vi hẹp vào luồng booking theo lưu ý của giảng viên.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mục của Sprint 1 đã xong, và nhóm đã làm trước: harness 8 scenario đã chạy 10 vòng mỗi scenario kèm nhóm đối chứng tuần tự, đã phân tích nguyên nhân gốc. Giữa kỳ nhóm chỉ trình bày kết quả sơ bộ S1 và S2; kết quả đầy đủ dành cho buổi bảo vệ cuối kỳ. Còn lại: Playwright qua giao diện, hoàn thiện báo cáo, và chuẩn bị bảo vệ. Nói rõ phân vai và board Trello/Jira của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kiến trúc rút gọn. Sơ đồ đầy đủ ở docs/diagrams/kien-truc.md. Điểm mấu chốt rút ra khi đọc code: các bước kiểm tra chỉ đọc, giữa kiểm tra và ghi không có khóa, nên đây là nơi nhóm kỳ vọng tìm ra 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Tài liệu on-boarding gồm phiên bản, lệnh cài đặt, biến môi trường, seed data. Smoke test chạy ba luồng: đặt, đổi, hủy lịch. Trong demo, nhóm chạy lệnh npm run demo:midterm để chứng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gồm bảy bước. Điểm khác của kiểm thử race là bước 6: oracle là dữ liệu trong cơ sở dữ liệu, không phải mã HTTP. Bước 5 chạy cả đồng thời và tuần tự để tách lỗi race khỏi lỗi logic thông thường.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test case chọn một cơ chế bảo vệ khác nhau để thử. TC-01 và TC-04 là hai trường hợp hệ thống đã có bảo vệ, dùng để kiểm chứng harness không báo lỗi giả. Sáu test case còn lại thử những chỗ đọc code cho thấy chưa có bảo vệ ở tầng cơ sở dữ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đề bài yêu cầu cho giữa kỳ: kế hoạch áp dụng kỹ thuật với phạm vi test, giả định và tiêu chí đánh giá. Oracle là điểm khác biệt của kiểm thử race: không tin mã HTTP mà kiểm dữ liệu thật trong CSDL.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liệu chi phí máy đo thật từ thời điểm bắt đầu và kết thúc trong file summary.json của mỗi lần chạy. Chạy lại bộ test chính cả đồng thời và tuần tự mất dưới ba phút. Công sức nhân lực là ước lượng khoảng 34 đến 46 người-giờ, nhóm chưa theo dõi giờ thực tế từng người.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thật của lượt chạy chính thức: mỗi test case chạy 10 vòng, ở hai chế độ đồng thời và tuần tự. TC-01 và TC-04 đúng, hai cơ chế bảo vệ của hệ thống hoạt động. Năm test case chỉ sai khi đồng thời là lỗi race. TC-06 sai cả khi tuần tự nên là lỗi logic, không phải race. Mã HTTP đều thành công, chỉ truy vấn trực tiếp cơ sở dữ liệu mới thấy dữ liệu 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thành viên chạy lại bộ test trên máy Windows của mình với cùng phiên bản mã. Kết luận tám test case giống hệt máy Mac: năm lỗi race chỉ sai khi đồng thời, một lỗi logic sai cả khi tuần tự, hai test case đúng. Hai lượt chạy đầu trên máy Windows không hợp lệ vì thiếu công cụ k6 và vì Cal.com dừng giữa chừng; nhóm đã loại và chỉ dùng lượt chạy sạch. Người chạy trên máy Windows là Ngô Quốc Trường Vĩ, máy MSI Core i7-13620H, RAM 16 GB.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chứng minh đây là lỗi thật, nhóm tái hiện lại từng lỗi bằng lệnh curl thuần, không dùng bộ test, rồi xem trực tiếp dữ liệu trong cơ sở dữ liệu. D4 là lỗi logic xảy ra cả khi gửi tuần tự; năm lỗi còn lại chỉ xảy ra khi đồng thời. Nhóm chưa báo lỗi cho nhóm phát triển Cal.com và chưa sửa mã Cal.com, nên nói là lỗi nhóm tìm được trên bản v6.2.0 chạy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thành viên có vai trò và nhiệm vụ riêng, theo phân công của nhóm. Công việc được theo dõi trên bảng GitHub Projects; việc gán người cho từng thẻ và lịch sử commit đều các thành viên sẽ được hoàn thiện trước buổi bảo vệ.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 hoạch bốn giai đoạn đến bảo vệ; phần kiểm thử chính đã chạy xong nên thời gian còn lại dành cho kiểm chứng lại, hoàn thiện báo cáo và chuẩn bị bảo vệ. Rủi ro chính là race không tái hiện ổn định nên nhóm chạy nhiều vòng và báo tỉ lệ. Kết thúc phần báo cáo, mời thầy đặt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4F2E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640080"/>
            <a:ext cx="10908792" cy="868680"/>
          </a:xfrm>
          <a:prstGeom prst="rect">
            <a:avLst/>
          </a:prstGeom>
          <a:noFill/>
          <a:ln/>
        </p:spPr>
        <p:txBody>
          <a:bodyPr wrap="square" rtlCol="0"/>
          <a:lstStyle>
            <a:lvl1pPr indent="0" marL="0">
              <a:buNone/>
              <a:defRPr lang="en-US" sz="3400" b="1" dirty="0">
                <a:solidFill>
                  <a:srgbClr val="12202B"/>
                </a:solidFill>
                <a:latin typeface="Calibri" pitchFamily="34" charset="0"/>
                <a:ea typeface="Calibri" pitchFamily="34" charset="-122"/>
                <a:cs typeface="Calibri" pitchFamily="34" charset="-120"/>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20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640080"/>
            <a:ext cx="10908792" cy="868680"/>
          </a:xfrm>
          <a:prstGeom prst="rect">
            <a:avLst/>
          </a:prstGeom>
          <a:noFill/>
          <a:ln/>
        </p:spPr>
        <p:txBody>
          <a:bodyPr wrap="square" rtlCol="0"/>
          <a:lstStyle>
            <a:lvl1pPr indent="0" marL="0">
              <a:buNone/>
              <a:defRPr lang="en-US" sz="3400" b="1" dirty="0">
                <a:solidFill>
                  <a:srgbClr val="F4F2EC"/>
                </a:solidFill>
                <a:latin typeface="Calibri" pitchFamily="34" charset="0"/>
                <a:ea typeface="Calibri" pitchFamily="34" charset="-122"/>
                <a:cs typeface="Calibri" pitchFamily="34" charset="-120"/>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BLANK">
    <p:bg>
      <p:bgPr>
        <a:solidFill>
          <a:srgbClr val="1220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640080"/>
            <a:ext cx="10908792" cy="365760"/>
          </a:xfrm>
          <a:prstGeom prst="rect">
            <a:avLst/>
          </a:prstGeom>
          <a:noFill/>
          <a:ln/>
        </p:spPr>
        <p:txBody>
          <a:bodyPr wrap="square" lIns="0" tIns="0" rIns="0" bIns="0" rtlCol="0" anchor="ctr"/>
          <a:lstStyle/>
          <a:p>
            <a:pPr indent="0" marL="0">
              <a:buNone/>
            </a:pPr>
            <a:r>
              <a:rPr lang="en-US" sz="1600" b="1" spc="300" kern="0" dirty="0">
                <a:solidFill>
                  <a:srgbClr val="E07B39"/>
                </a:solidFill>
                <a:latin typeface="Consolas" pitchFamily="34" charset="0"/>
                <a:ea typeface="Consolas" pitchFamily="34" charset="-122"/>
                <a:cs typeface="Consolas" pitchFamily="34" charset="-120"/>
              </a:rPr>
              <a:t>BÁO CÁO GIỮA KỲ · MILESTONE 2 · 20/10</a:t>
            </a:r>
            <a:endParaRPr lang="en-US" sz="1600" dirty="0"/>
          </a:p>
        </p:txBody>
      </p:sp>
      <p:sp>
        <p:nvSpPr>
          <p:cNvPr id="3" name="Text 1"/>
          <p:cNvSpPr txBox="1"/>
          <p:nvPr/>
        </p:nvSpPr>
        <p:spPr>
          <a:xfrm>
            <a:off x="640080" y="1737360"/>
            <a:ext cx="10515600" cy="2194560"/>
          </a:xfrm>
          <a:prstGeom prst="rect">
            <a:avLst/>
          </a:prstGeom>
          <a:noFill/>
          <a:ln/>
        </p:spPr>
        <p:txBody>
          <a:bodyPr wrap="square" lIns="0" tIns="0" rIns="0" bIns="0" rtlCol="0" anchor="t"/>
          <a:lstStyle/>
          <a:p>
            <a:pPr indent="0" marL="0">
              <a:buNone/>
            </a:pPr>
            <a:r>
              <a:rPr lang="en-US" sz="5400" b="1" dirty="0">
                <a:solidFill>
                  <a:srgbClr val="F4F2EC"/>
                </a:solidFill>
                <a:latin typeface="Calibri" pitchFamily="34" charset="0"/>
                <a:ea typeface="Calibri" pitchFamily="34" charset="-122"/>
                <a:cs typeface="Calibri" pitchFamily="34" charset="-120"/>
              </a:rPr>
              <a:t>R05-K15</a:t>
            </a:r>
            <a:endParaRPr lang="en-US" sz="5400" dirty="0"/>
          </a:p>
          <a:p>
            <a:pPr indent="0" marL="0">
              <a:buNone/>
            </a:pPr>
            <a:r>
              <a:rPr lang="en-US" sz="5400" b="1" dirty="0">
                <a:solidFill>
                  <a:srgbClr val="F4F2EC"/>
                </a:solidFill>
                <a:latin typeface="Calibri" pitchFamily="34" charset="0"/>
                <a:ea typeface="Calibri" pitchFamily="34" charset="-122"/>
                <a:cs typeface="Calibri" pitchFamily="34" charset="-120"/>
              </a:rPr>
              <a:t>Kiểm thử race condition cho Cal.com</a:t>
            </a:r>
            <a:endParaRPr lang="en-US" sz="5400" dirty="0"/>
          </a:p>
        </p:txBody>
      </p:sp>
      <p:sp>
        <p:nvSpPr>
          <p:cNvPr id="4" name="Text 2"/>
          <p:cNvSpPr txBox="1"/>
          <p:nvPr/>
        </p:nvSpPr>
        <p:spPr>
          <a:xfrm>
            <a:off x="640080" y="4114800"/>
            <a:ext cx="9601200" cy="822960"/>
          </a:xfrm>
          <a:prstGeom prst="rect">
            <a:avLst/>
          </a:prstGeom>
          <a:noFill/>
          <a:ln/>
        </p:spPr>
        <p:txBody>
          <a:bodyPr wrap="square" lIns="0" tIns="0" rIns="0" bIns="0" rtlCol="0" anchor="t"/>
          <a:lstStyle/>
          <a:p>
            <a:pPr indent="0" marL="0">
              <a:buNone/>
            </a:pPr>
            <a:r>
              <a:rPr lang="en-US" sz="2400" dirty="0">
                <a:solidFill>
                  <a:srgbClr val="B8C6D2"/>
                </a:solidFill>
                <a:latin typeface="Calibri" pitchFamily="34" charset="0"/>
                <a:ea typeface="Calibri" pitchFamily="34" charset="-122"/>
                <a:cs typeface="Calibri" pitchFamily="34" charset="-120"/>
              </a:rPr>
              <a:t>Quy trình test, 8 test case, kết quả test thật và 6 lỗi đã tái hiện</a:t>
            </a:r>
            <a:endParaRPr lang="en-US" sz="2400" dirty="0"/>
          </a:p>
        </p:txBody>
      </p:sp>
      <p:sp>
        <p:nvSpPr>
          <p:cNvPr id="5" name="Text 3"/>
          <p:cNvSpPr txBox="1"/>
          <p:nvPr/>
        </p:nvSpPr>
        <p:spPr>
          <a:xfrm>
            <a:off x="640080" y="5577840"/>
            <a:ext cx="6400800" cy="731520"/>
          </a:xfrm>
          <a:prstGeom prst="rect">
            <a:avLst/>
          </a:prstGeom>
          <a:noFill/>
          <a:ln/>
        </p:spPr>
        <p:txBody>
          <a:bodyPr wrap="square" lIns="0" tIns="0" rIns="0" bIns="0" rtlCol="0" anchor="ctr"/>
          <a:lstStyle/>
          <a:p>
            <a:pPr indent="0" marL="0">
              <a:buNone/>
            </a:pPr>
            <a:r>
              <a:rPr lang="en-US" sz="1600" dirty="0">
                <a:solidFill>
                  <a:srgbClr val="B8C6D2"/>
                </a:solidFill>
                <a:latin typeface="Calibri" pitchFamily="34" charset="0"/>
                <a:ea typeface="Calibri" pitchFamily="34" charset="-122"/>
                <a:cs typeface="Calibri" pitchFamily="34" charset="-120"/>
              </a:rPr>
              <a:t>Môn Kiểm thử phần mềm · GV Nguyễn Thế Lâm</a:t>
            </a:r>
            <a:endParaRPr lang="en-US" sz="1600" dirty="0"/>
          </a:p>
          <a:p>
            <a:pPr indent="0" marL="0">
              <a:buNone/>
            </a:pPr>
            <a:r>
              <a:rPr lang="en-US" sz="1600" dirty="0">
                <a:solidFill>
                  <a:srgbClr val="B8C6D2"/>
                </a:solidFill>
                <a:latin typeface="Calibri" pitchFamily="34" charset="0"/>
                <a:ea typeface="Calibri" pitchFamily="34" charset="-122"/>
                <a:cs typeface="Calibri" pitchFamily="34" charset="-120"/>
              </a:rPr>
              <a:t>Khoa CNTT – Trường Đại học Đà Lạt</a:t>
            </a:r>
            <a:endParaRPr lang="en-US" sz="1600" dirty="0"/>
          </a:p>
        </p:txBody>
      </p:sp>
      <p:sp>
        <p:nvSpPr>
          <p:cNvPr id="6" name="Text 4"/>
          <p:cNvSpPr txBox="1"/>
          <p:nvPr/>
        </p:nvSpPr>
        <p:spPr>
          <a:xfrm>
            <a:off x="6949440" y="5029200"/>
            <a:ext cx="4599432" cy="1325880"/>
          </a:xfrm>
          <a:prstGeom prst="rect">
            <a:avLst/>
          </a:prstGeom>
          <a:noFill/>
          <a:ln/>
        </p:spPr>
        <p:txBody>
          <a:bodyPr wrap="square" lIns="0" tIns="0" rIns="0" bIns="0" rtlCol="0" anchor="b"/>
          <a:lstStyle/>
          <a:p>
            <a:pPr algn="r" indent="0" marL="0">
              <a:buNone/>
            </a:pPr>
            <a:r>
              <a:rPr lang="en-US" sz="1600" dirty="0">
                <a:solidFill>
                  <a:srgbClr val="B8C6D2"/>
                </a:solidFill>
                <a:latin typeface="Calibri" pitchFamily="34" charset="0"/>
                <a:ea typeface="Calibri" pitchFamily="34" charset="-122"/>
                <a:cs typeface="Calibri" pitchFamily="34" charset="-120"/>
              </a:rPr>
              <a:t>Nhóm 14</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2312741 - Nguyễn Thanh Tâm</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2312800 - Võ Công Vinh</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2312774 - Nguyễn Đức Tín</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2312796 - Ngô Quốc Trường Vĩ</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01 · ĐỀ TÀI ĐÃ CHỐT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tổ hợp Repo + Kỹ thuật, đã cố định phiên bản</a:t>
            </a:r>
            <a:endParaRPr lang="en-US" sz="3400" dirty="0"/>
          </a:p>
        </p:txBody>
      </p:sp>
      <p:sp>
        <p:nvSpPr>
          <p:cNvPr id="4" name="Shape 2"/>
          <p:cNvSpPr/>
          <p:nvPr/>
        </p:nvSpPr>
        <p:spPr>
          <a:xfrm>
            <a:off x="640080" y="1783080"/>
            <a:ext cx="3422904" cy="3017520"/>
          </a:xfrm>
          <a:prstGeom prst="roundRect">
            <a:avLst>
              <a:gd name="adj" fmla="val 3636"/>
            </a:avLst>
          </a:prstGeom>
          <a:solidFill>
            <a:srgbClr val="FBFAF6"/>
          </a:solidFill>
          <a:ln w="12700">
            <a:solidFill>
              <a:srgbClr val="DAD6CC"/>
            </a:solidFill>
            <a:prstDash val="solid"/>
          </a:ln>
        </p:spPr>
      </p:sp>
      <p:sp>
        <p:nvSpPr>
          <p:cNvPr id="5" name="Text 3"/>
          <p:cNvSpPr txBox="1"/>
          <p:nvPr/>
        </p:nvSpPr>
        <p:spPr>
          <a:xfrm>
            <a:off x="914400"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REPO · R05</a:t>
            </a:r>
            <a:endParaRPr lang="en-US" sz="1300" dirty="0"/>
          </a:p>
        </p:txBody>
      </p:sp>
      <p:sp>
        <p:nvSpPr>
          <p:cNvPr id="6" name="Text 4"/>
          <p:cNvSpPr txBox="1"/>
          <p:nvPr/>
        </p:nvSpPr>
        <p:spPr>
          <a:xfrm>
            <a:off x="914400"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Cal.com</a:t>
            </a:r>
            <a:endParaRPr lang="en-US" sz="2600" dirty="0"/>
          </a:p>
        </p:txBody>
      </p:sp>
      <p:sp>
        <p:nvSpPr>
          <p:cNvPr id="7" name="Text 5"/>
          <p:cNvSpPr txBox="1"/>
          <p:nvPr/>
        </p:nvSpPr>
        <p:spPr>
          <a:xfrm>
            <a:off x="914400"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Nền tảng đặt lịch mã nguồn mở. TypeScript, Next.js 16, PostgreSQL + Prisma, monorepo.</a:t>
            </a:r>
            <a:endParaRPr lang="en-US" sz="1600" dirty="0"/>
          </a:p>
        </p:txBody>
      </p:sp>
      <p:sp>
        <p:nvSpPr>
          <p:cNvPr id="8" name="Shape 6"/>
          <p:cNvSpPr/>
          <p:nvPr/>
        </p:nvSpPr>
        <p:spPr>
          <a:xfrm>
            <a:off x="4383024" y="1783080"/>
            <a:ext cx="3422904" cy="3017520"/>
          </a:xfrm>
          <a:prstGeom prst="roundRect">
            <a:avLst>
              <a:gd name="adj" fmla="val 3636"/>
            </a:avLst>
          </a:prstGeom>
          <a:solidFill>
            <a:srgbClr val="FBFAF6"/>
          </a:solidFill>
          <a:ln w="12700">
            <a:solidFill>
              <a:srgbClr val="DAD6CC"/>
            </a:solidFill>
            <a:prstDash val="solid"/>
          </a:ln>
        </p:spPr>
      </p:sp>
      <p:sp>
        <p:nvSpPr>
          <p:cNvPr id="9" name="Text 7"/>
          <p:cNvSpPr txBox="1"/>
          <p:nvPr/>
        </p:nvSpPr>
        <p:spPr>
          <a:xfrm>
            <a:off x="4657344"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KỸ THUẬT · K15</a:t>
            </a:r>
            <a:endParaRPr lang="en-US" sz="1300" dirty="0"/>
          </a:p>
        </p:txBody>
      </p:sp>
      <p:sp>
        <p:nvSpPr>
          <p:cNvPr id="10" name="Text 8"/>
          <p:cNvSpPr txBox="1"/>
          <p:nvPr/>
        </p:nvSpPr>
        <p:spPr>
          <a:xfrm>
            <a:off x="4657344"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Concurrency / Race</a:t>
            </a:r>
            <a:endParaRPr lang="en-US" sz="2600" dirty="0"/>
          </a:p>
        </p:txBody>
      </p:sp>
      <p:sp>
        <p:nvSpPr>
          <p:cNvPr id="11" name="Text 9"/>
          <p:cNvSpPr txBox="1"/>
          <p:nvPr/>
        </p:nvSpPr>
        <p:spPr>
          <a:xfrm>
            <a:off x="4657344"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Gửi nhiều request đồng thời, kiểm invariant trực tiếp trong CSDL.</a:t>
            </a:r>
            <a:endParaRPr lang="en-US" sz="1600" dirty="0"/>
          </a:p>
        </p:txBody>
      </p:sp>
      <p:sp>
        <p:nvSpPr>
          <p:cNvPr id="12" name="Shape 10"/>
          <p:cNvSpPr/>
          <p:nvPr/>
        </p:nvSpPr>
        <p:spPr>
          <a:xfrm>
            <a:off x="8125968" y="1783080"/>
            <a:ext cx="3422904" cy="3017520"/>
          </a:xfrm>
          <a:prstGeom prst="roundRect">
            <a:avLst>
              <a:gd name="adj" fmla="val 3636"/>
            </a:avLst>
          </a:prstGeom>
          <a:solidFill>
            <a:srgbClr val="FBFAF6"/>
          </a:solidFill>
          <a:ln w="12700">
            <a:solidFill>
              <a:srgbClr val="DAD6CC"/>
            </a:solidFill>
            <a:prstDash val="solid"/>
          </a:ln>
        </p:spPr>
      </p:sp>
      <p:sp>
        <p:nvSpPr>
          <p:cNvPr id="13" name="Text 11"/>
          <p:cNvSpPr txBox="1"/>
          <p:nvPr/>
        </p:nvSpPr>
        <p:spPr>
          <a:xfrm>
            <a:off x="8400288"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PHIÊN BẢN ĐÃ PIN</a:t>
            </a:r>
            <a:endParaRPr lang="en-US" sz="1300" dirty="0"/>
          </a:p>
        </p:txBody>
      </p:sp>
      <p:sp>
        <p:nvSpPr>
          <p:cNvPr id="14" name="Text 12"/>
          <p:cNvSpPr txBox="1"/>
          <p:nvPr/>
        </p:nvSpPr>
        <p:spPr>
          <a:xfrm>
            <a:off x="8400288"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v6.2.0</a:t>
            </a:r>
            <a:endParaRPr lang="en-US" sz="2600" dirty="0"/>
          </a:p>
        </p:txBody>
      </p:sp>
      <p:sp>
        <p:nvSpPr>
          <p:cNvPr id="15" name="Text 13"/>
          <p:cNvSpPr txBox="1"/>
          <p:nvPr/>
        </p:nvSpPr>
        <p:spPr>
          <a:xfrm>
            <a:off x="8400288"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Commit 1c193cca8682b33b9866c792186033f7ef886682, tránh nhánh main thay đổi giữa kỳ.</a:t>
            </a:r>
            <a:endParaRPr lang="en-US" sz="1600" dirty="0"/>
          </a:p>
        </p:txBody>
      </p:sp>
      <p:sp>
        <p:nvSpPr>
          <p:cNvPr id="16" name="Text 14"/>
          <p:cNvSpPr txBox="1"/>
          <p:nvPr/>
        </p:nvSpPr>
        <p:spPr>
          <a:xfrm>
            <a:off x="640080" y="5166360"/>
            <a:ext cx="10908792" cy="457200"/>
          </a:xfrm>
          <a:prstGeom prst="rect">
            <a:avLst/>
          </a:prstGeom>
          <a:noFill/>
          <a:ln/>
        </p:spPr>
        <p:txBody>
          <a:bodyPr wrap="square" lIns="0" tIns="0" rIns="0" bIns="0" rtlCol="0" anchor="ctr"/>
          <a:lstStyle/>
          <a:p>
            <a:pPr indent="0" marL="0">
              <a:buNone/>
            </a:pPr>
            <a:r>
              <a:rPr lang="en-US" sz="1800" dirty="0">
                <a:solidFill>
                  <a:srgbClr val="4A5866"/>
                </a:solidFill>
                <a:latin typeface="Calibri" pitchFamily="34" charset="0"/>
                <a:ea typeface="Calibri" pitchFamily="34" charset="-122"/>
                <a:cs typeface="Calibri" pitchFamily="34" charset="-120"/>
              </a:rPr>
              <a:t>Phạm vi: chỉ luồng đặt lịch, đổi lịch, hủy lịch (booking). Không ôm toàn bộ monorepo.</a:t>
            </a:r>
            <a:endParaRPr lang="en-US" sz="18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02 · TIẾN ĐỘ SO VỚI KẾ HOẠCH</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Sprint 1 hoàn thành, harness 8 scenario đã chạy xong</a:t>
            </a:r>
            <a:endParaRPr lang="en-US" sz="3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5394960"/>
                <a:gridCol w="1097280"/>
                <a:gridCol w="1371600"/>
                <a:gridCol w="3044952"/>
              </a:tblGrid>
              <a:tr h="393192">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Hạng mục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Sprint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Trạng thái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Bằng chứng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Chốt repo, kỹ thuật, pin tag và commit SHA</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Đăng ký</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README.md mục 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Dựng Cal.com local, seed data, chạy 3 luồng nghiệp vụ</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docs/evidence/smoke-test.txt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Đọc code, vẽ kiến trúc và luồng dữ liệu</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docs/diagrams/kien-truc.md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Tài liệu on-boarding, kế hoạch kiểm thử</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README.md, slide 8</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Harness k6 + SQL, 8 scenario, mỗi scenario 10 vòng, có đối chứng tuần tự</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2–3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race-tests/results/</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Phân tích nguyên nhân gốc, thí nghiệm khắc phục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docs/DEFECTS.md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Báo cáo cuối (bản nháp A–H) và slide bảo vệ</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4–5</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B4531A"/>
                          </a:solidFill>
                          <a:latin typeface="Calibri" pitchFamily="34" charset="0"/>
                          <a:ea typeface="Calibri" pitchFamily="34" charset="-122"/>
                          <a:cs typeface="Calibri" pitchFamily="34" charset="-120"/>
                        </a:rPr>
                        <a:t>Một phần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docs/BAO_CAO.md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Chạy lại trên máy Windows khác: kết quả khớp 8/8</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race-tests/results/windows-race</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Scenario Playwright qua giao diện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4A5866"/>
                          </a:solidFill>
                          <a:latin typeface="Calibri" pitchFamily="34" charset="0"/>
                          <a:ea typeface="Calibri" pitchFamily="34" charset="-122"/>
                          <a:cs typeface="Calibri" pitchFamily="34" charset="-120"/>
                        </a:rPr>
                        <a:t>Chưa làm</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Board GitHub Projects: 18 thẻ ở 3 cột; còn gán người và commit đều các thành viên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Đăng ký</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B4531A"/>
                          </a:solidFill>
                          <a:latin typeface="Calibri" pitchFamily="34" charset="0"/>
                          <a:ea typeface="Calibri" pitchFamily="34" charset="-122"/>
                          <a:cs typeface="Calibri" pitchFamily="34" charset="-120"/>
                        </a:rPr>
                        <a:t>Một phần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docs/evidence/board.png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03 · KIẾN TRÚC</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request đặt lịch đi qua 4 lớp</a:t>
            </a:r>
            <a:endParaRPr lang="en-US" sz="3400" dirty="0"/>
          </a:p>
        </p:txBody>
      </p:sp>
      <p:sp>
        <p:nvSpPr>
          <p:cNvPr id="4" name="Shape 2"/>
          <p:cNvSpPr/>
          <p:nvPr/>
        </p:nvSpPr>
        <p:spPr>
          <a:xfrm>
            <a:off x="640080" y="1737360"/>
            <a:ext cx="2331720" cy="1645920"/>
          </a:xfrm>
          <a:prstGeom prst="roundRect">
            <a:avLst>
              <a:gd name="adj" fmla="val 6667"/>
            </a:avLst>
          </a:prstGeom>
          <a:solidFill>
            <a:srgbClr val="12202B"/>
          </a:solidFill>
          <a:ln w="12700">
            <a:solidFill>
              <a:srgbClr val="12202B"/>
            </a:solidFill>
            <a:prstDash val="solid"/>
          </a:ln>
        </p:spPr>
      </p:sp>
      <p:sp>
        <p:nvSpPr>
          <p:cNvPr id="5" name="Text 3"/>
          <p:cNvSpPr txBox="1"/>
          <p:nvPr/>
        </p:nvSpPr>
        <p:spPr>
          <a:xfrm>
            <a:off x="777240" y="1828800"/>
            <a:ext cx="2057400" cy="457200"/>
          </a:xfrm>
          <a:prstGeom prst="rect">
            <a:avLst/>
          </a:prstGeom>
          <a:noFill/>
          <a:ln/>
        </p:spPr>
        <p:txBody>
          <a:bodyPr wrap="square" lIns="0" tIns="0" rIns="0" bIns="0" rtlCol="0" anchor="t"/>
          <a:lstStyle/>
          <a:p>
            <a:pPr indent="0" marL="0">
              <a:buNone/>
            </a:pPr>
            <a:r>
              <a:rPr lang="en-US" sz="1300" b="1" dirty="0">
                <a:solidFill>
                  <a:srgbClr val="E07B39"/>
                </a:solidFill>
                <a:latin typeface="Consolas" pitchFamily="34" charset="0"/>
                <a:ea typeface="Consolas" pitchFamily="34" charset="-122"/>
                <a:cs typeface="Consolas" pitchFamily="34" charset="-120"/>
              </a:rPr>
              <a:t>apps/web</a:t>
            </a:r>
            <a:endParaRPr lang="en-US" sz="1300" dirty="0"/>
          </a:p>
        </p:txBody>
      </p:sp>
      <p:sp>
        <p:nvSpPr>
          <p:cNvPr id="6" name="Text 4"/>
          <p:cNvSpPr txBox="1"/>
          <p:nvPr/>
        </p:nvSpPr>
        <p:spPr>
          <a:xfrm>
            <a:off x="777240" y="2331720"/>
            <a:ext cx="2057400" cy="914400"/>
          </a:xfrm>
          <a:prstGeom prst="rect">
            <a:avLst/>
          </a:prstGeom>
          <a:noFill/>
          <a:ln/>
        </p:spPr>
        <p:txBody>
          <a:bodyPr wrap="square" lIns="0" tIns="0" rIns="0" bIns="0" rtlCol="0" anchor="t"/>
          <a:lstStyle/>
          <a:p>
            <a:pPr indent="0" marL="0">
              <a:buNone/>
            </a:pPr>
            <a:r>
              <a:rPr lang="en-US" sz="1400" dirty="0">
                <a:solidFill>
                  <a:srgbClr val="F4F2EC"/>
                </a:solidFill>
                <a:latin typeface="Calibri" pitchFamily="34" charset="0"/>
                <a:ea typeface="Calibri" pitchFamily="34" charset="-122"/>
                <a:cs typeface="Calibri" pitchFamily="34" charset="-120"/>
              </a:rPr>
              <a:t>POST /api/book/event</a:t>
            </a:r>
            <a:endParaRPr lang="en-US" sz="1400" dirty="0"/>
          </a:p>
          <a:p>
            <a:pPr indent="0" marL="0">
              <a:buNone/>
            </a:pPr>
            <a:r>
              <a:rPr lang="en-US" sz="1400" dirty="0">
                <a:solidFill>
                  <a:srgbClr val="F4F2EC"/>
                </a:solidFill>
                <a:latin typeface="Calibri" pitchFamily="34" charset="0"/>
                <a:ea typeface="Calibri" pitchFamily="34" charset="-122"/>
                <a:cs typeface="Calibri" pitchFamily="34" charset="-120"/>
              </a:rPr>
              <a:t>POST /api/cancel</a:t>
            </a:r>
            <a:endParaRPr lang="en-US" sz="1400" dirty="0"/>
          </a:p>
        </p:txBody>
      </p:sp>
      <p:sp>
        <p:nvSpPr>
          <p:cNvPr id="7" name="Shape 5"/>
          <p:cNvSpPr/>
          <p:nvPr/>
        </p:nvSpPr>
        <p:spPr>
          <a:xfrm>
            <a:off x="3008376" y="2560320"/>
            <a:ext cx="454152" cy="0"/>
          </a:xfrm>
          <a:prstGeom prst="line">
            <a:avLst/>
          </a:prstGeom>
          <a:noFill/>
          <a:ln w="25400">
            <a:solidFill>
              <a:srgbClr val="7A8592"/>
            </a:solidFill>
            <a:prstDash val="solid"/>
            <a:tailEnd type="triangle"/>
          </a:ln>
        </p:spPr>
      </p:sp>
      <p:sp>
        <p:nvSpPr>
          <p:cNvPr id="8" name="Shape 6"/>
          <p:cNvSpPr/>
          <p:nvPr/>
        </p:nvSpPr>
        <p:spPr>
          <a:xfrm>
            <a:off x="3499104" y="1737360"/>
            <a:ext cx="2331720" cy="1645920"/>
          </a:xfrm>
          <a:prstGeom prst="roundRect">
            <a:avLst>
              <a:gd name="adj" fmla="val 6667"/>
            </a:avLst>
          </a:prstGeom>
          <a:solidFill>
            <a:srgbClr val="FBFAF6"/>
          </a:solidFill>
          <a:ln w="12700">
            <a:solidFill>
              <a:srgbClr val="DAD6CC"/>
            </a:solidFill>
            <a:prstDash val="solid"/>
          </a:ln>
        </p:spPr>
      </p:sp>
      <p:sp>
        <p:nvSpPr>
          <p:cNvPr id="9" name="Text 7"/>
          <p:cNvSpPr txBox="1"/>
          <p:nvPr/>
        </p:nvSpPr>
        <p:spPr>
          <a:xfrm>
            <a:off x="3636264" y="1828800"/>
            <a:ext cx="2057400" cy="457200"/>
          </a:xfrm>
          <a:prstGeom prst="rect">
            <a:avLst/>
          </a:prstGeom>
          <a:noFill/>
          <a:ln/>
        </p:spPr>
        <p:txBody>
          <a:bodyPr wrap="square" lIns="0" tIns="0" rIns="0" bIns="0" rtlCol="0" anchor="t"/>
          <a:lstStyle/>
          <a:p>
            <a:pPr indent="0" marL="0">
              <a:buNone/>
            </a:pPr>
            <a:r>
              <a:rPr lang="en-US" sz="1300" b="1" dirty="0">
                <a:solidFill>
                  <a:srgbClr val="2558B8"/>
                </a:solidFill>
                <a:latin typeface="Consolas" pitchFamily="34" charset="0"/>
                <a:ea typeface="Consolas" pitchFamily="34" charset="-122"/>
                <a:cs typeface="Consolas" pitchFamily="34" charset="-120"/>
              </a:rPr>
              <a:t>RegularBookingService</a:t>
            </a:r>
            <a:endParaRPr lang="en-US" sz="1300" dirty="0"/>
          </a:p>
        </p:txBody>
      </p:sp>
      <p:sp>
        <p:nvSpPr>
          <p:cNvPr id="10" name="Text 8"/>
          <p:cNvSpPr txBox="1"/>
          <p:nvPr/>
        </p:nvSpPr>
        <p:spPr>
          <a:xfrm>
            <a:off x="3636264" y="2331720"/>
            <a:ext cx="2057400" cy="91440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Kiểm tra giới hạn, lịch trống, booking gốc</a:t>
            </a:r>
            <a:endParaRPr lang="en-US" sz="1400" dirty="0"/>
          </a:p>
        </p:txBody>
      </p:sp>
      <p:sp>
        <p:nvSpPr>
          <p:cNvPr id="11" name="Shape 9"/>
          <p:cNvSpPr/>
          <p:nvPr/>
        </p:nvSpPr>
        <p:spPr>
          <a:xfrm>
            <a:off x="5867400" y="2560320"/>
            <a:ext cx="454152" cy="0"/>
          </a:xfrm>
          <a:prstGeom prst="line">
            <a:avLst/>
          </a:prstGeom>
          <a:noFill/>
          <a:ln w="25400">
            <a:solidFill>
              <a:srgbClr val="7A8592"/>
            </a:solidFill>
            <a:prstDash val="solid"/>
            <a:tailEnd type="triangle"/>
          </a:ln>
        </p:spPr>
      </p:sp>
      <p:sp>
        <p:nvSpPr>
          <p:cNvPr id="12" name="Shape 10"/>
          <p:cNvSpPr/>
          <p:nvPr/>
        </p:nvSpPr>
        <p:spPr>
          <a:xfrm>
            <a:off x="6358128" y="1737360"/>
            <a:ext cx="2331720" cy="1645920"/>
          </a:xfrm>
          <a:prstGeom prst="roundRect">
            <a:avLst>
              <a:gd name="adj" fmla="val 6667"/>
            </a:avLst>
          </a:prstGeom>
          <a:solidFill>
            <a:srgbClr val="FBFAF6"/>
          </a:solidFill>
          <a:ln w="12700">
            <a:solidFill>
              <a:srgbClr val="DAD6CC"/>
            </a:solidFill>
            <a:prstDash val="solid"/>
          </a:ln>
        </p:spPr>
      </p:sp>
      <p:sp>
        <p:nvSpPr>
          <p:cNvPr id="13" name="Text 11"/>
          <p:cNvSpPr txBox="1"/>
          <p:nvPr/>
        </p:nvSpPr>
        <p:spPr>
          <a:xfrm>
            <a:off x="6495288" y="1828800"/>
            <a:ext cx="2057400" cy="457200"/>
          </a:xfrm>
          <a:prstGeom prst="rect">
            <a:avLst/>
          </a:prstGeom>
          <a:noFill/>
          <a:ln/>
        </p:spPr>
        <p:txBody>
          <a:bodyPr wrap="square" lIns="0" tIns="0" rIns="0" bIns="0" rtlCol="0" anchor="t"/>
          <a:lstStyle/>
          <a:p>
            <a:pPr indent="0" marL="0">
              <a:buNone/>
            </a:pPr>
            <a:r>
              <a:rPr lang="en-US" sz="1300" b="1" dirty="0">
                <a:solidFill>
                  <a:srgbClr val="2558B8"/>
                </a:solidFill>
                <a:latin typeface="Consolas" pitchFamily="34" charset="0"/>
                <a:ea typeface="Consolas" pitchFamily="34" charset="-122"/>
                <a:cs typeface="Consolas" pitchFamily="34" charset="-120"/>
              </a:rPr>
              <a:t>createBooking / handleSeats</a:t>
            </a:r>
            <a:endParaRPr lang="en-US" sz="1300" dirty="0"/>
          </a:p>
        </p:txBody>
      </p:sp>
      <p:sp>
        <p:nvSpPr>
          <p:cNvPr id="14" name="Text 12"/>
          <p:cNvSpPr txBox="1"/>
          <p:nvPr/>
        </p:nvSpPr>
        <p:spPr>
          <a:xfrm>
            <a:off x="6495288" y="2331720"/>
            <a:ext cx="2057400" cy="91440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Ghi Booking, Attendee, BookingSeat</a:t>
            </a:r>
            <a:endParaRPr lang="en-US" sz="1400" dirty="0"/>
          </a:p>
        </p:txBody>
      </p:sp>
      <p:sp>
        <p:nvSpPr>
          <p:cNvPr id="15" name="Shape 13"/>
          <p:cNvSpPr/>
          <p:nvPr/>
        </p:nvSpPr>
        <p:spPr>
          <a:xfrm>
            <a:off x="8726424" y="2560320"/>
            <a:ext cx="454152" cy="0"/>
          </a:xfrm>
          <a:prstGeom prst="line">
            <a:avLst/>
          </a:prstGeom>
          <a:noFill/>
          <a:ln w="25400">
            <a:solidFill>
              <a:srgbClr val="7A8592"/>
            </a:solidFill>
            <a:prstDash val="solid"/>
            <a:tailEnd type="triangle"/>
          </a:ln>
        </p:spPr>
      </p:sp>
      <p:sp>
        <p:nvSpPr>
          <p:cNvPr id="16" name="Shape 14"/>
          <p:cNvSpPr/>
          <p:nvPr/>
        </p:nvSpPr>
        <p:spPr>
          <a:xfrm>
            <a:off x="9217152" y="1737360"/>
            <a:ext cx="2331720" cy="1645920"/>
          </a:xfrm>
          <a:prstGeom prst="roundRect">
            <a:avLst>
              <a:gd name="adj" fmla="val 6667"/>
            </a:avLst>
          </a:prstGeom>
          <a:solidFill>
            <a:srgbClr val="12202B"/>
          </a:solidFill>
          <a:ln w="12700">
            <a:solidFill>
              <a:srgbClr val="12202B"/>
            </a:solidFill>
            <a:prstDash val="solid"/>
          </a:ln>
        </p:spPr>
      </p:sp>
      <p:sp>
        <p:nvSpPr>
          <p:cNvPr id="17" name="Text 15"/>
          <p:cNvSpPr txBox="1"/>
          <p:nvPr/>
        </p:nvSpPr>
        <p:spPr>
          <a:xfrm>
            <a:off x="9354312" y="1828800"/>
            <a:ext cx="2057400" cy="457200"/>
          </a:xfrm>
          <a:prstGeom prst="rect">
            <a:avLst/>
          </a:prstGeom>
          <a:noFill/>
          <a:ln/>
        </p:spPr>
        <p:txBody>
          <a:bodyPr wrap="square" lIns="0" tIns="0" rIns="0" bIns="0" rtlCol="0" anchor="t"/>
          <a:lstStyle/>
          <a:p>
            <a:pPr indent="0" marL="0">
              <a:buNone/>
            </a:pPr>
            <a:r>
              <a:rPr lang="en-US" sz="1300" b="1" dirty="0">
                <a:solidFill>
                  <a:srgbClr val="E07B39"/>
                </a:solidFill>
                <a:latin typeface="Consolas" pitchFamily="34" charset="0"/>
                <a:ea typeface="Consolas" pitchFamily="34" charset="-122"/>
                <a:cs typeface="Consolas" pitchFamily="34" charset="-120"/>
              </a:rPr>
              <a:t>PostgreSQL</a:t>
            </a:r>
            <a:endParaRPr lang="en-US" sz="1300" dirty="0"/>
          </a:p>
        </p:txBody>
      </p:sp>
      <p:sp>
        <p:nvSpPr>
          <p:cNvPr id="18" name="Text 16"/>
          <p:cNvSpPr txBox="1"/>
          <p:nvPr/>
        </p:nvSpPr>
        <p:spPr>
          <a:xfrm>
            <a:off x="9354312" y="2331720"/>
            <a:ext cx="2057400" cy="914400"/>
          </a:xfrm>
          <a:prstGeom prst="rect">
            <a:avLst/>
          </a:prstGeom>
          <a:noFill/>
          <a:ln/>
        </p:spPr>
        <p:txBody>
          <a:bodyPr wrap="square" lIns="0" tIns="0" rIns="0" bIns="0" rtlCol="0" anchor="t"/>
          <a:lstStyle/>
          <a:p>
            <a:pPr indent="0" marL="0">
              <a:buNone/>
            </a:pPr>
            <a:r>
              <a:rPr lang="en-US" sz="1400" dirty="0">
                <a:solidFill>
                  <a:srgbClr val="F4F2EC"/>
                </a:solidFill>
                <a:latin typeface="Calibri" pitchFamily="34" charset="0"/>
                <a:ea typeface="Calibri" pitchFamily="34" charset="-122"/>
                <a:cs typeface="Calibri" pitchFamily="34" charset="-120"/>
              </a:rPr>
              <a:t>UNIQUE(uid)</a:t>
            </a:r>
            <a:endParaRPr lang="en-US" sz="1400" dirty="0"/>
          </a:p>
          <a:p>
            <a:pPr indent="0" marL="0">
              <a:buNone/>
            </a:pPr>
            <a:r>
              <a:rPr lang="en-US" sz="1400" dirty="0">
                <a:solidFill>
                  <a:srgbClr val="F4F2EC"/>
                </a:solidFill>
                <a:latin typeface="Calibri" pitchFamily="34" charset="0"/>
                <a:ea typeface="Calibri" pitchFamily="34" charset="-122"/>
                <a:cs typeface="Calibri" pitchFamily="34" charset="-120"/>
              </a:rPr>
              <a:t>UNIQUE(idempotencyKey)</a:t>
            </a:r>
            <a:endParaRPr lang="en-US" sz="1400" dirty="0"/>
          </a:p>
        </p:txBody>
      </p:sp>
      <p:sp>
        <p:nvSpPr>
          <p:cNvPr id="19" name="Text 17"/>
          <p:cNvSpPr txBox="1"/>
          <p:nvPr/>
        </p:nvSpPr>
        <p:spPr>
          <a:xfrm>
            <a:off x="640080" y="3749040"/>
            <a:ext cx="10908792" cy="36576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Điểm cần chú ý cho kiểm thử race</a:t>
            </a:r>
            <a:endParaRPr lang="en-US" sz="2000" dirty="0"/>
          </a:p>
        </p:txBody>
      </p:sp>
      <p:sp>
        <p:nvSpPr>
          <p:cNvPr id="20" name="Text 18"/>
          <p:cNvSpPr txBox="1"/>
          <p:nvPr/>
        </p:nvSpPr>
        <p:spPr>
          <a:xfrm>
            <a:off x="640080" y="4206240"/>
            <a:ext cx="10908792" cy="17373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Các bước kiểm tra (giới hạn, lịch trống, trạng thái booking gốc) chỉ đọc rồi quyết định; không giữ khóa tới lúc ghi.</a:t>
            </a:r>
            <a:endParaRPr lang="en-US" sz="1600" dirty="0"/>
          </a:p>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Chỉ có hai ràng buộc ở CSDL: UNIQUE uid và UNIQUE idempotencyKey (tính từ start, end, host).</a:t>
            </a:r>
            <a:endParaRPr lang="en-US" sz="1600" dirty="0"/>
          </a:p>
          <a:p>
            <a:pPr marL="342900" indent="-342900">
              <a:buSzPct val="100000"/>
              <a:buChar char="•"/>
            </a:pPr>
            <a:r>
              <a:rPr lang="en-US" sz="1600" dirty="0">
                <a:solidFill>
                  <a:srgbClr val="4A5866"/>
                </a:solidFill>
                <a:latin typeface="Calibri" pitchFamily="34" charset="0"/>
                <a:ea typeface="Calibri" pitchFamily="34" charset="-122"/>
                <a:cs typeface="Calibri" pitchFamily="34" charset="-120"/>
              </a:rPr>
              <a:t>Event có ghế dùng SELECT … FOR UPDATE khi thêm ghế vào booking đã có.</a:t>
            </a:r>
            <a:endParaRPr lang="en-US" sz="1600" dirty="0"/>
          </a:p>
        </p:txBody>
      </p:sp>
      <p:sp>
        <p:nvSpPr>
          <p:cNvPr id="21" name="Text 19"/>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Sơ đồ container và luồng tuần tự đầy đủ: docs/diagrams/kien-truc.md</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04 · MÔI TRƯỜNG VÀ ON-BOARDING</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Hệ thống chạy trên máy, 3 luồng nghiệp vụ đạt</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225796" cy="914400"/>
        </p:xfrm>
        <a:graphic>
          <a:graphicData uri="http://schemas.openxmlformats.org/drawingml/2006/table">
            <a:tbl>
              <a:tblPr/>
              <a:tblGrid>
                <a:gridCol w="2011680"/>
                <a:gridCol w="3214116"/>
              </a:tblGrid>
              <a:tr h="45720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Thành phần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Phiên bản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Cal.com</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v6.2.0 · 1c193cca</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Node / Yarn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22.23 / 4.12.0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PostgreSQL</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16 (300 kết nối)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k6</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2.3.0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Dữ liệu test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host k15host, 5 event type</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323076" y="1783080"/>
          <a:ext cx="5225796" cy="914400"/>
        </p:xfrm>
        <a:graphic>
          <a:graphicData uri="http://schemas.openxmlformats.org/drawingml/2006/table">
            <a:tbl>
              <a:tblPr/>
              <a:tblGrid>
                <a:gridCol w="2194560"/>
                <a:gridCol w="914400"/>
                <a:gridCol w="2116836"/>
              </a:tblGrid>
              <a:tr h="45720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Smoke test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HTTP</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Trong DB</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 Đặt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accepted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 Đổi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bản cũ cancelled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3. Hủy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cancelled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4. Đặt lại slot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đã giải phóng</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640080" y="4937760"/>
            <a:ext cx="10908792" cy="822960"/>
          </a:xfrm>
          <a:prstGeom prst="rect">
            <a:avLst/>
          </a:prstGeom>
          <a:noFill/>
          <a:ln/>
        </p:spPr>
        <p:txBody>
          <a:bodyPr wrap="square" lIns="0" tIns="0" rIns="0" bIns="0" rtlCol="0" anchor="t"/>
          <a:lstStyle/>
          <a:p>
            <a:pPr indent="0" marL="0">
              <a:buNone/>
            </a:pPr>
            <a:r>
              <a:rPr lang="en-US" sz="1600" b="1" dirty="0">
                <a:solidFill>
                  <a:srgbClr val="12202B"/>
                </a:solidFill>
                <a:latin typeface="Calibri" pitchFamily="34" charset="0"/>
                <a:ea typeface="Calibri" pitchFamily="34" charset="-122"/>
                <a:cs typeface="Calibri" pitchFamily="34" charset="-120"/>
              </a:rPr>
              <a:t>Khó khăn đã xử lý: </a:t>
            </a:r>
            <a:pPr indent="0" marL="0">
              <a:buNone/>
            </a:pPr>
            <a:r>
              <a:rPr lang="en-US" sz="1600" dirty="0">
                <a:solidFill>
                  <a:srgbClr val="4A5866"/>
                </a:solidFill>
                <a:latin typeface="Calibri" pitchFamily="34" charset="0"/>
                <a:ea typeface="Calibri" pitchFamily="34" charset="-122"/>
                <a:cs typeface="Calibri" pitchFamily="34" charset="-120"/>
              </a:rPr>
              <a:t>không có Docker (dùng Postgres.app); cột timestamp lưu UTC nên driver bị lệch +7 giờ; /api/cancel cần CSRF 64 ký tự.</a:t>
            </a:r>
            <a:endParaRPr lang="en-US" sz="1600" dirty="0"/>
          </a:p>
        </p:txBody>
      </p:sp>
      <p:sp>
        <p:nvSpPr>
          <p:cNvPr id="7"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Cài đặt từ máy sạch: README.md · demo: npm run demo:midterm</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05 · QUY TRÌNH TEST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Từ đọc code đến báo cáo: 7 bước, có nhóm đối chứng</a:t>
            </a:r>
            <a:endParaRPr lang="en-US" sz="3400" dirty="0"/>
          </a:p>
        </p:txBody>
      </p:sp>
      <p:sp>
        <p:nvSpPr>
          <p:cNvPr id="4" name="Shape 2"/>
          <p:cNvSpPr/>
          <p:nvPr/>
        </p:nvSpPr>
        <p:spPr>
          <a:xfrm>
            <a:off x="640080" y="1783080"/>
            <a:ext cx="1417320" cy="2103120"/>
          </a:xfrm>
          <a:prstGeom prst="roundRect">
            <a:avLst>
              <a:gd name="adj" fmla="val 7742"/>
            </a:avLst>
          </a:prstGeom>
          <a:solidFill>
            <a:srgbClr val="FBFAF6"/>
          </a:solidFill>
          <a:ln w="12700">
            <a:solidFill>
              <a:srgbClr val="DAD6CC"/>
            </a:solidFill>
            <a:prstDash val="solid"/>
          </a:ln>
        </p:spPr>
      </p:sp>
      <p:sp>
        <p:nvSpPr>
          <p:cNvPr id="5" name="Text 3"/>
          <p:cNvSpPr txBox="1"/>
          <p:nvPr/>
        </p:nvSpPr>
        <p:spPr>
          <a:xfrm>
            <a:off x="777240"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1</a:t>
            </a:r>
            <a:endParaRPr lang="en-US" sz="2400" dirty="0"/>
          </a:p>
        </p:txBody>
      </p:sp>
      <p:sp>
        <p:nvSpPr>
          <p:cNvPr id="6" name="Text 4"/>
          <p:cNvSpPr txBox="1"/>
          <p:nvPr/>
        </p:nvSpPr>
        <p:spPr>
          <a:xfrm>
            <a:off x="777240"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Đọc code</a:t>
            </a:r>
            <a:endParaRPr lang="en-US" sz="1500" dirty="0"/>
          </a:p>
        </p:txBody>
      </p:sp>
      <p:sp>
        <p:nvSpPr>
          <p:cNvPr id="7" name="Text 5"/>
          <p:cNvSpPr txBox="1"/>
          <p:nvPr/>
        </p:nvSpPr>
        <p:spPr>
          <a:xfrm>
            <a:off x="777240"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Tìm chỗ kiểm tra rồi mới ghi</a:t>
            </a:r>
            <a:endParaRPr lang="en-US" sz="1300" dirty="0"/>
          </a:p>
        </p:txBody>
      </p:sp>
      <p:sp>
        <p:nvSpPr>
          <p:cNvPr id="8" name="Shape 6"/>
          <p:cNvSpPr/>
          <p:nvPr/>
        </p:nvSpPr>
        <p:spPr>
          <a:xfrm>
            <a:off x="2075688" y="2834640"/>
            <a:ext cx="128016" cy="0"/>
          </a:xfrm>
          <a:prstGeom prst="line">
            <a:avLst/>
          </a:prstGeom>
          <a:noFill/>
          <a:ln w="19050">
            <a:solidFill>
              <a:srgbClr val="7A8592"/>
            </a:solidFill>
            <a:prstDash val="solid"/>
            <a:tailEnd type="triangle"/>
          </a:ln>
        </p:spPr>
      </p:sp>
      <p:sp>
        <p:nvSpPr>
          <p:cNvPr id="9" name="Shape 7"/>
          <p:cNvSpPr/>
          <p:nvPr/>
        </p:nvSpPr>
        <p:spPr>
          <a:xfrm>
            <a:off x="2221992" y="1783080"/>
            <a:ext cx="1417320" cy="2103120"/>
          </a:xfrm>
          <a:prstGeom prst="roundRect">
            <a:avLst>
              <a:gd name="adj" fmla="val 7742"/>
            </a:avLst>
          </a:prstGeom>
          <a:solidFill>
            <a:srgbClr val="FBFAF6"/>
          </a:solidFill>
          <a:ln w="12700">
            <a:solidFill>
              <a:srgbClr val="DAD6CC"/>
            </a:solidFill>
            <a:prstDash val="solid"/>
          </a:ln>
        </p:spPr>
      </p:sp>
      <p:sp>
        <p:nvSpPr>
          <p:cNvPr id="10" name="Text 8"/>
          <p:cNvSpPr txBox="1"/>
          <p:nvPr/>
        </p:nvSpPr>
        <p:spPr>
          <a:xfrm>
            <a:off x="2359152"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2</a:t>
            </a:r>
            <a:endParaRPr lang="en-US" sz="2400" dirty="0"/>
          </a:p>
        </p:txBody>
      </p:sp>
      <p:sp>
        <p:nvSpPr>
          <p:cNvPr id="11" name="Text 9"/>
          <p:cNvSpPr txBox="1"/>
          <p:nvPr/>
        </p:nvSpPr>
        <p:spPr>
          <a:xfrm>
            <a:off x="2359152"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Chọn invariant</a:t>
            </a:r>
            <a:endParaRPr lang="en-US" sz="1500" dirty="0"/>
          </a:p>
        </p:txBody>
      </p:sp>
      <p:sp>
        <p:nvSpPr>
          <p:cNvPr id="12" name="Text 10"/>
          <p:cNvSpPr txBox="1"/>
          <p:nvPr/>
        </p:nvSpPr>
        <p:spPr>
          <a:xfrm>
            <a:off x="2359152"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7 tính chất dữ liệu phải đúng</a:t>
            </a:r>
            <a:endParaRPr lang="en-US" sz="1300" dirty="0"/>
          </a:p>
        </p:txBody>
      </p:sp>
      <p:sp>
        <p:nvSpPr>
          <p:cNvPr id="13" name="Shape 11"/>
          <p:cNvSpPr/>
          <p:nvPr/>
        </p:nvSpPr>
        <p:spPr>
          <a:xfrm>
            <a:off x="3657600" y="2834640"/>
            <a:ext cx="128016" cy="0"/>
          </a:xfrm>
          <a:prstGeom prst="line">
            <a:avLst/>
          </a:prstGeom>
          <a:noFill/>
          <a:ln w="19050">
            <a:solidFill>
              <a:srgbClr val="7A8592"/>
            </a:solidFill>
            <a:prstDash val="solid"/>
            <a:tailEnd type="triangle"/>
          </a:ln>
        </p:spPr>
      </p:sp>
      <p:sp>
        <p:nvSpPr>
          <p:cNvPr id="14" name="Shape 12"/>
          <p:cNvSpPr/>
          <p:nvPr/>
        </p:nvSpPr>
        <p:spPr>
          <a:xfrm>
            <a:off x="3803904" y="1783080"/>
            <a:ext cx="1417320" cy="2103120"/>
          </a:xfrm>
          <a:prstGeom prst="roundRect">
            <a:avLst>
              <a:gd name="adj" fmla="val 7742"/>
            </a:avLst>
          </a:prstGeom>
          <a:solidFill>
            <a:srgbClr val="FBFAF6"/>
          </a:solidFill>
          <a:ln w="12700">
            <a:solidFill>
              <a:srgbClr val="DAD6CC"/>
            </a:solidFill>
            <a:prstDash val="solid"/>
          </a:ln>
        </p:spPr>
      </p:sp>
      <p:sp>
        <p:nvSpPr>
          <p:cNvPr id="15" name="Text 13"/>
          <p:cNvSpPr txBox="1"/>
          <p:nvPr/>
        </p:nvSpPr>
        <p:spPr>
          <a:xfrm>
            <a:off x="3941064"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3</a:t>
            </a:r>
            <a:endParaRPr lang="en-US" sz="2400" dirty="0"/>
          </a:p>
        </p:txBody>
      </p:sp>
      <p:sp>
        <p:nvSpPr>
          <p:cNvPr id="16" name="Text 14"/>
          <p:cNvSpPr txBox="1"/>
          <p:nvPr/>
        </p:nvSpPr>
        <p:spPr>
          <a:xfrm>
            <a:off x="3941064"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Thiết kế test case</a:t>
            </a:r>
            <a:endParaRPr lang="en-US" sz="1500" dirty="0"/>
          </a:p>
        </p:txBody>
      </p:sp>
      <p:sp>
        <p:nvSpPr>
          <p:cNvPr id="17" name="Text 15"/>
          <p:cNvSpPr txBox="1"/>
          <p:nvPr/>
        </p:nvSpPr>
        <p:spPr>
          <a:xfrm>
            <a:off x="3941064"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8 test case TC-01 đến TC-08</a:t>
            </a:r>
            <a:endParaRPr lang="en-US" sz="1300" dirty="0"/>
          </a:p>
        </p:txBody>
      </p:sp>
      <p:sp>
        <p:nvSpPr>
          <p:cNvPr id="18" name="Shape 16"/>
          <p:cNvSpPr/>
          <p:nvPr/>
        </p:nvSpPr>
        <p:spPr>
          <a:xfrm>
            <a:off x="5239512" y="2834640"/>
            <a:ext cx="128016" cy="0"/>
          </a:xfrm>
          <a:prstGeom prst="line">
            <a:avLst/>
          </a:prstGeom>
          <a:noFill/>
          <a:ln w="19050">
            <a:solidFill>
              <a:srgbClr val="7A8592"/>
            </a:solidFill>
            <a:prstDash val="solid"/>
            <a:tailEnd type="triangle"/>
          </a:ln>
        </p:spPr>
      </p:sp>
      <p:sp>
        <p:nvSpPr>
          <p:cNvPr id="19" name="Shape 17"/>
          <p:cNvSpPr/>
          <p:nvPr/>
        </p:nvSpPr>
        <p:spPr>
          <a:xfrm>
            <a:off x="5385816" y="1783080"/>
            <a:ext cx="1417320" cy="2103120"/>
          </a:xfrm>
          <a:prstGeom prst="roundRect">
            <a:avLst>
              <a:gd name="adj" fmla="val 7742"/>
            </a:avLst>
          </a:prstGeom>
          <a:solidFill>
            <a:srgbClr val="FBFAF6"/>
          </a:solidFill>
          <a:ln w="12700">
            <a:solidFill>
              <a:srgbClr val="DAD6CC"/>
            </a:solidFill>
            <a:prstDash val="solid"/>
          </a:ln>
        </p:spPr>
      </p:sp>
      <p:sp>
        <p:nvSpPr>
          <p:cNvPr id="20" name="Text 18"/>
          <p:cNvSpPr txBox="1"/>
          <p:nvPr/>
        </p:nvSpPr>
        <p:spPr>
          <a:xfrm>
            <a:off x="5522976"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4</a:t>
            </a:r>
            <a:endParaRPr lang="en-US" sz="2400" dirty="0"/>
          </a:p>
        </p:txBody>
      </p:sp>
      <p:sp>
        <p:nvSpPr>
          <p:cNvPr id="21" name="Text 19"/>
          <p:cNvSpPr txBox="1"/>
          <p:nvPr/>
        </p:nvSpPr>
        <p:spPr>
          <a:xfrm>
            <a:off x="5522976"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Chuẩn bị dữ liệu</a:t>
            </a:r>
            <a:endParaRPr lang="en-US" sz="1500" dirty="0"/>
          </a:p>
        </p:txBody>
      </p:sp>
      <p:sp>
        <p:nvSpPr>
          <p:cNvPr id="22" name="Text 20"/>
          <p:cNvSpPr txBox="1"/>
          <p:nvPr/>
        </p:nvSpPr>
        <p:spPr>
          <a:xfrm>
            <a:off x="5522976"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Host test, 5 loại cuộc hẹn</a:t>
            </a:r>
            <a:endParaRPr lang="en-US" sz="1300" dirty="0"/>
          </a:p>
        </p:txBody>
      </p:sp>
      <p:sp>
        <p:nvSpPr>
          <p:cNvPr id="23" name="Shape 21"/>
          <p:cNvSpPr/>
          <p:nvPr/>
        </p:nvSpPr>
        <p:spPr>
          <a:xfrm>
            <a:off x="6821424" y="2834640"/>
            <a:ext cx="128016" cy="0"/>
          </a:xfrm>
          <a:prstGeom prst="line">
            <a:avLst/>
          </a:prstGeom>
          <a:noFill/>
          <a:ln w="19050">
            <a:solidFill>
              <a:srgbClr val="7A8592"/>
            </a:solidFill>
            <a:prstDash val="solid"/>
            <a:tailEnd type="triangle"/>
          </a:ln>
        </p:spPr>
      </p:sp>
      <p:sp>
        <p:nvSpPr>
          <p:cNvPr id="24" name="Shape 22"/>
          <p:cNvSpPr/>
          <p:nvPr/>
        </p:nvSpPr>
        <p:spPr>
          <a:xfrm>
            <a:off x="6967728" y="1783080"/>
            <a:ext cx="1417320" cy="2103120"/>
          </a:xfrm>
          <a:prstGeom prst="roundRect">
            <a:avLst>
              <a:gd name="adj" fmla="val 7742"/>
            </a:avLst>
          </a:prstGeom>
          <a:solidFill>
            <a:srgbClr val="12202B"/>
          </a:solidFill>
          <a:ln w="12700">
            <a:solidFill>
              <a:srgbClr val="12202B"/>
            </a:solidFill>
            <a:prstDash val="solid"/>
          </a:ln>
        </p:spPr>
      </p:sp>
      <p:sp>
        <p:nvSpPr>
          <p:cNvPr id="25" name="Text 23"/>
          <p:cNvSpPr txBox="1"/>
          <p:nvPr/>
        </p:nvSpPr>
        <p:spPr>
          <a:xfrm>
            <a:off x="7104888" y="1874520"/>
            <a:ext cx="457200" cy="457200"/>
          </a:xfrm>
          <a:prstGeom prst="rect">
            <a:avLst/>
          </a:prstGeom>
          <a:noFill/>
          <a:ln/>
        </p:spPr>
        <p:txBody>
          <a:bodyPr wrap="square" lIns="0" tIns="0" rIns="0" bIns="0" rtlCol="0" anchor="ctr"/>
          <a:lstStyle/>
          <a:p>
            <a:pPr indent="0" marL="0">
              <a:buNone/>
            </a:pPr>
            <a:r>
              <a:rPr lang="en-US" sz="2400" b="1" dirty="0">
                <a:solidFill>
                  <a:srgbClr val="E07B39"/>
                </a:solidFill>
                <a:latin typeface="Calibri" pitchFamily="34" charset="0"/>
                <a:ea typeface="Calibri" pitchFamily="34" charset="-122"/>
                <a:cs typeface="Calibri" pitchFamily="34" charset="-120"/>
              </a:rPr>
              <a:t>5</a:t>
            </a:r>
            <a:endParaRPr lang="en-US" sz="2400" dirty="0"/>
          </a:p>
        </p:txBody>
      </p:sp>
      <p:sp>
        <p:nvSpPr>
          <p:cNvPr id="26" name="Text 24"/>
          <p:cNvSpPr txBox="1"/>
          <p:nvPr/>
        </p:nvSpPr>
        <p:spPr>
          <a:xfrm>
            <a:off x="7104888" y="2377440"/>
            <a:ext cx="1143000" cy="548640"/>
          </a:xfrm>
          <a:prstGeom prst="rect">
            <a:avLst/>
          </a:prstGeom>
          <a:noFill/>
          <a:ln/>
        </p:spPr>
        <p:txBody>
          <a:bodyPr wrap="square" lIns="0" tIns="0" rIns="0" bIns="0" rtlCol="0" anchor="t"/>
          <a:lstStyle/>
          <a:p>
            <a:pPr indent="0" marL="0">
              <a:buNone/>
            </a:pPr>
            <a:r>
              <a:rPr lang="en-US" sz="1500" b="1" dirty="0">
                <a:solidFill>
                  <a:srgbClr val="F4F2EC"/>
                </a:solidFill>
                <a:latin typeface="Calibri" pitchFamily="34" charset="0"/>
                <a:ea typeface="Calibri" pitchFamily="34" charset="-122"/>
                <a:cs typeface="Calibri" pitchFamily="34" charset="-120"/>
              </a:rPr>
              <a:t>Chạy</a:t>
            </a:r>
            <a:endParaRPr lang="en-US" sz="1500" dirty="0"/>
          </a:p>
        </p:txBody>
      </p:sp>
      <p:sp>
        <p:nvSpPr>
          <p:cNvPr id="27" name="Text 25"/>
          <p:cNvSpPr txBox="1"/>
          <p:nvPr/>
        </p:nvSpPr>
        <p:spPr>
          <a:xfrm>
            <a:off x="7104888" y="2971800"/>
            <a:ext cx="1143000" cy="822960"/>
          </a:xfrm>
          <a:prstGeom prst="rect">
            <a:avLst/>
          </a:prstGeom>
          <a:noFill/>
          <a:ln/>
        </p:spPr>
        <p:txBody>
          <a:bodyPr wrap="square" lIns="0" tIns="0" rIns="0" bIns="0" rtlCol="0" anchor="t"/>
          <a:lstStyle/>
          <a:p>
            <a:pPr indent="0" marL="0">
              <a:buNone/>
            </a:pPr>
            <a:r>
              <a:rPr lang="en-US" sz="1300" dirty="0">
                <a:solidFill>
                  <a:srgbClr val="B8C6D2"/>
                </a:solidFill>
                <a:latin typeface="Calibri" pitchFamily="34" charset="0"/>
                <a:ea typeface="Calibri" pitchFamily="34" charset="-122"/>
                <a:cs typeface="Calibri" pitchFamily="34" charset="-120"/>
              </a:rPr>
              <a:t>Đồng thời (k6) và tuần tự</a:t>
            </a:r>
            <a:endParaRPr lang="en-US" sz="1300" dirty="0"/>
          </a:p>
        </p:txBody>
      </p:sp>
      <p:sp>
        <p:nvSpPr>
          <p:cNvPr id="28" name="Shape 26"/>
          <p:cNvSpPr/>
          <p:nvPr/>
        </p:nvSpPr>
        <p:spPr>
          <a:xfrm>
            <a:off x="8403336" y="2834640"/>
            <a:ext cx="128016" cy="0"/>
          </a:xfrm>
          <a:prstGeom prst="line">
            <a:avLst/>
          </a:prstGeom>
          <a:noFill/>
          <a:ln w="19050">
            <a:solidFill>
              <a:srgbClr val="7A8592"/>
            </a:solidFill>
            <a:prstDash val="solid"/>
            <a:tailEnd type="triangle"/>
          </a:ln>
        </p:spPr>
      </p:sp>
      <p:sp>
        <p:nvSpPr>
          <p:cNvPr id="29" name="Shape 27"/>
          <p:cNvSpPr/>
          <p:nvPr/>
        </p:nvSpPr>
        <p:spPr>
          <a:xfrm>
            <a:off x="8549640" y="1783080"/>
            <a:ext cx="1417320" cy="2103120"/>
          </a:xfrm>
          <a:prstGeom prst="roundRect">
            <a:avLst>
              <a:gd name="adj" fmla="val 7742"/>
            </a:avLst>
          </a:prstGeom>
          <a:solidFill>
            <a:srgbClr val="FBFAF6"/>
          </a:solidFill>
          <a:ln w="12700">
            <a:solidFill>
              <a:srgbClr val="DAD6CC"/>
            </a:solidFill>
            <a:prstDash val="solid"/>
          </a:ln>
        </p:spPr>
      </p:sp>
      <p:sp>
        <p:nvSpPr>
          <p:cNvPr id="30" name="Text 28"/>
          <p:cNvSpPr txBox="1"/>
          <p:nvPr/>
        </p:nvSpPr>
        <p:spPr>
          <a:xfrm>
            <a:off x="8686800"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6</a:t>
            </a:r>
            <a:endParaRPr lang="en-US" sz="2400" dirty="0"/>
          </a:p>
        </p:txBody>
      </p:sp>
      <p:sp>
        <p:nvSpPr>
          <p:cNvPr id="31" name="Text 29"/>
          <p:cNvSpPr txBox="1"/>
          <p:nvPr/>
        </p:nvSpPr>
        <p:spPr>
          <a:xfrm>
            <a:off x="8686800"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Kiểm trong CSDL</a:t>
            </a:r>
            <a:endParaRPr lang="en-US" sz="1500" dirty="0"/>
          </a:p>
        </p:txBody>
      </p:sp>
      <p:sp>
        <p:nvSpPr>
          <p:cNvPr id="32" name="Text 30"/>
          <p:cNvSpPr txBox="1"/>
          <p:nvPr/>
        </p:nvSpPr>
        <p:spPr>
          <a:xfrm>
            <a:off x="8686800"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SQL kiểm từng invariant</a:t>
            </a:r>
            <a:endParaRPr lang="en-US" sz="1300" dirty="0"/>
          </a:p>
        </p:txBody>
      </p:sp>
      <p:sp>
        <p:nvSpPr>
          <p:cNvPr id="33" name="Shape 31"/>
          <p:cNvSpPr/>
          <p:nvPr/>
        </p:nvSpPr>
        <p:spPr>
          <a:xfrm>
            <a:off x="9985248" y="2834640"/>
            <a:ext cx="128016" cy="0"/>
          </a:xfrm>
          <a:prstGeom prst="line">
            <a:avLst/>
          </a:prstGeom>
          <a:noFill/>
          <a:ln w="19050">
            <a:solidFill>
              <a:srgbClr val="7A8592"/>
            </a:solidFill>
            <a:prstDash val="solid"/>
            <a:tailEnd type="triangle"/>
          </a:ln>
        </p:spPr>
      </p:sp>
      <p:sp>
        <p:nvSpPr>
          <p:cNvPr id="34" name="Shape 32"/>
          <p:cNvSpPr/>
          <p:nvPr/>
        </p:nvSpPr>
        <p:spPr>
          <a:xfrm>
            <a:off x="10131552" y="1783080"/>
            <a:ext cx="1417320" cy="2103120"/>
          </a:xfrm>
          <a:prstGeom prst="roundRect">
            <a:avLst>
              <a:gd name="adj" fmla="val 7742"/>
            </a:avLst>
          </a:prstGeom>
          <a:solidFill>
            <a:srgbClr val="FBFAF6"/>
          </a:solidFill>
          <a:ln w="12700">
            <a:solidFill>
              <a:srgbClr val="DAD6CC"/>
            </a:solidFill>
            <a:prstDash val="solid"/>
          </a:ln>
        </p:spPr>
      </p:sp>
      <p:sp>
        <p:nvSpPr>
          <p:cNvPr id="35" name="Text 33"/>
          <p:cNvSpPr txBox="1"/>
          <p:nvPr/>
        </p:nvSpPr>
        <p:spPr>
          <a:xfrm>
            <a:off x="10268712"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7</a:t>
            </a:r>
            <a:endParaRPr lang="en-US" sz="2400" dirty="0"/>
          </a:p>
        </p:txBody>
      </p:sp>
      <p:sp>
        <p:nvSpPr>
          <p:cNvPr id="36" name="Text 34"/>
          <p:cNvSpPr txBox="1"/>
          <p:nvPr/>
        </p:nvSpPr>
        <p:spPr>
          <a:xfrm>
            <a:off x="10268712"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Nguyên nhân gốc</a:t>
            </a:r>
            <a:endParaRPr lang="en-US" sz="1500" dirty="0"/>
          </a:p>
        </p:txBody>
      </p:sp>
      <p:sp>
        <p:nvSpPr>
          <p:cNvPr id="37" name="Text 35"/>
          <p:cNvSpPr txBox="1"/>
          <p:nvPr/>
        </p:nvSpPr>
        <p:spPr>
          <a:xfrm>
            <a:off x="10268712"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Đọc code, thử khắc phục</a:t>
            </a:r>
            <a:endParaRPr lang="en-US" sz="1300" dirty="0"/>
          </a:p>
        </p:txBody>
      </p:sp>
      <p:sp>
        <p:nvSpPr>
          <p:cNvPr id="38" name="Text 36"/>
          <p:cNvSpPr txBox="1"/>
          <p:nvPr/>
        </p:nvSpPr>
        <p:spPr>
          <a:xfrm>
            <a:off x="640080" y="4206240"/>
            <a:ext cx="10908792" cy="36576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Tiêu chí pass / fail</a:t>
            </a:r>
            <a:endParaRPr lang="en-US" sz="2000" dirty="0"/>
          </a:p>
        </p:txBody>
      </p:sp>
      <p:sp>
        <p:nvSpPr>
          <p:cNvPr id="39" name="Text 37"/>
          <p:cNvSpPr txBox="1"/>
          <p:nvPr/>
        </p:nvSpPr>
        <p:spPr>
          <a:xfrm>
            <a:off x="640080" y="4617720"/>
            <a:ext cx="10908792" cy="15544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Một vòng PASS khi mọi invariant đúng và không có phản hồi 5xx hay lỗi kết nối.</a:t>
            </a:r>
            <a:endParaRPr lang="en-US" sz="1600" dirty="0"/>
          </a:p>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Test case PASS khi cả 10 vòng PASS; một vòng vi phạm là FAIL.</a:t>
            </a:r>
            <a:endParaRPr lang="en-US" sz="1600" dirty="0"/>
          </a:p>
          <a:p>
            <a:pPr marL="342900" indent="-342900">
              <a:buSzPct val="100000"/>
              <a:buChar char="•"/>
            </a:pPr>
            <a:r>
              <a:rPr lang="en-US" sz="1600" dirty="0">
                <a:solidFill>
                  <a:srgbClr val="4A5866"/>
                </a:solidFill>
                <a:latin typeface="Calibri" pitchFamily="34" charset="0"/>
                <a:ea typeface="Calibri" pitchFamily="34" charset="-122"/>
                <a:cs typeface="Calibri" pitchFamily="34" charset="-120"/>
              </a:rPr>
              <a:t>Là lỗi race khi gửi đồng thời FAIL nhưng gửi tuần tự PASS; nếu tuần tự cũng FAIL thì là lỗi logic.</a:t>
            </a:r>
            <a:endParaRPr lang="en-US" sz="1600" dirty="0"/>
          </a:p>
        </p:txBody>
      </p:sp>
      <p:sp>
        <p:nvSpPr>
          <p:cNvPr id="40" name="Text 38"/>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Chi tiết: docs/QUY_TRINH_TEST.md mục 1</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06 · DANH SÁCH TEST CASE</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8 test case, mỗi cái chạy 10 vòng</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914400"/>
                <a:gridCol w="4754880"/>
                <a:gridCol w="3931920"/>
                <a:gridCol w="1307592"/>
              </a:tblGrid>
              <a:tr h="429768">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Input (gửi đồng thời)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Kết quả mong đợi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Invariant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người đặt cùng một giờ 09:00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người 200, 9 người 409</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TC-02</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giờ lệch 3 phút, event 30 và 60 phút, chồng lấn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Chỉ 1 booking hiệu lực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6 người đặt event 3 ghế, giờ trống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 người 200, 3 người 409; 3 ghế</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I2, I2b</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6 người tranh 2 ghế còn lại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 người 200, 4 người 409</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I2, I2b</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người đặt event cần xác nhận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Chỉ 1 booking chờ xác nhận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5 lệnh đổi lịch cùng một booking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lệnh thành công, booking gốc bị hủy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TC-07</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lệnh hủy + 1 lệnh đổi lịch cùng booking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Không thể cả hai cùng thành công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TC-08</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 người đặt 8 giờ khác nhau, giới hạn 1/ngày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Chỉ 1 người thành công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669280"/>
            <a:ext cx="10908792" cy="54864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Dữ liệu: host k15host (UTC, rảnh 24/7); 5 loại cuộc hẹn; mỗi request dùng một email người đặt khác nhau. I7 (không có 5xx) áp dụng cho mọi test case.</a:t>
            </a:r>
            <a:endParaRPr lang="en-US" sz="1400" dirty="0"/>
          </a:p>
        </p:txBody>
      </p:sp>
      <p:sp>
        <p:nvSpPr>
          <p:cNvPr id="6"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Đầy đủ tiền điều kiện và invariant: docs/QUY_TRINH_TEST.md mục 2</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E07B39"/>
                </a:solidFill>
                <a:latin typeface="Consolas" pitchFamily="34" charset="0"/>
                <a:ea typeface="Consolas" pitchFamily="34" charset="-122"/>
                <a:cs typeface="Consolas" pitchFamily="34" charset="-120"/>
              </a:rPr>
              <a:t>07 · KẾ HOẠCH ÁP DỤNG K15</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F4F2EC"/>
                </a:solidFill>
                <a:latin typeface="Calibri" pitchFamily="34" charset="0"/>
                <a:ea typeface="Calibri" pitchFamily="34" charset="-122"/>
                <a:cs typeface="Calibri" pitchFamily="34" charset="-120"/>
              </a:rPr>
              <a:t>Phạm vi, giả định và tiêu chí đánh giá</a:t>
            </a:r>
            <a:endParaRPr lang="en-US" sz="3400" dirty="0"/>
          </a:p>
        </p:txBody>
      </p:sp>
      <p:sp>
        <p:nvSpPr>
          <p:cNvPr id="4" name="Shape 2"/>
          <p:cNvSpPr/>
          <p:nvPr/>
        </p:nvSpPr>
        <p:spPr>
          <a:xfrm>
            <a:off x="640080" y="1691640"/>
            <a:ext cx="3422904" cy="4297680"/>
          </a:xfrm>
          <a:prstGeom prst="roundRect">
            <a:avLst>
              <a:gd name="adj" fmla="val 3206"/>
            </a:avLst>
          </a:prstGeom>
          <a:solidFill>
            <a:srgbClr val="1D3142"/>
          </a:solidFill>
          <a:ln w="12700">
            <a:solidFill>
              <a:srgbClr val="1D3142"/>
            </a:solidFill>
            <a:prstDash val="solid"/>
          </a:ln>
        </p:spPr>
      </p:sp>
      <p:sp>
        <p:nvSpPr>
          <p:cNvPr id="5" name="Text 3"/>
          <p:cNvSpPr txBox="1"/>
          <p:nvPr/>
        </p:nvSpPr>
        <p:spPr>
          <a:xfrm>
            <a:off x="914400" y="1874520"/>
            <a:ext cx="2874264" cy="365760"/>
          </a:xfrm>
          <a:prstGeom prst="rect">
            <a:avLst/>
          </a:prstGeom>
          <a:noFill/>
          <a:ln/>
        </p:spPr>
        <p:txBody>
          <a:bodyPr wrap="square" lIns="0" tIns="0" rIns="0" bIns="0" rtlCol="0" anchor="ctr"/>
          <a:lstStyle/>
          <a:p>
            <a:pPr indent="0" marL="0">
              <a:buNone/>
            </a:pPr>
            <a:r>
              <a:rPr lang="en-US" sz="1400" b="1" dirty="0">
                <a:solidFill>
                  <a:srgbClr val="E07B39"/>
                </a:solidFill>
                <a:latin typeface="Consolas" pitchFamily="34" charset="0"/>
                <a:ea typeface="Consolas" pitchFamily="34" charset="-122"/>
                <a:cs typeface="Consolas" pitchFamily="34" charset="-120"/>
              </a:rPr>
              <a:t>PHẠM VI</a:t>
            </a:r>
            <a:endParaRPr lang="en-US" sz="1400" dirty="0"/>
          </a:p>
        </p:txBody>
      </p:sp>
      <p:sp>
        <p:nvSpPr>
          <p:cNvPr id="6" name="Text 4"/>
          <p:cNvSpPr txBox="1"/>
          <p:nvPr/>
        </p:nvSpPr>
        <p:spPr>
          <a:xfrm>
            <a:off x="914400"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Đặt lịch 1-1 và event có ghế</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Event cần xác nhận (PENDING)</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Đổi lịch, hủy lịch</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Giới hạn số booking/ngày</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Ngoài phạm vi: lịch ngoài, thanh toán, team, API v2</a:t>
            </a:r>
            <a:endParaRPr lang="en-US" sz="1500" dirty="0"/>
          </a:p>
        </p:txBody>
      </p:sp>
      <p:sp>
        <p:nvSpPr>
          <p:cNvPr id="7" name="Shape 5"/>
          <p:cNvSpPr/>
          <p:nvPr/>
        </p:nvSpPr>
        <p:spPr>
          <a:xfrm>
            <a:off x="4383024" y="1691640"/>
            <a:ext cx="3422904" cy="4297680"/>
          </a:xfrm>
          <a:prstGeom prst="roundRect">
            <a:avLst>
              <a:gd name="adj" fmla="val 3206"/>
            </a:avLst>
          </a:prstGeom>
          <a:solidFill>
            <a:srgbClr val="1D3142"/>
          </a:solidFill>
          <a:ln w="12700">
            <a:solidFill>
              <a:srgbClr val="1D3142"/>
            </a:solidFill>
            <a:prstDash val="solid"/>
          </a:ln>
        </p:spPr>
      </p:sp>
      <p:sp>
        <p:nvSpPr>
          <p:cNvPr id="8" name="Text 6"/>
          <p:cNvSpPr txBox="1"/>
          <p:nvPr/>
        </p:nvSpPr>
        <p:spPr>
          <a:xfrm>
            <a:off x="4657344" y="1874520"/>
            <a:ext cx="2874264" cy="365760"/>
          </a:xfrm>
          <a:prstGeom prst="rect">
            <a:avLst/>
          </a:prstGeom>
          <a:noFill/>
          <a:ln/>
        </p:spPr>
        <p:txBody>
          <a:bodyPr wrap="square" lIns="0" tIns="0" rIns="0" bIns="0" rtlCol="0" anchor="ctr"/>
          <a:lstStyle/>
          <a:p>
            <a:pPr indent="0" marL="0">
              <a:buNone/>
            </a:pPr>
            <a:r>
              <a:rPr lang="en-US" sz="1400" b="1" dirty="0">
                <a:solidFill>
                  <a:srgbClr val="7FB0FF"/>
                </a:solidFill>
                <a:latin typeface="Consolas" pitchFamily="34" charset="0"/>
                <a:ea typeface="Consolas" pitchFamily="34" charset="-122"/>
                <a:cs typeface="Consolas" pitchFamily="34" charset="-120"/>
              </a:rPr>
              <a:t>GIẢ ĐỊNH</a:t>
            </a:r>
            <a:endParaRPr lang="en-US" sz="1400" dirty="0"/>
          </a:p>
        </p:txBody>
      </p:sp>
      <p:sp>
        <p:nvSpPr>
          <p:cNvPr id="9" name="Text 7"/>
          <p:cNvSpPr txBox="1"/>
          <p:nvPr/>
        </p:nvSpPr>
        <p:spPr>
          <a:xfrm>
            <a:off x="4657344"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Một instance, một PostgreSQL, chạy local</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Chạy yarn dev; production có thể rộng cửa sổ hơn</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Host không nối lịch ngoài</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Rate limit tắt</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Mỗi vòng dùng một ngày riêng</a:t>
            </a:r>
            <a:endParaRPr lang="en-US" sz="1500" dirty="0"/>
          </a:p>
        </p:txBody>
      </p:sp>
      <p:sp>
        <p:nvSpPr>
          <p:cNvPr id="10" name="Shape 8"/>
          <p:cNvSpPr/>
          <p:nvPr/>
        </p:nvSpPr>
        <p:spPr>
          <a:xfrm>
            <a:off x="8125968" y="1691640"/>
            <a:ext cx="3422904" cy="4297680"/>
          </a:xfrm>
          <a:prstGeom prst="roundRect">
            <a:avLst>
              <a:gd name="adj" fmla="val 3206"/>
            </a:avLst>
          </a:prstGeom>
          <a:solidFill>
            <a:srgbClr val="1D3142"/>
          </a:solidFill>
          <a:ln w="12700">
            <a:solidFill>
              <a:srgbClr val="1D3142"/>
            </a:solidFill>
            <a:prstDash val="solid"/>
          </a:ln>
        </p:spPr>
      </p:sp>
      <p:sp>
        <p:nvSpPr>
          <p:cNvPr id="11" name="Text 9"/>
          <p:cNvSpPr txBox="1"/>
          <p:nvPr/>
        </p:nvSpPr>
        <p:spPr>
          <a:xfrm>
            <a:off x="8400288" y="1874520"/>
            <a:ext cx="2874264" cy="365760"/>
          </a:xfrm>
          <a:prstGeom prst="rect">
            <a:avLst/>
          </a:prstGeom>
          <a:noFill/>
          <a:ln/>
        </p:spPr>
        <p:txBody>
          <a:bodyPr wrap="square" lIns="0" tIns="0" rIns="0" bIns="0" rtlCol="0" anchor="ctr"/>
          <a:lstStyle/>
          <a:p>
            <a:pPr indent="0" marL="0">
              <a:buNone/>
            </a:pPr>
            <a:r>
              <a:rPr lang="en-US" sz="1400" b="1" dirty="0">
                <a:solidFill>
                  <a:srgbClr val="E07B39"/>
                </a:solidFill>
                <a:latin typeface="Consolas" pitchFamily="34" charset="0"/>
                <a:ea typeface="Consolas" pitchFamily="34" charset="-122"/>
                <a:cs typeface="Consolas" pitchFamily="34" charset="-120"/>
              </a:rPr>
              <a:t>TIÊU CHÍ PASS / FAIL</a:t>
            </a:r>
            <a:endParaRPr lang="en-US" sz="1400" dirty="0"/>
          </a:p>
        </p:txBody>
      </p:sp>
      <p:sp>
        <p:nvSpPr>
          <p:cNvPr id="12" name="Text 10"/>
          <p:cNvSpPr txBox="1"/>
          <p:nvPr/>
        </p:nvSpPr>
        <p:spPr>
          <a:xfrm>
            <a:off x="8400288"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Oracle là invariant trong CSDL, không phải mã HTTP</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I1: host không có 2 booking chồng giờ</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I2: không vượt số ghế</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I4–I6: đổi lịch, hủy, giới hạn</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FAIL khi 1 vòng vi phạm; so với nhóm đối chứng tuần tự</a:t>
            </a:r>
            <a:endParaRPr lang="en-US" sz="1500" dirty="0"/>
          </a:p>
        </p:txBody>
      </p:sp>
      <p:sp>
        <p:nvSpPr>
          <p:cNvPr id="13" name="Text 11"/>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8C9AA8"/>
                </a:solidFill>
                <a:latin typeface="Calibri" pitchFamily="34" charset="0"/>
                <a:ea typeface="Calibri" pitchFamily="34" charset="-122"/>
                <a:cs typeface="Calibri" pitchFamily="34" charset="-120"/>
              </a:rPr>
              <a:t>Chi tiết: BAO_CAO.md phần D, E</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08 · CHI PHÍ TEST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Chi phí đo thật: 0 đồng, khoảng 12 phút máy</a:t>
            </a:r>
            <a:endParaRPr lang="en-US" sz="3400" dirty="0"/>
          </a:p>
        </p:txBody>
      </p:sp>
      <p:sp>
        <p:nvSpPr>
          <p:cNvPr id="4" name="Shape 2"/>
          <p:cNvSpPr/>
          <p:nvPr/>
        </p:nvSpPr>
        <p:spPr>
          <a:xfrm>
            <a:off x="640080" y="1691640"/>
            <a:ext cx="2521458" cy="1554480"/>
          </a:xfrm>
          <a:prstGeom prst="roundRect">
            <a:avLst>
              <a:gd name="adj" fmla="val 7059"/>
            </a:avLst>
          </a:prstGeom>
          <a:solidFill>
            <a:srgbClr val="FBFAF6"/>
          </a:solidFill>
          <a:ln w="12700">
            <a:solidFill>
              <a:srgbClr val="DAD6CC"/>
            </a:solidFill>
            <a:prstDash val="solid"/>
          </a:ln>
        </p:spPr>
      </p:sp>
      <p:sp>
        <p:nvSpPr>
          <p:cNvPr id="5" name="Text 3"/>
          <p:cNvSpPr txBox="1"/>
          <p:nvPr/>
        </p:nvSpPr>
        <p:spPr>
          <a:xfrm>
            <a:off x="822960"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0 đồng</a:t>
            </a:r>
            <a:endParaRPr lang="en-US" sz="3200" dirty="0"/>
          </a:p>
        </p:txBody>
      </p:sp>
      <p:sp>
        <p:nvSpPr>
          <p:cNvPr id="6" name="Text 4"/>
          <p:cNvSpPr txBox="1"/>
          <p:nvPr/>
        </p:nvSpPr>
        <p:spPr>
          <a:xfrm>
            <a:off x="822960"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Công cụ miễn phí, chạy trên máy cá nhân</a:t>
            </a:r>
            <a:endParaRPr lang="en-US" sz="1400" dirty="0"/>
          </a:p>
        </p:txBody>
      </p:sp>
      <p:sp>
        <p:nvSpPr>
          <p:cNvPr id="7" name="Shape 5"/>
          <p:cNvSpPr/>
          <p:nvPr/>
        </p:nvSpPr>
        <p:spPr>
          <a:xfrm>
            <a:off x="3435858" y="1691640"/>
            <a:ext cx="2521458" cy="1554480"/>
          </a:xfrm>
          <a:prstGeom prst="roundRect">
            <a:avLst>
              <a:gd name="adj" fmla="val 7059"/>
            </a:avLst>
          </a:prstGeom>
          <a:solidFill>
            <a:srgbClr val="FBFAF6"/>
          </a:solidFill>
          <a:ln w="12700">
            <a:solidFill>
              <a:srgbClr val="DAD6CC"/>
            </a:solidFill>
            <a:prstDash val="solid"/>
          </a:ln>
        </p:spPr>
      </p:sp>
      <p:sp>
        <p:nvSpPr>
          <p:cNvPr id="8" name="Text 6"/>
          <p:cNvSpPr txBox="1"/>
          <p:nvPr/>
        </p:nvSpPr>
        <p:spPr>
          <a:xfrm>
            <a:off x="3618738"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2 080</a:t>
            </a:r>
            <a:endParaRPr lang="en-US" sz="3200" dirty="0"/>
          </a:p>
        </p:txBody>
      </p:sp>
      <p:sp>
        <p:nvSpPr>
          <p:cNvPr id="9" name="Text 7"/>
          <p:cNvSpPr txBox="1"/>
          <p:nvPr/>
        </p:nvSpPr>
        <p:spPr>
          <a:xfrm>
            <a:off x="3618738"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Request đã gửi trong mọi lần chạy</a:t>
            </a:r>
            <a:endParaRPr lang="en-US" sz="1400" dirty="0"/>
          </a:p>
        </p:txBody>
      </p:sp>
      <p:sp>
        <p:nvSpPr>
          <p:cNvPr id="10" name="Shape 8"/>
          <p:cNvSpPr/>
          <p:nvPr/>
        </p:nvSpPr>
        <p:spPr>
          <a:xfrm>
            <a:off x="6231636" y="1691640"/>
            <a:ext cx="2521458" cy="1554480"/>
          </a:xfrm>
          <a:prstGeom prst="roundRect">
            <a:avLst>
              <a:gd name="adj" fmla="val 7059"/>
            </a:avLst>
          </a:prstGeom>
          <a:solidFill>
            <a:srgbClr val="FBFAF6"/>
          </a:solidFill>
          <a:ln w="12700">
            <a:solidFill>
              <a:srgbClr val="DAD6CC"/>
            </a:solidFill>
            <a:prstDash val="solid"/>
          </a:ln>
        </p:spPr>
      </p:sp>
      <p:sp>
        <p:nvSpPr>
          <p:cNvPr id="11" name="Text 9"/>
          <p:cNvSpPr txBox="1"/>
          <p:nvPr/>
        </p:nvSpPr>
        <p:spPr>
          <a:xfrm>
            <a:off x="6414516"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 12 phút</a:t>
            </a:r>
            <a:endParaRPr lang="en-US" sz="3200" dirty="0"/>
          </a:p>
        </p:txBody>
      </p:sp>
      <p:sp>
        <p:nvSpPr>
          <p:cNvPr id="12" name="Text 10"/>
          <p:cNvSpPr txBox="1"/>
          <p:nvPr/>
        </p:nvSpPr>
        <p:spPr>
          <a:xfrm>
            <a:off x="6414516"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Tổng thời gian máy chạy test</a:t>
            </a:r>
            <a:endParaRPr lang="en-US" sz="1400" dirty="0"/>
          </a:p>
        </p:txBody>
      </p:sp>
      <p:sp>
        <p:nvSpPr>
          <p:cNvPr id="13" name="Shape 11"/>
          <p:cNvSpPr/>
          <p:nvPr/>
        </p:nvSpPr>
        <p:spPr>
          <a:xfrm>
            <a:off x="9027414" y="1691640"/>
            <a:ext cx="2521458" cy="1554480"/>
          </a:xfrm>
          <a:prstGeom prst="roundRect">
            <a:avLst>
              <a:gd name="adj" fmla="val 7059"/>
            </a:avLst>
          </a:prstGeom>
          <a:solidFill>
            <a:srgbClr val="FBFAF6"/>
          </a:solidFill>
          <a:ln w="12700">
            <a:solidFill>
              <a:srgbClr val="DAD6CC"/>
            </a:solidFill>
            <a:prstDash val="solid"/>
          </a:ln>
        </p:spPr>
      </p:sp>
      <p:sp>
        <p:nvSpPr>
          <p:cNvPr id="14" name="Text 12"/>
          <p:cNvSpPr txBox="1"/>
          <p:nvPr/>
        </p:nvSpPr>
        <p:spPr>
          <a:xfrm>
            <a:off x="9210294"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 970</a:t>
            </a:r>
            <a:endParaRPr lang="en-US" sz="3200" dirty="0"/>
          </a:p>
        </p:txBody>
      </p:sp>
      <p:sp>
        <p:nvSpPr>
          <p:cNvPr id="15" name="Text 13"/>
          <p:cNvSpPr txBox="1"/>
          <p:nvPr/>
        </p:nvSpPr>
        <p:spPr>
          <a:xfrm>
            <a:off x="9210294"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Dòng mã bộ test (Node.js, k6, SQL)</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3520440"/>
          <a:ext cx="10908792" cy="914400"/>
        </p:xfrm>
        <a:graphic>
          <a:graphicData uri="http://schemas.openxmlformats.org/drawingml/2006/table">
            <a:tbl>
              <a:tblPr/>
              <a:tblGrid>
                <a:gridCol w="6583680"/>
                <a:gridCol w="2011680"/>
                <a:gridCol w="2313432"/>
              </a:tblGrid>
              <a:tr h="384048">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Lần chạy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Request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Thời gian máy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Đồng thời chính (8 test case × 10 vòng)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570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150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Tuần tự đối chứng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570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22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Độ nhạy: chỉ 2 request, 20 vòng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164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Thí nghiệm khắc phục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380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85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Đo cửa sổ race (18 mốc độ trễ)</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360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300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17" name="Text 14"/>
          <p:cNvSpPr txBox="1"/>
          <p:nvPr/>
        </p:nvSpPr>
        <p:spPr>
          <a:xfrm>
            <a:off x="640080" y="5943600"/>
            <a:ext cx="10908792" cy="365760"/>
          </a:xfrm>
          <a:prstGeom prst="rect">
            <a:avLst/>
          </a:prstGeom>
          <a:noFill/>
          <a:ln/>
        </p:spPr>
        <p:txBody>
          <a:bodyPr wrap="square" lIns="0" tIns="0" rIns="0" bIns="0" rtlCol="0" anchor="ctr"/>
          <a:lstStyle/>
          <a:p>
            <a:pPr indent="0" marL="0">
              <a:buNone/>
            </a:pPr>
            <a:r>
              <a:rPr lang="en-US" sz="1400" dirty="0">
                <a:solidFill>
                  <a:srgbClr val="4A5866"/>
                </a:solidFill>
                <a:latin typeface="Calibri" pitchFamily="34" charset="0"/>
                <a:ea typeface="Calibri" pitchFamily="34" charset="-122"/>
                <a:cs typeface="Calibri" pitchFamily="34" charset="-120"/>
              </a:rPr>
              <a:t>Công sức nhóm: ước lượng 34–46 người-giờ (chưa theo dõi giờ thực tế). Máy: MacBook Apple Silicon 10 nhân, 32 GB RAM.</a:t>
            </a:r>
            <a:endParaRPr lang="en-US" sz="1400" dirty="0"/>
          </a:p>
        </p:txBody>
      </p:sp>
      <p:sp>
        <p:nvSpPr>
          <p:cNvPr id="18" name="Text 15"/>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Số liệu lấy từ summary.json của từng lần chạy: docs/QUY_TRINH_TEST.md mục 3</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09 · KẾT QUẢ TEST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6 trên 8 test case phát hiện lỗi</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4023360"/>
                <a:gridCol w="1828800"/>
                <a:gridCol w="1828800"/>
                <a:gridCol w="2194560"/>
                <a:gridCol w="1033272"/>
              </a:tblGrid>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Test case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Đồng thời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Tuần tự</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Kết luận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Lỗi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TC-01 cùng một giờ</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Đúng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TC-02 giờ chồng lấn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TC-03 ghế đầu tiên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D2</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TC-04 ghế còn lại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Đúng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TC-05 chờ xác nhận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TC-06 đổi lịch lặp</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logic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TC-07 hủy và đổi lịch</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TC-08 giới hạn 1/ngày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bl>
          </a:graphicData>
        </a:graphic>
      </p:graphicFrame>
      <p:sp>
        <p:nvSpPr>
          <p:cNvPr id="5" name="Text 2"/>
          <p:cNvSpPr txBox="1"/>
          <p:nvPr/>
        </p:nvSpPr>
        <p:spPr>
          <a:xfrm>
            <a:off x="640080" y="5577840"/>
            <a:ext cx="10908792" cy="64008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Vòng vi phạm trên 10 vòng. Mã HTTP đều là 200 nhưng dữ liệu trong CSDL sai. Chỉ cần 2 request đồng thời, TC-02 vi phạm ở 20/20 vòng.</a:t>
            </a:r>
            <a:endParaRPr lang="en-US" sz="1500" dirty="0"/>
          </a:p>
        </p:txBody>
      </p:sp>
      <p:sp>
        <p:nvSpPr>
          <p:cNvPr id="6"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Lượt chạy chính thức 18/10/2026 · docs/KET_QUA_TEST_GIUA_KY.md · race-tests/results/giua-ky-race</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10 · CHẠY LẠI TRÊN MÁY THỨ HAI</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Máy Windows cho cùng kết quả: khớp 8/8</a:t>
            </a:r>
            <a:endParaRPr lang="en-US" sz="3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3291840"/>
                <a:gridCol w="2103120"/>
                <a:gridCol w="2377440"/>
                <a:gridCol w="2194560"/>
                <a:gridCol w="941832"/>
              </a:tblGrid>
              <a:tr h="50292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Test case</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Mac: đồng thời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Windows: đồng thời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Windows: tuần tự</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Khớp</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50292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TC-01, TC-04</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Có</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TC-02, 03, 05, 07, 08</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Có</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TC-06</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Có</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023360"/>
            <a:ext cx="3422904" cy="1828800"/>
          </a:xfrm>
          <a:prstGeom prst="roundRect">
            <a:avLst>
              <a:gd name="adj" fmla="val 6000"/>
            </a:avLst>
          </a:prstGeom>
          <a:solidFill>
            <a:srgbClr val="FBFAF6"/>
          </a:solidFill>
          <a:ln w="12700">
            <a:solidFill>
              <a:srgbClr val="DAD6CC"/>
            </a:solidFill>
            <a:prstDash val="solid"/>
          </a:ln>
        </p:spPr>
      </p:sp>
      <p:sp>
        <p:nvSpPr>
          <p:cNvPr id="6" name="Text 3"/>
          <p:cNvSpPr txBox="1"/>
          <p:nvPr/>
        </p:nvSpPr>
        <p:spPr>
          <a:xfrm>
            <a:off x="914400" y="420624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Thời gian</a:t>
            </a:r>
            <a:endParaRPr lang="en-US" sz="2000" dirty="0"/>
          </a:p>
        </p:txBody>
      </p:sp>
      <p:sp>
        <p:nvSpPr>
          <p:cNvPr id="7" name="Text 4"/>
          <p:cNvSpPr txBox="1"/>
          <p:nvPr/>
        </p:nvSpPr>
        <p:spPr>
          <a:xfrm>
            <a:off x="914400" y="4754880"/>
            <a:ext cx="2874264" cy="100584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Đồng thời 210 giây (Mac 154 giây); tuần tự 43 giây (Mac 23 giây).</a:t>
            </a:r>
            <a:endParaRPr lang="en-US" sz="1500" dirty="0"/>
          </a:p>
        </p:txBody>
      </p:sp>
      <p:sp>
        <p:nvSpPr>
          <p:cNvPr id="8" name="Shape 5"/>
          <p:cNvSpPr/>
          <p:nvPr/>
        </p:nvSpPr>
        <p:spPr>
          <a:xfrm>
            <a:off x="4383024" y="4023360"/>
            <a:ext cx="3422904" cy="1828800"/>
          </a:xfrm>
          <a:prstGeom prst="roundRect">
            <a:avLst>
              <a:gd name="adj" fmla="val 6000"/>
            </a:avLst>
          </a:prstGeom>
          <a:solidFill>
            <a:srgbClr val="FBFAF6"/>
          </a:solidFill>
          <a:ln w="12700">
            <a:solidFill>
              <a:srgbClr val="DAD6CC"/>
            </a:solidFill>
            <a:prstDash val="solid"/>
          </a:ln>
        </p:spPr>
      </p:sp>
      <p:sp>
        <p:nvSpPr>
          <p:cNvPr id="9" name="Text 6"/>
          <p:cNvSpPr txBox="1"/>
          <p:nvPr/>
        </p:nvSpPr>
        <p:spPr>
          <a:xfrm>
            <a:off x="4657344" y="420624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Hai lượt đầu bị loại</a:t>
            </a:r>
            <a:endParaRPr lang="en-US" sz="2000" dirty="0"/>
          </a:p>
        </p:txBody>
      </p:sp>
      <p:sp>
        <p:nvSpPr>
          <p:cNvPr id="10" name="Text 7"/>
          <p:cNvSpPr txBox="1"/>
          <p:nvPr/>
        </p:nvSpPr>
        <p:spPr>
          <a:xfrm>
            <a:off x="4657344" y="4754880"/>
            <a:ext cx="2874264" cy="100584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Thiếu k6 và Cal.com dừng giữa chừng. Chỉ dùng lượt chạy sạch.</a:t>
            </a:r>
            <a:endParaRPr lang="en-US" sz="1500" dirty="0"/>
          </a:p>
        </p:txBody>
      </p:sp>
      <p:sp>
        <p:nvSpPr>
          <p:cNvPr id="11" name="Shape 8"/>
          <p:cNvSpPr/>
          <p:nvPr/>
        </p:nvSpPr>
        <p:spPr>
          <a:xfrm>
            <a:off x="8125968" y="4023360"/>
            <a:ext cx="3422904" cy="1828800"/>
          </a:xfrm>
          <a:prstGeom prst="roundRect">
            <a:avLst>
              <a:gd name="adj" fmla="val 6000"/>
            </a:avLst>
          </a:prstGeom>
          <a:solidFill>
            <a:srgbClr val="FBFAF6"/>
          </a:solidFill>
          <a:ln w="12700">
            <a:solidFill>
              <a:srgbClr val="DAD6CC"/>
            </a:solidFill>
            <a:prstDash val="solid"/>
          </a:ln>
        </p:spPr>
      </p:sp>
      <p:sp>
        <p:nvSpPr>
          <p:cNvPr id="12" name="Text 9"/>
          <p:cNvSpPr txBox="1"/>
          <p:nvPr/>
        </p:nvSpPr>
        <p:spPr>
          <a:xfrm>
            <a:off x="8400288" y="420624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Máy Windows</a:t>
            </a:r>
            <a:endParaRPr lang="en-US" sz="2000" dirty="0"/>
          </a:p>
        </p:txBody>
      </p:sp>
      <p:sp>
        <p:nvSpPr>
          <p:cNvPr id="13" name="Text 10"/>
          <p:cNvSpPr txBox="1"/>
          <p:nvPr/>
        </p:nvSpPr>
        <p:spPr>
          <a:xfrm>
            <a:off x="8400288" y="4754880"/>
            <a:ext cx="2874264" cy="100584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Người test: Ngô Quốc Trường Vĩ. Máy MSI, Core i7-13620H, RAM 16 GB.</a:t>
            </a:r>
            <a:endParaRPr lang="en-US" sz="1500" dirty="0"/>
          </a:p>
        </p:txBody>
      </p:sp>
      <p:sp>
        <p:nvSpPr>
          <p:cNvPr id="14" name="Text 11"/>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race-tests/results/windows-race · race-tests/results/windows-sequential</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11 · LỖI THẬT, TÁI HIỆN ĐỘC LẬP</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6 lỗi, đều tái hiện được bằng curl thuần</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822960"/>
                <a:gridCol w="5394960"/>
                <a:gridCol w="4690872"/>
              </a:tblGrid>
              <a:tr h="502920">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Lỗi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Tái hiện bằng curl (không dùng harness)</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Dữ liệu trong CSDL</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 khách đặt 2 giờ chồng nhau cùng lúc: cả hai 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 booking accepted chồng giờ 09:00–09:30 và 09:15–09:45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D2</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6 người đặt event 3 ghế: 1×200, 5×409</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Chỉ bán 1/3 ghế dù còn ghế</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người đặt event cần xác nhận: 8×200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 booking chờ xác nhận cùng một giờ</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Đổi lịch liên tiếp một booking gốc 3 lần: cả 3 đều 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 booking accepted từ cùng một gốc (cả khi tuần tự)</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Hủy và đổi lịch cùng lúc: cả hai 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Booking 09:00 đã hủy nhưng vẫn còn booking 11:00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 người đặt 8 giờ, giới hạn 1/ngày: 8×200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 booking hiệu lực trong một ngày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394960"/>
            <a:ext cx="10908792" cy="73152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Đối chứng: gửi tuần tự hai request chồng giờ thì request thứ hai bị 409. Nhóm chưa báo lỗi cho Cal.com và chưa sửa mã Cal.com.</a:t>
            </a:r>
            <a:endParaRPr lang="en-US" sz="1600" dirty="0"/>
          </a:p>
        </p:txBody>
      </p:sp>
      <p:sp>
        <p:nvSpPr>
          <p:cNvPr id="6"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race-tests/repro/repro-curl.sh · docs/evidence/repro-curl.txt · docs/MINH_CHUNG_LOI.md</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12 · NHIỆM VỤ VÀ ĐÓNG GÓP</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Nhiệm vụ và đóng góp của từng thành viên</a:t>
            </a:r>
            <a:endParaRPr lang="en-US" sz="3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2834640"/>
                <a:gridCol w="1920240"/>
                <a:gridCol w="4206240"/>
                <a:gridCol w="1947672"/>
              </a:tblGrid>
              <a:tr h="685800">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Thành viên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Vai trò</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Nhiệm vụ đã thực hiện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Sản phẩm</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6858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Nguyễn Thanh Tâm · 2312741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Môi trường, DevOps</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Dựng Cal.com, CSDL, seed data; ghim phiên bản; chạy test trên macOS</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README, kết quả chạy chính thức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Võ Công Vinh · 2312800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Phân tích hệ thống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Đọc mã, vẽ kiến trúc, luồng dữ liệu; phân tích nguyên nhân gốc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Sơ đồ, DEFECTS.md, thí nghiệm khắc phục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Nguyễn Đức Tín · 2312774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Tác giả test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Thiết kế invariant và test case; viết bộ test (k6, Node.js, SQL)</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race-tests/, đặc tả test case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Ngô Quốc Trường Vĩ · 2312796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Chạy test, báo cáo</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Chạy test, ghi kết quả; chạy lại trên Windows; báo cáo, slide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windows-race, báo cáo, slide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394960"/>
            <a:ext cx="10908792" cy="73152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Quản lý công việc: bảng GitHub Projects (18 thẻ, 3 cột), mã nguồn trên GitHub. Việc gán người cho từng thẻ và commit đều các thành viên sẽ hoàn thiện trước buổi bảo vệ.</a:t>
            </a:r>
            <a:endParaRPr lang="en-US" sz="1500" dirty="0"/>
          </a:p>
        </p:txBody>
      </p:sp>
      <p:sp>
        <p:nvSpPr>
          <p:cNvPr id="6"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Chi tiết: báo cáo mục 4.6 · github.com/users/2312741-sudo/projects/1</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E07B39"/>
                </a:solidFill>
                <a:latin typeface="Consolas" pitchFamily="34" charset="0"/>
                <a:ea typeface="Consolas" pitchFamily="34" charset="-122"/>
                <a:cs typeface="Consolas" pitchFamily="34" charset="-120"/>
              </a:rPr>
              <a:t>13 · KẾ HOẠCH TIẾP THEO</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F4F2EC"/>
                </a:solidFill>
                <a:latin typeface="Calibri" pitchFamily="34" charset="0"/>
                <a:ea typeface="Calibri" pitchFamily="34" charset="-122"/>
                <a:cs typeface="Calibri" pitchFamily="34" charset="-120"/>
              </a:rPr>
              <a:t>Từ giữa kỳ đến bảo vệ</a:t>
            </a:r>
            <a:endParaRPr lang="en-US" sz="3400" dirty="0"/>
          </a:p>
        </p:txBody>
      </p:sp>
      <p:sp>
        <p:nvSpPr>
          <p:cNvPr id="4" name="Shape 2"/>
          <p:cNvSpPr/>
          <p:nvPr/>
        </p:nvSpPr>
        <p:spPr>
          <a:xfrm>
            <a:off x="640080" y="1691640"/>
            <a:ext cx="2194560" cy="685800"/>
          </a:xfrm>
          <a:prstGeom prst="roundRect">
            <a:avLst>
              <a:gd name="adj" fmla="val 13333"/>
            </a:avLst>
          </a:prstGeom>
          <a:solidFill>
            <a:srgbClr val="E07B39"/>
          </a:solidFill>
          <a:ln w="12700">
            <a:solidFill>
              <a:srgbClr val="E07B39"/>
            </a:solidFill>
            <a:prstDash val="solid"/>
          </a:ln>
        </p:spPr>
      </p:sp>
      <p:sp>
        <p:nvSpPr>
          <p:cNvPr id="5" name="Text 3"/>
          <p:cNvSpPr txBox="1"/>
          <p:nvPr/>
        </p:nvSpPr>
        <p:spPr>
          <a:xfrm>
            <a:off x="640080" y="169164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21/10 – 3/11</a:t>
            </a:r>
            <a:endParaRPr lang="en-US" sz="1700" dirty="0"/>
          </a:p>
        </p:txBody>
      </p:sp>
      <p:sp>
        <p:nvSpPr>
          <p:cNvPr id="6" name="Shape 4"/>
          <p:cNvSpPr/>
          <p:nvPr/>
        </p:nvSpPr>
        <p:spPr>
          <a:xfrm>
            <a:off x="3017520" y="1691640"/>
            <a:ext cx="8531352" cy="685800"/>
          </a:xfrm>
          <a:prstGeom prst="roundRect">
            <a:avLst>
              <a:gd name="adj" fmla="val 13333"/>
            </a:avLst>
          </a:prstGeom>
          <a:solidFill>
            <a:srgbClr val="1D3142"/>
          </a:solidFill>
          <a:ln w="12700">
            <a:solidFill>
              <a:srgbClr val="1D3142"/>
            </a:solidFill>
            <a:prstDash val="solid"/>
          </a:ln>
        </p:spPr>
      </p:sp>
      <p:sp>
        <p:nvSpPr>
          <p:cNvPr id="7" name="Text 5"/>
          <p:cNvSpPr txBox="1"/>
          <p:nvPr/>
        </p:nvSpPr>
        <p:spPr>
          <a:xfrm>
            <a:off x="3246120" y="169164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Thêm scenario Playwright qua giao diện, hoàn thiện báo cáo</a:t>
            </a:r>
            <a:endParaRPr lang="en-US" sz="1600" dirty="0"/>
          </a:p>
        </p:txBody>
      </p:sp>
      <p:sp>
        <p:nvSpPr>
          <p:cNvPr id="8" name="Shape 6"/>
          <p:cNvSpPr/>
          <p:nvPr/>
        </p:nvSpPr>
        <p:spPr>
          <a:xfrm>
            <a:off x="640080" y="2560320"/>
            <a:ext cx="2194560" cy="685800"/>
          </a:xfrm>
          <a:prstGeom prst="roundRect">
            <a:avLst>
              <a:gd name="adj" fmla="val 13333"/>
            </a:avLst>
          </a:prstGeom>
          <a:solidFill>
            <a:srgbClr val="E07B39"/>
          </a:solidFill>
          <a:ln w="12700">
            <a:solidFill>
              <a:srgbClr val="E07B39"/>
            </a:solidFill>
            <a:prstDash val="solid"/>
          </a:ln>
        </p:spPr>
      </p:sp>
      <p:sp>
        <p:nvSpPr>
          <p:cNvPr id="9" name="Text 7"/>
          <p:cNvSpPr txBox="1"/>
          <p:nvPr/>
        </p:nvSpPr>
        <p:spPr>
          <a:xfrm>
            <a:off x="640080" y="256032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4/11 – 17/11</a:t>
            </a:r>
            <a:endParaRPr lang="en-US" sz="1700" dirty="0"/>
          </a:p>
        </p:txBody>
      </p:sp>
      <p:sp>
        <p:nvSpPr>
          <p:cNvPr id="10" name="Shape 8"/>
          <p:cNvSpPr/>
          <p:nvPr/>
        </p:nvSpPr>
        <p:spPr>
          <a:xfrm>
            <a:off x="3017520" y="2560320"/>
            <a:ext cx="8531352" cy="685800"/>
          </a:xfrm>
          <a:prstGeom prst="roundRect">
            <a:avLst>
              <a:gd name="adj" fmla="val 13333"/>
            </a:avLst>
          </a:prstGeom>
          <a:solidFill>
            <a:srgbClr val="1D3142"/>
          </a:solidFill>
          <a:ln w="12700">
            <a:solidFill>
              <a:srgbClr val="1D3142"/>
            </a:solidFill>
            <a:prstDash val="solid"/>
          </a:ln>
        </p:spPr>
      </p:sp>
      <p:sp>
        <p:nvSpPr>
          <p:cNvPr id="11" name="Text 9"/>
          <p:cNvSpPr txBox="1"/>
          <p:nvPr/>
        </p:nvSpPr>
        <p:spPr>
          <a:xfrm>
            <a:off x="3246120" y="256032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Rà soát nguyên nhân gốc và đề xuất sửa; chuẩn bị báo cáo lỗi D1, D4 cho Cal.com</a:t>
            </a:r>
            <a:endParaRPr lang="en-US" sz="1600" dirty="0"/>
          </a:p>
        </p:txBody>
      </p:sp>
      <p:sp>
        <p:nvSpPr>
          <p:cNvPr id="12" name="Shape 10"/>
          <p:cNvSpPr/>
          <p:nvPr/>
        </p:nvSpPr>
        <p:spPr>
          <a:xfrm>
            <a:off x="640080" y="3429000"/>
            <a:ext cx="2194560" cy="685800"/>
          </a:xfrm>
          <a:prstGeom prst="roundRect">
            <a:avLst>
              <a:gd name="adj" fmla="val 13333"/>
            </a:avLst>
          </a:prstGeom>
          <a:solidFill>
            <a:srgbClr val="E07B39"/>
          </a:solidFill>
          <a:ln w="12700">
            <a:solidFill>
              <a:srgbClr val="E07B39"/>
            </a:solidFill>
            <a:prstDash val="solid"/>
          </a:ln>
        </p:spPr>
      </p:sp>
      <p:sp>
        <p:nvSpPr>
          <p:cNvPr id="13" name="Text 11"/>
          <p:cNvSpPr txBox="1"/>
          <p:nvPr/>
        </p:nvSpPr>
        <p:spPr>
          <a:xfrm>
            <a:off x="640080" y="342900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18/11 – 30/11</a:t>
            </a:r>
            <a:endParaRPr lang="en-US" sz="1700" dirty="0"/>
          </a:p>
        </p:txBody>
      </p:sp>
      <p:sp>
        <p:nvSpPr>
          <p:cNvPr id="14" name="Shape 12"/>
          <p:cNvSpPr/>
          <p:nvPr/>
        </p:nvSpPr>
        <p:spPr>
          <a:xfrm>
            <a:off x="3017520" y="3429000"/>
            <a:ext cx="8531352" cy="685800"/>
          </a:xfrm>
          <a:prstGeom prst="roundRect">
            <a:avLst>
              <a:gd name="adj" fmla="val 13333"/>
            </a:avLst>
          </a:prstGeom>
          <a:solidFill>
            <a:srgbClr val="1D3142"/>
          </a:solidFill>
          <a:ln w="12700">
            <a:solidFill>
              <a:srgbClr val="1D3142"/>
            </a:solidFill>
            <a:prstDash val="solid"/>
          </a:ln>
        </p:spPr>
      </p:sp>
      <p:sp>
        <p:nvSpPr>
          <p:cNvPr id="15" name="Text 13"/>
          <p:cNvSpPr txBox="1"/>
          <p:nvPr/>
        </p:nvSpPr>
        <p:spPr>
          <a:xfrm>
            <a:off x="3246120" y="342900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Hoàn thiện báo cáo A–H, nộp trước bảo vệ 1 tuần</a:t>
            </a:r>
            <a:endParaRPr lang="en-US" sz="1600" dirty="0"/>
          </a:p>
        </p:txBody>
      </p:sp>
      <p:sp>
        <p:nvSpPr>
          <p:cNvPr id="16" name="Shape 14"/>
          <p:cNvSpPr/>
          <p:nvPr/>
        </p:nvSpPr>
        <p:spPr>
          <a:xfrm>
            <a:off x="640080" y="4297680"/>
            <a:ext cx="2194560" cy="685800"/>
          </a:xfrm>
          <a:prstGeom prst="roundRect">
            <a:avLst>
              <a:gd name="adj" fmla="val 13333"/>
            </a:avLst>
          </a:prstGeom>
          <a:solidFill>
            <a:srgbClr val="E07B39"/>
          </a:solidFill>
          <a:ln w="12700">
            <a:solidFill>
              <a:srgbClr val="E07B39"/>
            </a:solidFill>
            <a:prstDash val="solid"/>
          </a:ln>
        </p:spPr>
      </p:sp>
      <p:sp>
        <p:nvSpPr>
          <p:cNvPr id="17" name="Text 15"/>
          <p:cNvSpPr txBox="1"/>
          <p:nvPr/>
        </p:nvSpPr>
        <p:spPr>
          <a:xfrm>
            <a:off x="640080" y="429768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Tháng 12</a:t>
            </a:r>
            <a:endParaRPr lang="en-US" sz="1700" dirty="0"/>
          </a:p>
        </p:txBody>
      </p:sp>
      <p:sp>
        <p:nvSpPr>
          <p:cNvPr id="18" name="Shape 16"/>
          <p:cNvSpPr/>
          <p:nvPr/>
        </p:nvSpPr>
        <p:spPr>
          <a:xfrm>
            <a:off x="3017520" y="4297680"/>
            <a:ext cx="8531352" cy="685800"/>
          </a:xfrm>
          <a:prstGeom prst="roundRect">
            <a:avLst>
              <a:gd name="adj" fmla="val 13333"/>
            </a:avLst>
          </a:prstGeom>
          <a:solidFill>
            <a:srgbClr val="1D3142"/>
          </a:solidFill>
          <a:ln w="12700">
            <a:solidFill>
              <a:srgbClr val="1D3142"/>
            </a:solidFill>
            <a:prstDash val="solid"/>
          </a:ln>
        </p:spPr>
      </p:sp>
      <p:sp>
        <p:nvSpPr>
          <p:cNvPr id="19" name="Text 17"/>
          <p:cNvSpPr txBox="1"/>
          <p:nvPr/>
        </p:nvSpPr>
        <p:spPr>
          <a:xfrm>
            <a:off x="3246120" y="429768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Slide bảo vệ, tập dượt, đánh giá chéo giữa các thành viên</a:t>
            </a:r>
            <a:endParaRPr lang="en-US" sz="1600" dirty="0"/>
          </a:p>
        </p:txBody>
      </p:sp>
      <p:sp>
        <p:nvSpPr>
          <p:cNvPr id="20" name="Text 18"/>
          <p:cNvSpPr txBox="1"/>
          <p:nvPr/>
        </p:nvSpPr>
        <p:spPr>
          <a:xfrm>
            <a:off x="640080" y="5303520"/>
            <a:ext cx="10908792" cy="822960"/>
          </a:xfrm>
          <a:prstGeom prst="rect">
            <a:avLst/>
          </a:prstGeom>
          <a:noFill/>
          <a:ln/>
        </p:spPr>
        <p:txBody>
          <a:bodyPr wrap="square" lIns="0" tIns="0" rIns="0" bIns="0" rtlCol="0" anchor="t"/>
          <a:lstStyle/>
          <a:p>
            <a:pPr indent="0" marL="0">
              <a:buNone/>
            </a:pPr>
            <a:r>
              <a:rPr lang="en-US" sz="1500" dirty="0">
                <a:solidFill>
                  <a:srgbClr val="B8C6D2"/>
                </a:solidFill>
                <a:latin typeface="Calibri" pitchFamily="34" charset="0"/>
                <a:ea typeface="Calibri" pitchFamily="34" charset="-122"/>
                <a:cs typeface="Calibri" pitchFamily="34" charset="-120"/>
              </a:rPr>
              <a:t>Rủi ro: kết quả race có thể khác trên máy khác (báo tỉ lệ, không báo một lần chạy) · máy yếu khi chạy Cal.com + PostgreSQL + k6 (giảm số VU) · thành viên đóng góp không đều (board có người phụ trách, đánh giá chéo hằng tuần).</a:t>
            </a:r>
            <a:endParaRPr lang="en-US" sz="1500" dirty="0"/>
          </a:p>
        </p:txBody>
      </p:sp>
      <p:sp>
        <p:nvSpPr>
          <p:cNvPr id="21" name="Text 19"/>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8C9AA8"/>
                </a:solidFill>
                <a:latin typeface="Calibri" pitchFamily="34" charset="0"/>
                <a:ea typeface="Calibri" pitchFamily="34" charset="-122"/>
                <a:cs typeface="Calibri" pitchFamily="34" charset="-120"/>
              </a:rPr>
              <a:t>Cảm ơn thầy và các bạn. Mời đặt câu hỏi.</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R05-K15 – Báo cáo giữa kỳ</dc:title>
  <dc:subject>PptxGenJS Presentation</dc:subject>
  <dc:creator>Nhóm R05-K15</dc:creator>
  <cp:lastModifiedBy>Nhóm R05-K15</cp:lastModifiedBy>
  <cp:revision>1</cp:revision>
  <dcterms:created xsi:type="dcterms:W3CDTF">2026-10-19T05:50:25Z</dcterms:created>
  <dcterms:modified xsi:type="dcterms:W3CDTF">2026-10-19T05:50:25Z</dcterms:modified>
</cp:coreProperties>
</file>