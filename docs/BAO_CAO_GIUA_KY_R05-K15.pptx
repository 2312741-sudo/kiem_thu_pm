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6bc6c98-a9dd-87ed-1f54-39f8be356a4b}">
          <p14:sldIdLst>
            <p14:sldId id="256"/>
            <p14:sldId id="257"/>
          </p14:sldIdLst>
        </p14:section>
        <p14:section name="Tiến độ" id="{5d4a2a0e-4f30-95d6-19cb-1eab49d49bc8}">
          <p14:sldIdLst>
            <p14:sldId id="258"/>
          </p14:sldIdLst>
        </p14:section>
        <p14:section name="Hệ thống và kiểm thử" id="{227a61ef-3fea-eb11-fd0d-6a9085c857c9}">
          <p14:sldIdLst>
            <p14:sldId id="259"/>
            <p14:sldId id="260"/>
            <p14:sldId id="261"/>
            <p14:sldId id="262"/>
          </p14:sldIdLst>
        </p14:section>
        <p14:section name="Kế hoạch kiểm thử" id="{a9f192d7-d36e-1cd3-dade-c5da9d34da52}">
          <p14:sldIdLst>
            <p14:sldId id="263"/>
            <p14:sldId id="264"/>
          </p14:sldIdLst>
        </p14:section>
        <p14:section name="Kết quả sơ bộ" id="{2a00fac9-ff1d-1fd9-e7c1-d25b564c9470}">
          <p14:sldIdLst>
            <p14:sldId id="265"/>
            <p14:sldId id="266"/>
            <p14:sldId id="267"/>
          </p14:sldIdLst>
        </p14:section>
        <p14:section name="Tiếp theo" id="{f456f873-3d5b-4706-e427-cb3c8bdf425c}">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test case chọn một cơ chế bảo vệ khác nhau để thử. TC-01 và TC-04 là hai trường hợp hệ thống đã có bảo vệ, dùng để kiểm chứng harness không báo lỗi giả. Sáu test case còn lại thử những chỗ đọc code cho thấy chưa có bảo vệ ở tầng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cả đồng thời và tuần tự mất dưới ba phút. Phần công sức người-giờ nhóm tự điền theo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mỗi test case chạy 10 vòng, ở hai chế độ đồng thời và tuần tự. TC-01 và TC-04 đúng, hai cơ chế bảo vệ của hệ thống hoạt động. Năm test case chỉ sai khi đồng thời là lỗi race. TC-06 sai cả khi tuần tự nên là lỗi logic, không phải race. Mã HTTP đều thành công, chỉ truy vấn trực tiếp cơ sở dữ liệu mới thấy dữ liệu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thành viên chạy lại bộ test trên máy Windows của mình với cùng phiên bản mã. Kết luận tám test case giống hệt máy Mac: năm lỗi race chỉ sai khi đồng thời, một lỗi logic sai cả khi tuần tự, hai test case đúng. Hai lượt chạy đầu trên máy Windows không hợp lệ vì thiếu công cụ k6 và vì Cal.com dừng giữa chừng; nhóm đã loại và chỉ dùng lượt chạy sạch. Người chạy trên máy Windows là Ngô Quốc Trường Vĩ, máy MSI Core i7-13620H, RAM 16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D4 là lỗi logic xảy ra cả khi gửi tuần tự; năm lỗi còn lại chỉ xảy ra khi đồng thời. Nhóm chưa báo lỗi cho nhóm phát triển Cal.com và chưa sửa mã Cal.com, nên nói là lỗi nhóm tìm được trên bản v6.2.0 chạy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8 test case, kết quả test thật và 6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máy Windows khác: kết quả khớp 8/8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8 test case TC-01 đến TC-08</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754880"/>
                <a:gridCol w="3931920"/>
                <a:gridCol w="1307592"/>
              </a:tblGrid>
              <a:tr h="42976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Input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quả mong đợi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cùng một giờ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người 200, 9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hiệu lực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giờ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người 200, 3 người 409;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người 200, 4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thành công, booking gốc bị hủy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hủy + 1 lệnh đổi lịch cùng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thể cả hai cùng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người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48640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Dữ liệu: host k15host (UTC, rảnh 24/7); 5 loại cuộc hẹn; mỗi request dùng một email người đặt khác nhau. I7 (không có 5xx) áp dụng cho mọi test case.</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Đầy đủ tiền điều kiện và invariant: docs/QUY_TRINH_TEST.md mục 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12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2 080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12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Tổng thời gian máy chạy test</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970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Đồng thời chính (8 test case × 10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150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22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20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164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Đo cửa sổ race (18 mốc độ trễ)</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360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300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(người-giờ): [nhóm điền số giờ thực tế của từng thành viên].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trên 8 test case phát hiện lỗi</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023360"/>
                <a:gridCol w="1828800"/>
                <a:gridCol w="1828800"/>
                <a:gridCol w="2194560"/>
                <a:gridCol w="103327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luận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TC-02 giờ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TC-05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TC-07 hủy và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Text 2"/>
          <p:cNvSpPr txBox="1"/>
          <p:nvPr/>
        </p:nvSpPr>
        <p:spPr>
          <a:xfrm>
            <a:off x="640080" y="557784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Vòng vi phạm trên 10 vòng. Mã HTTP đều là 200 nhưng dữ liệu trong CSDL sai. Chỉ cần 2 request đồng thời, TC-02 vi phạm ở 20/20 vòng.</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18/10/2026 · docs/KET_QUA_TEST_GIUA_KY.md · race-tests/results/giua-ky-race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cho cùng kết quả: khớp 8/8</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91840"/>
                <a:gridCol w="2103120"/>
                <a:gridCol w="2377440"/>
                <a:gridCol w="2194560"/>
                <a:gridCol w="941832"/>
              </a:tblGrid>
              <a:tr h="50292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Test case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Mac: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Khớp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TC-01, TC-04</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TC-02, 03, 05, 07, 08</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3657600"/>
            <a:ext cx="3422904" cy="2011680"/>
          </a:xfrm>
          <a:prstGeom prst="roundRect">
            <a:avLst>
              <a:gd name="adj" fmla="val 5455"/>
            </a:avLst>
          </a:prstGeom>
          <a:solidFill>
            <a:srgbClr val="FBFAF6"/>
          </a:solidFill>
          <a:ln w="12700">
            <a:solidFill>
              <a:srgbClr val="DAD6CC"/>
            </a:solidFill>
            <a:prstDash val="solid"/>
          </a:ln>
        </p:spPr>
      </p:sp>
      <p:sp>
        <p:nvSpPr>
          <p:cNvPr id="6" name="Text 3"/>
          <p:cNvSpPr txBox="1"/>
          <p:nvPr/>
        </p:nvSpPr>
        <p:spPr>
          <a:xfrm>
            <a:off x="914400"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Đồng thời 210 giây (Mac 154 giây); tuần tự 43 giây (Mac 23 giây).</a:t>
            </a:r>
            <a:endParaRPr lang="en-US" sz="1500" dirty="0"/>
          </a:p>
        </p:txBody>
      </p:sp>
      <p:sp>
        <p:nvSpPr>
          <p:cNvPr id="8" name="Shape 5"/>
          <p:cNvSpPr/>
          <p:nvPr/>
        </p:nvSpPr>
        <p:spPr>
          <a:xfrm>
            <a:off x="4383024" y="3657600"/>
            <a:ext cx="3422904" cy="2011680"/>
          </a:xfrm>
          <a:prstGeom prst="roundRect">
            <a:avLst>
              <a:gd name="adj" fmla="val 5455"/>
            </a:avLst>
          </a:prstGeom>
          <a:solidFill>
            <a:srgbClr val="FBFAF6"/>
          </a:solidFill>
          <a:ln w="12700">
            <a:solidFill>
              <a:srgbClr val="DAD6CC"/>
            </a:solidFill>
            <a:prstDash val="solid"/>
          </a:ln>
        </p:spPr>
      </p:sp>
      <p:sp>
        <p:nvSpPr>
          <p:cNvPr id="9" name="Text 6"/>
          <p:cNvSpPr txBox="1"/>
          <p:nvPr/>
        </p:nvSpPr>
        <p:spPr>
          <a:xfrm>
            <a:off x="4657344"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3657600"/>
            <a:ext cx="3422904" cy="2011680"/>
          </a:xfrm>
          <a:prstGeom prst="roundRect">
            <a:avLst>
              <a:gd name="adj" fmla="val 5455"/>
            </a:avLst>
          </a:prstGeom>
          <a:solidFill>
            <a:srgbClr val="FBFAF6"/>
          </a:solidFill>
          <a:ln w="12700">
            <a:solidFill>
              <a:srgbClr val="DAD6CC"/>
            </a:solidFill>
            <a:prstDash val="solid"/>
          </a:ln>
        </p:spPr>
      </p:sp>
      <p:sp>
        <p:nvSpPr>
          <p:cNvPr id="12" name="Text 9"/>
          <p:cNvSpPr txBox="1"/>
          <p:nvPr/>
        </p:nvSpPr>
        <p:spPr>
          <a:xfrm>
            <a:off x="8400288"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Máy Windows</a:t>
            </a:r>
            <a:endParaRPr lang="en-US" sz="2000" dirty="0"/>
          </a:p>
        </p:txBody>
      </p:sp>
      <p:sp>
        <p:nvSpPr>
          <p:cNvPr id="13" name="Text 10"/>
          <p:cNvSpPr txBox="1"/>
          <p:nvPr/>
        </p:nvSpPr>
        <p:spPr>
          <a:xfrm>
            <a:off x="8400288"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Người test: Ngô Quốc Trường Vĩ. Máy MSI, Core i7-13620H, RAM 16 GB.</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race-tests/results/windows-race · race-tests/results/windows-sequential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đều tái hiện được bằng curl thuần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822960"/>
                <a:gridCol w="5394960"/>
                <a:gridCol w="4690872"/>
              </a:tblGrid>
              <a:tr h="50292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Tái hiện bằng curl (không dùng harness)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booking accepted chồng giờ 09:00–09:30 và 09:15–09:45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1×200, 5×409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1/3 ghế dù còn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chờ xác nhận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Đổi lịch liên tiếp một booking gốc 3 lần: cả 3 đều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booking accepted từ cùng một gốc (cả khi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 09:00 đã hủy nhưng vẫn còn booking 11:00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giới hạn 1/ngày: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hiệu lực trong một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Đối chứng: gửi tuần tự hai request chồng giờ thì request thứ hai bị 409. Nhóm chưa báo lỗi cho Cal.com và chưa sửa mã Cal.com.</a:t>
            </a:r>
            <a:endParaRPr lang="en-US" sz="16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12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hoàn thiện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2026-10-19T03:02:26Z</dcterms:created>
  <dcterms:modified xsi:type="dcterms:W3CDTF">2026-10-19T03:02:26Z</dcterms:modified>
</cp:coreProperties>
</file>