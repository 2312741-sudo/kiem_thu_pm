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CD8F40C2-AC26-2047-D8D3-AD9BCE72E0C3}">
          <p14:sldIdLst>
            <p14:sldId id="256"/>
            <p14:sldId id="257"/>
          </p14:sldIdLst>
        </p14:section>
        <p14:section name="Tiến độ" id="{E5B731E4-7478-D7F3-D33C-EECFCC6F640C}">
          <p14:sldIdLst>
            <p14:sldId id="258"/>
          </p14:sldIdLst>
        </p14:section>
        <p14:section name="Hệ thống và kiểm thử" id="{2191BC9A-79CD-0A37-4B29-9D8305EA8D1A}">
          <p14:sldIdLst>
            <p14:sldId id="259"/>
            <p14:sldId id="260"/>
          </p14:sldIdLst>
        </p14:section>
        <p14:section name="Kế hoạch kiểm thử" id="{277F953F-C330-8D22-53EA-BCBECD9414DD}">
          <p14:sldIdLst>
            <p14:sldId id="261"/>
          </p14:sldIdLst>
        </p14:section>
        <p14:section name="Kết quả sơ bộ" id="{81EA8CC3-5232-1997-0356-52DCA9AE153F}">
          <p14:sldIdLst>
            <p14:sldId id="262"/>
          </p14:sldIdLst>
        </p14:section>
        <p14:section name="Tiếp theo" id="{44FFD690-ACCA-92CA-A8CA-6B68FD45AA19}">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0" d="100"/>
          <a:sy n="120" d="100"/>
        </p:scale>
        <p:origin x="44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86840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Giữa kỳ cần trình bày bốn thứ: demo hệ thống chạy, sơ đồ kiến trúc và tài liệu on-boarding, kế hoạch áp dụng kỹ thuật kiểm thử. Nhóm có thêm một kết quả thử nghiệm đầu tiên.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đã đăng ký là R05-K15. Nhóm khóa phiên bản ở tag v6.2.0 để test chạy lại được. Phạm vi hẹp vào luồng booking theo lưu ý của giảng viên.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mục của Sprint 1 đã xong, và nhóm đã làm trước: harness 8 scenario đã chạy 10 vòng mỗi scenario kèm nhóm đối chứng tuần tự, đã phân tích nguyên nhân gốc. Giữa kỳ nhóm chỉ trình bày kết quả sơ bộ S1 và S2; kết quả đầy đủ dành cho buổi bảo vệ cuối kỳ. Còn lại: Playwright qua giao diện, hoàn thiện báo cáo, và chuẩn bị bảo vệ. Nói rõ phân vai và board Trello/Jira của nhóm.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kiến trúc rút gọn. Sơ đồ đầy đủ ở docs/diagrams/kien-truc.md. Điểm mấu chốt rút ra khi đọc code: các bước kiểm tra chỉ đọc, giữa kiểm tra và ghi không có khóa, nên đây là nơi nhóm kỳ vọng tìm ra race.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on-boarding gồm phiên bản, lệnh cài đặt, biến môi trường, seed data. Smoke test chạy ba luồng: đặt, đổi, hủy lịch. Trong demo, nhóm chạy lệnh npm run demo:midterm để chứng minh.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đề bài yêu cầu cho giữa kỳ: kế hoạch áp dụng kỹ thuật với phạm vi test, giả định và tiêu chí đánh giá. Oracle là điểm khác biệt của kiểm thử race: không tin mã HTTP mà kiểm dữ liệu thật trong CSDL.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sơ bộ: S1 đặt cùng slot PASS nhờ khóa idempotency. S2 đặt hai slot chồng lấn thì FAIL ở mọi vòng: host bị đặt chồng. Đây là lý do nhóm chọn kỹ thuật này. Nhóm đã chạy đủ 8 scenario; kết quả đầy đủ, nguyên nhân gốc và thí nghiệm khắc phục xin để dành cho buổi bảo vệ cuối kỳ. Con số 20/20 đến từ thí nghiệm riêng với 2 request, 20 vòng.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 hoạch bốn giai đoạn đến bảo vệ; phần kiểm thử chính đã chạy xong nên thời gian còn lại dành cho kiểm chứng lại, hoàn thiện báo cáo và chuẩn bị bảo vệ. Rủi ro chính là race không tái hiện ổn định nên nhóm chạy nhiều vòng và báo tỉ lệ. Kết thúc phần báo cáo, mời thầy đặt câu hỏi.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640080"/>
            <a:ext cx="10908792" cy="868680"/>
          </a:xfrm>
          <a:prstGeom prst="rect">
            <a:avLst/>
          </a:prstGeom>
          <a:noFill/>
          <a:ln/>
        </p:spPr>
        <p:txBody>
          <a:bodyPr wrap="square" rtlCol="0"/>
          <a:lstStyle>
            <a:lvl1pPr marL="0" indent="0">
              <a:buNone/>
              <a:defRPr lang="en-US" sz="3400" b="1" dirty="0">
                <a:solidFill>
                  <a:srgbClr val="12202B"/>
                </a:solidFill>
                <a:latin typeface="Calibri" pitchFamily="34" charset="0"/>
                <a:ea typeface="Calibri" pitchFamily="34" charset="-122"/>
                <a:cs typeface="Calibri" pitchFamily="34" charset="-120"/>
              </a:defRPr>
            </a:lvl1pPr>
          </a:lstStyle>
          <a:p>
            <a:pPr marL="0" indent="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7A8592"/>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640080"/>
            <a:ext cx="10908792" cy="868680"/>
          </a:xfrm>
          <a:prstGeom prst="rect">
            <a:avLst/>
          </a:prstGeom>
          <a:noFill/>
          <a:ln/>
        </p:spPr>
        <p:txBody>
          <a:bodyPr wrap="square" rtlCol="0"/>
          <a:lstStyle>
            <a:lvl1pPr marL="0" indent="0">
              <a:buNone/>
              <a:defRPr lang="en-US" sz="3400" b="1" dirty="0">
                <a:solidFill>
                  <a:srgbClr val="F4F2EC"/>
                </a:solidFill>
                <a:latin typeface="Calibri" pitchFamily="34" charset="0"/>
                <a:ea typeface="Calibri" pitchFamily="34" charset="-122"/>
                <a:cs typeface="Calibri" pitchFamily="34" charset="-120"/>
              </a:defRPr>
            </a:lvl1pPr>
          </a:lstStyle>
          <a:p>
            <a:pPr marL="0" indent="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C9AA8"/>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7A8592"/>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marL="0" indent="0">
              <a:buNone/>
            </a:pPr>
            <a:r>
              <a:rPr lang="en-US" sz="1600" b="1" kern="0" spc="300" dirty="0">
                <a:solidFill>
                  <a:srgbClr val="E07B39"/>
                </a:solidFill>
                <a:latin typeface="Consolas" pitchFamily="34" charset="0"/>
                <a:ea typeface="Consolas" pitchFamily="34" charset="-122"/>
                <a:cs typeface="Consolas" pitchFamily="34" charset="-120"/>
              </a:rPr>
              <a:t>BÁO CÁO GIỮA KỲ · MILESTONE 2 · 20/10</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marL="0" indent="0">
              <a:buNone/>
            </a:pPr>
            <a:r>
              <a:rPr lang="en-US" sz="5400" b="1" dirty="0">
                <a:solidFill>
                  <a:srgbClr val="F4F2EC"/>
                </a:solidFill>
                <a:latin typeface="Calibri" pitchFamily="34" charset="0"/>
                <a:ea typeface="Calibri" pitchFamily="34" charset="-122"/>
                <a:cs typeface="Calibri" pitchFamily="34" charset="-120"/>
              </a:rPr>
              <a:t>R05-K15</a:t>
            </a:r>
            <a:endParaRPr lang="en-US" sz="5400" dirty="0"/>
          </a:p>
          <a:p>
            <a:pPr marL="0" indent="0">
              <a:buNone/>
            </a:pPr>
            <a:r>
              <a:rPr lang="en-US" sz="5400" b="1" dirty="0">
                <a:solidFill>
                  <a:srgbClr val="F4F2EC"/>
                </a:solidFill>
                <a:latin typeface="Calibri" pitchFamily="34" charset="0"/>
                <a:ea typeface="Calibri" pitchFamily="34" charset="-122"/>
                <a:cs typeface="Calibri" pitchFamily="34" charset="-120"/>
              </a:rPr>
              <a:t>Kiểm thử race condition cho Cal.com</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marL="0" indent="0">
              <a:buNone/>
            </a:pPr>
            <a:r>
              <a:rPr lang="en-US" sz="2400" dirty="0">
                <a:solidFill>
                  <a:srgbClr val="B8C6D2"/>
                </a:solidFill>
                <a:latin typeface="Calibri" pitchFamily="34" charset="0"/>
                <a:ea typeface="Calibri" pitchFamily="34" charset="-122"/>
                <a:cs typeface="Calibri" pitchFamily="34" charset="-120"/>
              </a:rPr>
              <a:t>Đã dựng hệ thống, đã vẽ kiến trúc, đã có kế hoạch kiểm thử và kết quả thử nghiệm đầu tiên</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marL="0" indent="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marL="0" indent="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6949440" y="5029200"/>
            <a:ext cx="4599432" cy="1325880"/>
          </a:xfrm>
          <a:prstGeom prst="rect">
            <a:avLst/>
          </a:prstGeom>
          <a:noFill/>
          <a:ln/>
        </p:spPr>
        <p:txBody>
          <a:bodyPr wrap="square" lIns="0" tIns="0" rIns="0" bIns="0" rtlCol="0" anchor="b"/>
          <a:lstStyle/>
          <a:p>
            <a:pPr marL="0" indent="0" algn="r">
              <a:buNone/>
            </a:pPr>
            <a:r>
              <a:rPr lang="en-US" sz="1600" dirty="0" err="1">
                <a:solidFill>
                  <a:srgbClr val="B8C6D2"/>
                </a:solidFill>
                <a:latin typeface="Calibri" pitchFamily="34" charset="0"/>
                <a:ea typeface="Calibri" pitchFamily="34" charset="-122"/>
                <a:cs typeface="Calibri" pitchFamily="34" charset="-120"/>
              </a:rPr>
              <a:t>Nhóm</a:t>
            </a:r>
            <a:r>
              <a:rPr lang="en-US" sz="1600">
                <a:solidFill>
                  <a:srgbClr val="B8C6D2"/>
                </a:solidFill>
                <a:latin typeface="Calibri" pitchFamily="34" charset="0"/>
                <a:ea typeface="Calibri" pitchFamily="34" charset="-122"/>
                <a:cs typeface="Calibri" pitchFamily="34" charset="-120"/>
              </a:rPr>
              <a:t> 14:</a:t>
            </a:r>
            <a:endParaRPr lang="en-US" sz="1600" dirty="0"/>
          </a:p>
          <a:p>
            <a:pPr marL="0" indent="0" algn="r">
              <a:buNone/>
            </a:pPr>
            <a:r>
              <a:rPr lang="en-US" sz="1600" dirty="0">
                <a:solidFill>
                  <a:srgbClr val="B8C6D2"/>
                </a:solidFill>
                <a:latin typeface="Calibri" pitchFamily="34" charset="0"/>
                <a:ea typeface="Calibri" pitchFamily="34" charset="-122"/>
                <a:cs typeface="Calibri" pitchFamily="34" charset="-120"/>
              </a:rPr>
              <a:t>2312741 - Nguyễn Thanh Tâm</a:t>
            </a:r>
            <a:endParaRPr lang="en-US" sz="1600" dirty="0"/>
          </a:p>
          <a:p>
            <a:pPr marL="0" indent="0" algn="r">
              <a:buNone/>
            </a:pPr>
            <a:r>
              <a:rPr lang="en-US" sz="1600" dirty="0">
                <a:solidFill>
                  <a:srgbClr val="B8C6D2"/>
                </a:solidFill>
                <a:latin typeface="Calibri" pitchFamily="34" charset="0"/>
                <a:ea typeface="Calibri" pitchFamily="34" charset="-122"/>
                <a:cs typeface="Calibri" pitchFamily="34" charset="-120"/>
              </a:rPr>
              <a:t>2312800 - Võ Công Vinh</a:t>
            </a:r>
            <a:endParaRPr lang="en-US" sz="1600" dirty="0"/>
          </a:p>
          <a:p>
            <a:pPr marL="0" indent="0" algn="r">
              <a:buNone/>
            </a:pPr>
            <a:r>
              <a:rPr lang="en-US" sz="1600" dirty="0">
                <a:solidFill>
                  <a:srgbClr val="B8C6D2"/>
                </a:solidFill>
                <a:latin typeface="Calibri" pitchFamily="34" charset="0"/>
                <a:ea typeface="Calibri" pitchFamily="34" charset="-122"/>
                <a:cs typeface="Calibri" pitchFamily="34" charset="-120"/>
              </a:rPr>
              <a:t>2312774 - Nguyễn Đức Tín</a:t>
            </a:r>
            <a:endParaRPr lang="en-US" sz="1600" dirty="0"/>
          </a:p>
          <a:p>
            <a:pPr marL="0" indent="0" algn="r">
              <a:buNone/>
            </a:pPr>
            <a:r>
              <a:rPr lang="en-US" sz="1600" dirty="0">
                <a:solidFill>
                  <a:srgbClr val="B8C6D2"/>
                </a:solidFill>
                <a:latin typeface="Calibri" pitchFamily="34" charset="0"/>
                <a:ea typeface="Calibri" pitchFamily="34" charset="-122"/>
                <a:cs typeface="Calibri" pitchFamily="34" charset="-120"/>
              </a:rPr>
              <a:t>2312796 - Ngô Quốc Trường Vĩ</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marL="0" indent="0">
              <a:buNone/>
            </a:pPr>
            <a:r>
              <a:rPr lang="en-US" sz="1300" b="1" kern="0" spc="200" dirty="0">
                <a:solidFill>
                  <a:srgbClr val="B4531A"/>
                </a:solidFill>
                <a:latin typeface="Consolas" pitchFamily="34" charset="0"/>
                <a:ea typeface="Consolas" pitchFamily="34" charset="-122"/>
                <a:cs typeface="Consolas" pitchFamily="34" charset="-120"/>
              </a:rPr>
              <a:t>01 · ĐỀ TÀI ĐÃ CHỐT</a:t>
            </a:r>
            <a:endParaRPr lang="en-US" sz="1300" dirty="0"/>
          </a:p>
        </p:txBody>
      </p:sp>
      <p:sp>
        <p:nvSpPr>
          <p:cNvPr id="3" name="Text 0"/>
          <p:cNvSpPr>
            <a:spLocks noGrp="1"/>
          </p:cNvSpPr>
          <p:nvPr>
            <p:ph type="title" idx="100" hasCustomPrompt="1"/>
          </p:nvPr>
        </p:nvSpPr>
        <p:spPr>
          <a:xfrm>
            <a:off x="640080" y="640080"/>
            <a:ext cx="10908792" cy="868680"/>
          </a:xfrm>
          <a:prstGeom prst="rect">
            <a:avLst/>
          </a:prstGeom>
          <a:noFill/>
          <a:ln/>
        </p:spPr>
        <p:txBody>
          <a:bodyPr wrap="square" lIns="0" tIns="0" rIns="0" bIns="0" rtlCol="0" anchor="t"/>
          <a:lstStyle/>
          <a:p>
            <a:pPr marL="0" indent="0">
              <a:buNone/>
            </a:pPr>
            <a:r>
              <a:rPr lang="en-US" sz="3400" b="1" dirty="0">
                <a:solidFill>
                  <a:srgbClr val="12202B"/>
                </a:solidFill>
                <a:latin typeface="Calibri" pitchFamily="34" charset="0"/>
                <a:ea typeface="Calibri" pitchFamily="34" charset="-122"/>
                <a:cs typeface="Calibri" pitchFamily="34" charset="-120"/>
              </a:rPr>
              <a:t>Một tổ hợp Repo + Kỹ thuật, đã cố định phiên bản</a:t>
            </a:r>
            <a:endParaRPr lang="en-US" sz="3400" dirty="0"/>
          </a:p>
        </p:txBody>
      </p:sp>
      <p:sp>
        <p:nvSpPr>
          <p:cNvPr id="4" name="Shape 2"/>
          <p:cNvSpPr/>
          <p:nvPr/>
        </p:nvSpPr>
        <p:spPr>
          <a:xfrm>
            <a:off x="640080" y="1783080"/>
            <a:ext cx="3422904" cy="3017520"/>
          </a:xfrm>
          <a:prstGeom prst="roundRect">
            <a:avLst>
              <a:gd name="adj" fmla="val 3636"/>
            </a:avLst>
          </a:prstGeom>
          <a:solidFill>
            <a:srgbClr val="FBFAF6"/>
          </a:solidFill>
          <a:ln w="12700">
            <a:solidFill>
              <a:srgbClr val="DAD6CC"/>
            </a:solidFill>
            <a:prstDash val="solid"/>
          </a:ln>
        </p:spPr>
        <p:txBody>
          <a:bodyPr/>
          <a:lstStyle/>
          <a:p>
            <a:endParaRPr lang="en-VN"/>
          </a:p>
        </p:txBody>
      </p:sp>
      <p:sp>
        <p:nvSpPr>
          <p:cNvPr id="5" name="Text 3"/>
          <p:cNvSpPr txBox="1"/>
          <p:nvPr/>
        </p:nvSpPr>
        <p:spPr>
          <a:xfrm>
            <a:off x="914400" y="1965960"/>
            <a:ext cx="2874264" cy="274320"/>
          </a:xfrm>
          <a:prstGeom prst="rect">
            <a:avLst/>
          </a:prstGeom>
          <a:noFill/>
          <a:ln/>
        </p:spPr>
        <p:txBody>
          <a:bodyPr wrap="square" lIns="0" tIns="0" rIns="0" bIns="0" rtlCol="0" anchor="ctr"/>
          <a:lstStyle/>
          <a:p>
            <a:pPr marL="0" indent="0">
              <a:buNone/>
            </a:pPr>
            <a:r>
              <a:rPr lang="en-US" sz="1300" b="1" dirty="0">
                <a:solidFill>
                  <a:srgbClr val="2558B8"/>
                </a:solidFill>
                <a:latin typeface="Consolas" pitchFamily="34" charset="0"/>
                <a:ea typeface="Consolas" pitchFamily="34" charset="-122"/>
                <a:cs typeface="Consolas" pitchFamily="34" charset="-120"/>
              </a:rPr>
              <a:t>REPO · R05</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marL="0" indent="0">
              <a:buNone/>
            </a:pPr>
            <a:r>
              <a:rPr lang="en-US" sz="2600" b="1" dirty="0">
                <a:solidFill>
                  <a:srgbClr val="12202B"/>
                </a:solidFill>
                <a:latin typeface="Calibri" pitchFamily="34" charset="0"/>
                <a:ea typeface="Calibri" pitchFamily="34" charset="-122"/>
                <a:cs typeface="Calibri" pitchFamily="34" charset="-120"/>
              </a:rPr>
              <a:t>Cal.com</a:t>
            </a:r>
            <a:endParaRPr lang="en-US" sz="2600" dirty="0"/>
          </a:p>
        </p:txBody>
      </p:sp>
      <p:sp>
        <p:nvSpPr>
          <p:cNvPr id="7" name="Text 5"/>
          <p:cNvSpPr txBox="1"/>
          <p:nvPr/>
        </p:nvSpPr>
        <p:spPr>
          <a:xfrm>
            <a:off x="914400" y="3063240"/>
            <a:ext cx="2874264" cy="1554480"/>
          </a:xfrm>
          <a:prstGeom prst="rect">
            <a:avLst/>
          </a:prstGeom>
          <a:noFill/>
          <a:ln/>
        </p:spPr>
        <p:txBody>
          <a:bodyPr wrap="square" lIns="0" tIns="0" rIns="0" bIns="0" rtlCol="0" anchor="t"/>
          <a:lstStyle/>
          <a:p>
            <a:pPr marL="0" indent="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a:t>
            </a:r>
            <a:endParaRPr lang="en-US" sz="1600" dirty="0"/>
          </a:p>
        </p:txBody>
      </p:sp>
      <p:sp>
        <p:nvSpPr>
          <p:cNvPr id="8" name="Shape 6"/>
          <p:cNvSpPr/>
          <p:nvPr/>
        </p:nvSpPr>
        <p:spPr>
          <a:xfrm>
            <a:off x="4383024" y="1783080"/>
            <a:ext cx="3422904" cy="3017520"/>
          </a:xfrm>
          <a:prstGeom prst="roundRect">
            <a:avLst>
              <a:gd name="adj" fmla="val 3636"/>
            </a:avLst>
          </a:prstGeom>
          <a:solidFill>
            <a:srgbClr val="FBFAF6"/>
          </a:solidFill>
          <a:ln w="12700">
            <a:solidFill>
              <a:srgbClr val="DAD6CC"/>
            </a:solidFill>
            <a:prstDash val="solid"/>
          </a:ln>
        </p:spPr>
        <p:txBody>
          <a:bodyPr/>
          <a:lstStyle/>
          <a:p>
            <a:endParaRPr lang="en-VN"/>
          </a:p>
        </p:txBody>
      </p:sp>
      <p:sp>
        <p:nvSpPr>
          <p:cNvPr id="9" name="Text 7"/>
          <p:cNvSpPr txBox="1"/>
          <p:nvPr/>
        </p:nvSpPr>
        <p:spPr>
          <a:xfrm>
            <a:off x="4657344" y="1965960"/>
            <a:ext cx="2874264" cy="274320"/>
          </a:xfrm>
          <a:prstGeom prst="rect">
            <a:avLst/>
          </a:prstGeom>
          <a:noFill/>
          <a:ln/>
        </p:spPr>
        <p:txBody>
          <a:bodyPr wrap="square" lIns="0" tIns="0" rIns="0" bIns="0" rtlCol="0" anchor="ctr"/>
          <a:lstStyle/>
          <a:p>
            <a:pPr marL="0" indent="0">
              <a:buNone/>
            </a:pPr>
            <a:r>
              <a:rPr lang="en-US" sz="1300" b="1" dirty="0">
                <a:solidFill>
                  <a:srgbClr val="2558B8"/>
                </a:solidFill>
                <a:latin typeface="Consolas" pitchFamily="34" charset="0"/>
                <a:ea typeface="Consolas" pitchFamily="34" charset="-122"/>
                <a:cs typeface="Consolas" pitchFamily="34" charset="-120"/>
              </a:rPr>
              <a:t>KỸ THUẬT · K15</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marL="0" indent="0">
              <a:buNone/>
            </a:pPr>
            <a:r>
              <a:rPr lang="en-US" sz="2600" b="1" dirty="0">
                <a:solidFill>
                  <a:srgbClr val="12202B"/>
                </a:solidFill>
                <a:latin typeface="Calibri" pitchFamily="34" charset="0"/>
                <a:ea typeface="Calibri" pitchFamily="34" charset="-122"/>
                <a:cs typeface="Calibri" pitchFamily="34" charset="-120"/>
              </a:rPr>
              <a:t>Concurrency / Race</a:t>
            </a:r>
            <a:endParaRPr lang="en-US" sz="2600" dirty="0"/>
          </a:p>
        </p:txBody>
      </p:sp>
      <p:sp>
        <p:nvSpPr>
          <p:cNvPr id="11" name="Text 9"/>
          <p:cNvSpPr txBox="1"/>
          <p:nvPr/>
        </p:nvSpPr>
        <p:spPr>
          <a:xfrm>
            <a:off x="4657344" y="3063240"/>
            <a:ext cx="2874264" cy="1554480"/>
          </a:xfrm>
          <a:prstGeom prst="rect">
            <a:avLst/>
          </a:prstGeom>
          <a:noFill/>
          <a:ln/>
        </p:spPr>
        <p:txBody>
          <a:bodyPr wrap="square" lIns="0" tIns="0" rIns="0" bIns="0" rtlCol="0" anchor="t"/>
          <a:lstStyle/>
          <a:p>
            <a:pPr marL="0" indent="0">
              <a:buNone/>
            </a:pPr>
            <a:r>
              <a:rPr lang="en-US" sz="1600" dirty="0">
                <a:solidFill>
                  <a:srgbClr val="4A5866"/>
                </a:solidFill>
                <a:latin typeface="Calibri" pitchFamily="34" charset="0"/>
                <a:ea typeface="Calibri" pitchFamily="34" charset="-122"/>
                <a:cs typeface="Calibri" pitchFamily="34" charset="-120"/>
              </a:rPr>
              <a:t>Gửi nhiều request đồng thời, kiểm invariant trực tiếp trong CSDL.</a:t>
            </a:r>
            <a:endParaRPr lang="en-US" sz="1600" dirty="0"/>
          </a:p>
        </p:txBody>
      </p:sp>
      <p:sp>
        <p:nvSpPr>
          <p:cNvPr id="12" name="Shape 10"/>
          <p:cNvSpPr/>
          <p:nvPr/>
        </p:nvSpPr>
        <p:spPr>
          <a:xfrm>
            <a:off x="8125968" y="1783080"/>
            <a:ext cx="3422904" cy="3017520"/>
          </a:xfrm>
          <a:prstGeom prst="roundRect">
            <a:avLst>
              <a:gd name="adj" fmla="val 3636"/>
            </a:avLst>
          </a:prstGeom>
          <a:solidFill>
            <a:srgbClr val="FBFAF6"/>
          </a:solidFill>
          <a:ln w="12700">
            <a:solidFill>
              <a:srgbClr val="DAD6CC"/>
            </a:solidFill>
            <a:prstDash val="solid"/>
          </a:ln>
        </p:spPr>
        <p:txBody>
          <a:bodyPr/>
          <a:lstStyle/>
          <a:p>
            <a:endParaRPr lang="en-VN"/>
          </a:p>
        </p:txBody>
      </p:sp>
      <p:sp>
        <p:nvSpPr>
          <p:cNvPr id="13" name="Text 11"/>
          <p:cNvSpPr txBox="1"/>
          <p:nvPr/>
        </p:nvSpPr>
        <p:spPr>
          <a:xfrm>
            <a:off x="8400288" y="1965960"/>
            <a:ext cx="2874264" cy="274320"/>
          </a:xfrm>
          <a:prstGeom prst="rect">
            <a:avLst/>
          </a:prstGeom>
          <a:noFill/>
          <a:ln/>
        </p:spPr>
        <p:txBody>
          <a:bodyPr wrap="square" lIns="0" tIns="0" rIns="0" bIns="0" rtlCol="0" anchor="ctr"/>
          <a:lstStyle/>
          <a:p>
            <a:pPr marL="0" indent="0">
              <a:buNone/>
            </a:pPr>
            <a:r>
              <a:rPr lang="en-US" sz="1300" b="1" dirty="0">
                <a:solidFill>
                  <a:srgbClr val="2558B8"/>
                </a:solidFill>
                <a:latin typeface="Consolas" pitchFamily="34" charset="0"/>
                <a:ea typeface="Consolas" pitchFamily="34" charset="-122"/>
                <a:cs typeface="Consolas" pitchFamily="34" charset="-120"/>
              </a:rPr>
              <a:t>PHIÊN BẢN ĐÃ PIN</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marL="0" indent="0">
              <a:buNone/>
            </a:pPr>
            <a:r>
              <a:rPr lang="en-US" sz="2600" b="1" dirty="0">
                <a:solidFill>
                  <a:srgbClr val="12202B"/>
                </a:solidFill>
                <a:latin typeface="Calibri" pitchFamily="34" charset="0"/>
                <a:ea typeface="Calibri" pitchFamily="34" charset="-122"/>
                <a:cs typeface="Calibri" pitchFamily="34" charset="-120"/>
              </a:rPr>
              <a:t>v6.2.0</a:t>
            </a:r>
            <a:endParaRPr lang="en-US" sz="2600" dirty="0"/>
          </a:p>
        </p:txBody>
      </p:sp>
      <p:sp>
        <p:nvSpPr>
          <p:cNvPr id="15" name="Text 13"/>
          <p:cNvSpPr txBox="1"/>
          <p:nvPr/>
        </p:nvSpPr>
        <p:spPr>
          <a:xfrm>
            <a:off x="8400288" y="3063240"/>
            <a:ext cx="2874264" cy="1554480"/>
          </a:xfrm>
          <a:prstGeom prst="rect">
            <a:avLst/>
          </a:prstGeom>
          <a:noFill/>
          <a:ln/>
        </p:spPr>
        <p:txBody>
          <a:bodyPr wrap="square" lIns="0" tIns="0" rIns="0" bIns="0" rtlCol="0" anchor="t"/>
          <a:lstStyle/>
          <a:p>
            <a:pPr marL="0" indent="0">
              <a:buNone/>
            </a:pPr>
            <a:r>
              <a:rPr lang="en-US" sz="1600" dirty="0">
                <a:solidFill>
                  <a:srgbClr val="4A5866"/>
                </a:solidFill>
                <a:latin typeface="Calibri" pitchFamily="34" charset="0"/>
                <a:ea typeface="Calibri" pitchFamily="34" charset="-122"/>
                <a:cs typeface="Calibri" pitchFamily="34" charset="-120"/>
              </a:rPr>
              <a:t>Commit 1c193cca8682b33b9866c792186033f7ef886682, tránh nhánh main thay đổi giữa kỳ.</a:t>
            </a:r>
            <a:endParaRPr lang="en-US" sz="1600" dirty="0"/>
          </a:p>
        </p:txBody>
      </p:sp>
      <p:sp>
        <p:nvSpPr>
          <p:cNvPr id="16" name="Text 14"/>
          <p:cNvSpPr txBox="1"/>
          <p:nvPr/>
        </p:nvSpPr>
        <p:spPr>
          <a:xfrm>
            <a:off x="640080" y="5166360"/>
            <a:ext cx="10908792" cy="457200"/>
          </a:xfrm>
          <a:prstGeom prst="rect">
            <a:avLst/>
          </a:prstGeom>
          <a:noFill/>
          <a:ln/>
        </p:spPr>
        <p:txBody>
          <a:bodyPr wrap="square" lIns="0" tIns="0" rIns="0" bIns="0" rtlCol="0" anchor="ctr"/>
          <a:lstStyle/>
          <a:p>
            <a:pPr marL="0" indent="0">
              <a:buNone/>
            </a:pPr>
            <a:r>
              <a:rPr lang="en-US" sz="1800" dirty="0">
                <a:solidFill>
                  <a:srgbClr val="4A5866"/>
                </a:solidFill>
                <a:latin typeface="Calibri" pitchFamily="34" charset="0"/>
                <a:ea typeface="Calibri" pitchFamily="34" charset="-122"/>
                <a:cs typeface="Calibri" pitchFamily="34" charset="-120"/>
              </a:rPr>
              <a:t>Phạm vi: chỉ luồng đặt lịch, đổi lịch, hủy lịch (booking). Không ôm toàn bộ monorepo.</a:t>
            </a:r>
            <a:endParaRPr lang="en-US" sz="18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7A8592"/>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marL="0" indent="0">
              <a:buNone/>
            </a:pPr>
            <a:r>
              <a:rPr lang="en-US" sz="1300" b="1" kern="0" spc="200" dirty="0">
                <a:solidFill>
                  <a:srgbClr val="B4531A"/>
                </a:solidFill>
                <a:latin typeface="Consolas" pitchFamily="34" charset="0"/>
                <a:ea typeface="Consolas" pitchFamily="34" charset="-122"/>
                <a:cs typeface="Consolas" pitchFamily="34" charset="-120"/>
              </a:rPr>
              <a:t>02 · TIẾN ĐỘ SO VỚI KẾ HOẠCH</a:t>
            </a:r>
            <a:endParaRPr lang="en-US" sz="1300" dirty="0"/>
          </a:p>
        </p:txBody>
      </p:sp>
      <p:sp>
        <p:nvSpPr>
          <p:cNvPr id="3" name="Text 0"/>
          <p:cNvSpPr>
            <a:spLocks noGrp="1"/>
          </p:cNvSpPr>
          <p:nvPr>
            <p:ph type="title" idx="100" hasCustomPrompt="1"/>
          </p:nvPr>
        </p:nvSpPr>
        <p:spPr>
          <a:xfrm>
            <a:off x="640080" y="640080"/>
            <a:ext cx="10908792" cy="868680"/>
          </a:xfrm>
          <a:prstGeom prst="rect">
            <a:avLst/>
          </a:prstGeom>
          <a:noFill/>
          <a:ln/>
        </p:spPr>
        <p:txBody>
          <a:bodyPr wrap="square" lIns="0" tIns="0" rIns="0" bIns="0" rtlCol="0" anchor="t"/>
          <a:lstStyle/>
          <a:p>
            <a:pPr marL="0" indent="0">
              <a:buNone/>
            </a:pPr>
            <a:r>
              <a:rPr lang="en-US" sz="3400" b="1" dirty="0">
                <a:solidFill>
                  <a:srgbClr val="12202B"/>
                </a:solidFill>
                <a:latin typeface="Calibri" pitchFamily="34" charset="0"/>
                <a:ea typeface="Calibri" pitchFamily="34" charset="-122"/>
                <a:cs typeface="Calibri" pitchFamily="34" charset="-120"/>
              </a:rPr>
              <a:t>Sprint 1 hoàn thành, harness 8 scenario đã chạy xong</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4255008"/>
        </p:xfrm>
        <a:graphic>
          <a:graphicData uri="http://schemas.openxmlformats.org/drawingml/2006/table">
            <a:tbl>
              <a:tblPr/>
              <a:tblGrid>
                <a:gridCol w="5394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44952">
                  <a:extLst>
                    <a:ext uri="{9D8B030D-6E8A-4147-A177-3AD203B41FA5}">
                      <a16:colId xmlns:a16="http://schemas.microsoft.com/office/drawing/2014/main" val="20003"/>
                    </a:ext>
                  </a:extLst>
                </a:gridCol>
              </a:tblGrid>
              <a:tr h="420624">
                <a:tc>
                  <a:txBody>
                    <a:bodyPr/>
                    <a:lstStyle/>
                    <a:p>
                      <a:pPr marL="0" indent="0">
                        <a:buNone/>
                      </a:pPr>
                      <a:r>
                        <a:rPr lang="en-US" sz="1300" b="1" dirty="0">
                          <a:solidFill>
                            <a:srgbClr val="12202B"/>
                          </a:solidFill>
                          <a:latin typeface="Calibri" pitchFamily="34" charset="0"/>
                          <a:ea typeface="Calibri" pitchFamily="34" charset="-122"/>
                          <a:cs typeface="Calibri" pitchFamily="34" charset="-120"/>
                        </a:rPr>
                        <a:t>Hạng mục</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marL="0" indent="0">
                        <a:buNone/>
                      </a:pPr>
                      <a:r>
                        <a:rPr lang="en-US" sz="1300" b="1" dirty="0">
                          <a:solidFill>
                            <a:srgbClr val="12202B"/>
                          </a:solidFill>
                          <a:latin typeface="Calibri" pitchFamily="34" charset="0"/>
                          <a:ea typeface="Calibri" pitchFamily="34" charset="-122"/>
                          <a:cs typeface="Calibri" pitchFamily="34" charset="-120"/>
                        </a:rPr>
                        <a:t>Sprint</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marL="0" indent="0">
                        <a:buNone/>
                      </a:pPr>
                      <a:r>
                        <a:rPr lang="en-US" sz="1300" b="1" dirty="0">
                          <a:solidFill>
                            <a:srgbClr val="12202B"/>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marL="0" indent="0">
                        <a:buNone/>
                      </a:pPr>
                      <a:r>
                        <a:rPr lang="en-US" sz="1300" b="1" dirty="0">
                          <a:solidFill>
                            <a:srgbClr val="12202B"/>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extLst>
                  <a:ext uri="{0D108BD9-81ED-4DB2-BD59-A6C34878D82A}">
                    <a16:rowId xmlns:a16="http://schemas.microsoft.com/office/drawing/2014/main" val="10000"/>
                  </a:ext>
                </a:extLst>
              </a:tr>
              <a:tr h="420624">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Chốt repo, kỹ thuật, pin tag và commit SHA</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README.md mục 1</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Dựng Cal.com local, seed data, chạy 3 luồng nghiệp vụ</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docs/evidence/smoke-test.txt</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Đọc code, vẽ kiến trúc và luồng dữ liệu</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docs/diagrams/kien-truc.md</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Tài liệu on-boarding, kế hoạch kiểm thử</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README.md, slide 6</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Harness k6 + SQL, 8 scenario, mỗi scenario 10 vòng, có đối chứng tuần tự</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2–3</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race-tests/results/</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Phân tích nguyên nhân gốc, thí nghiệm khắc phục</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b="1" dirty="0">
                          <a:solidFill>
                            <a:srgbClr val="2E7D4F"/>
                          </a:solidFill>
                          <a:latin typeface="Calibri" pitchFamily="34" charset="0"/>
                          <a:ea typeface="Calibri" pitchFamily="34" charset="-122"/>
                          <a:cs typeface="Calibri" pitchFamily="34" charset="-120"/>
                        </a:rPr>
                        <a:t>Xong</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docs/DEFECTS.md</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0624">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Báo cáo cuối (bản nháp A–H) và slide bảo vệ</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docs/BAO_CAO.md</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0624">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Scenario Playwright qua giao diện, chạy lại trên máy khác</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b="1" dirty="0">
                          <a:solidFill>
                            <a:srgbClr val="4A5866"/>
                          </a:solidFill>
                          <a:latin typeface="Calibri" pitchFamily="34" charset="0"/>
                          <a:ea typeface="Calibri" pitchFamily="34" charset="-122"/>
                          <a:cs typeface="Calibri" pitchFamily="34" charset="-120"/>
                        </a:rPr>
                        <a:t>Chưa làm</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20624">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Board GitHub Projects: 18 thẻ ở 3 cột; còn gán người và commit đều các thành viên</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Đăng ký</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b="1" dirty="0">
                          <a:solidFill>
                            <a:srgbClr val="B4531A"/>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300" dirty="0">
                          <a:solidFill>
                            <a:srgbClr val="12202B"/>
                          </a:solidFill>
                          <a:latin typeface="Calibri" pitchFamily="34" charset="0"/>
                          <a:ea typeface="Calibri" pitchFamily="34" charset="-122"/>
                          <a:cs typeface="Calibri" pitchFamily="34" charset="-120"/>
                        </a:rPr>
                        <a:t>docs/evidence/board.png</a:t>
                      </a:r>
                      <a:endParaRPr lang="en-US" sz="13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7A8592"/>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marL="0" indent="0">
              <a:buNone/>
            </a:pPr>
            <a:r>
              <a:rPr lang="en-US" sz="1300" b="1" kern="0" spc="200" dirty="0">
                <a:solidFill>
                  <a:srgbClr val="B4531A"/>
                </a:solidFill>
                <a:latin typeface="Consolas" pitchFamily="34" charset="0"/>
                <a:ea typeface="Consolas" pitchFamily="34" charset="-122"/>
                <a:cs typeface="Consolas" pitchFamily="34" charset="-120"/>
              </a:rPr>
              <a:t>03 · KIẾN TRÚC</a:t>
            </a:r>
            <a:endParaRPr lang="en-US" sz="1300" dirty="0"/>
          </a:p>
        </p:txBody>
      </p:sp>
      <p:sp>
        <p:nvSpPr>
          <p:cNvPr id="3" name="Text 0"/>
          <p:cNvSpPr>
            <a:spLocks noGrp="1"/>
          </p:cNvSpPr>
          <p:nvPr>
            <p:ph type="title" idx="100" hasCustomPrompt="1"/>
          </p:nvPr>
        </p:nvSpPr>
        <p:spPr>
          <a:xfrm>
            <a:off x="640080" y="640080"/>
            <a:ext cx="10908792" cy="868680"/>
          </a:xfrm>
          <a:prstGeom prst="rect">
            <a:avLst/>
          </a:prstGeom>
          <a:noFill/>
          <a:ln/>
        </p:spPr>
        <p:txBody>
          <a:bodyPr wrap="square" lIns="0" tIns="0" rIns="0" bIns="0" rtlCol="0" anchor="t"/>
          <a:lstStyle/>
          <a:p>
            <a:pPr marL="0" indent="0">
              <a:buNone/>
            </a:pPr>
            <a:r>
              <a:rPr lang="en-US" sz="3400" b="1" dirty="0">
                <a:solidFill>
                  <a:srgbClr val="12202B"/>
                </a:solidFill>
                <a:latin typeface="Calibri" pitchFamily="34" charset="0"/>
                <a:ea typeface="Calibri" pitchFamily="34" charset="-122"/>
                <a:cs typeface="Calibri" pitchFamily="34" charset="-120"/>
              </a:rPr>
              <a:t>Một request đặt lịch đi qua 4 lớp</a:t>
            </a:r>
            <a:endParaRPr lang="en-US" sz="3400" dirty="0"/>
          </a:p>
        </p:txBody>
      </p:sp>
      <p:sp>
        <p:nvSpPr>
          <p:cNvPr id="4" name="Shape 2"/>
          <p:cNvSpPr/>
          <p:nvPr/>
        </p:nvSpPr>
        <p:spPr>
          <a:xfrm>
            <a:off x="640080" y="1737360"/>
            <a:ext cx="2331720" cy="1645920"/>
          </a:xfrm>
          <a:prstGeom prst="roundRect">
            <a:avLst>
              <a:gd name="adj" fmla="val 6667"/>
            </a:avLst>
          </a:prstGeom>
          <a:solidFill>
            <a:srgbClr val="12202B"/>
          </a:solidFill>
          <a:ln w="12700">
            <a:solidFill>
              <a:srgbClr val="12202B"/>
            </a:solidFill>
            <a:prstDash val="solid"/>
          </a:ln>
        </p:spPr>
        <p:txBody>
          <a:bodyPr/>
          <a:lstStyle/>
          <a:p>
            <a:endParaRPr lang="en-VN"/>
          </a:p>
        </p:txBody>
      </p:sp>
      <p:sp>
        <p:nvSpPr>
          <p:cNvPr id="5" name="Text 3"/>
          <p:cNvSpPr txBox="1"/>
          <p:nvPr/>
        </p:nvSpPr>
        <p:spPr>
          <a:xfrm>
            <a:off x="777240" y="1828800"/>
            <a:ext cx="2057400" cy="457200"/>
          </a:xfrm>
          <a:prstGeom prst="rect">
            <a:avLst/>
          </a:prstGeom>
          <a:noFill/>
          <a:ln/>
        </p:spPr>
        <p:txBody>
          <a:bodyPr wrap="square" lIns="0" tIns="0" rIns="0" bIns="0" rtlCol="0" anchor="t"/>
          <a:lstStyle/>
          <a:p>
            <a:pPr marL="0" indent="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331720"/>
            <a:ext cx="2057400" cy="914400"/>
          </a:xfrm>
          <a:prstGeom prst="rect">
            <a:avLst/>
          </a:prstGeom>
          <a:noFill/>
          <a:ln/>
        </p:spPr>
        <p:txBody>
          <a:bodyPr wrap="square" lIns="0" tIns="0" rIns="0" bIns="0" rtlCol="0" anchor="t"/>
          <a:lstStyle/>
          <a:p>
            <a:pPr marL="0" indent="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marL="0" indent="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560320"/>
            <a:ext cx="454152" cy="0"/>
          </a:xfrm>
          <a:prstGeom prst="line">
            <a:avLst/>
          </a:prstGeom>
          <a:noFill/>
          <a:ln w="25400">
            <a:solidFill>
              <a:srgbClr val="7A8592"/>
            </a:solidFill>
            <a:prstDash val="solid"/>
            <a:tailEnd type="triangle"/>
          </a:ln>
        </p:spPr>
        <p:txBody>
          <a:bodyPr/>
          <a:lstStyle/>
          <a:p>
            <a:endParaRPr lang="en-VN"/>
          </a:p>
        </p:txBody>
      </p:sp>
      <p:sp>
        <p:nvSpPr>
          <p:cNvPr id="8" name="Shape 6"/>
          <p:cNvSpPr/>
          <p:nvPr/>
        </p:nvSpPr>
        <p:spPr>
          <a:xfrm>
            <a:off x="3499104" y="1737360"/>
            <a:ext cx="2331720" cy="1645920"/>
          </a:xfrm>
          <a:prstGeom prst="roundRect">
            <a:avLst>
              <a:gd name="adj" fmla="val 6667"/>
            </a:avLst>
          </a:prstGeom>
          <a:solidFill>
            <a:srgbClr val="FBFAF6"/>
          </a:solidFill>
          <a:ln w="12700">
            <a:solidFill>
              <a:srgbClr val="DAD6CC"/>
            </a:solidFill>
            <a:prstDash val="solid"/>
          </a:ln>
        </p:spPr>
        <p:txBody>
          <a:bodyPr/>
          <a:lstStyle/>
          <a:p>
            <a:endParaRPr lang="en-VN"/>
          </a:p>
        </p:txBody>
      </p:sp>
      <p:sp>
        <p:nvSpPr>
          <p:cNvPr id="9" name="Text 7"/>
          <p:cNvSpPr txBox="1"/>
          <p:nvPr/>
        </p:nvSpPr>
        <p:spPr>
          <a:xfrm>
            <a:off x="3636264" y="1828800"/>
            <a:ext cx="2057400" cy="457200"/>
          </a:xfrm>
          <a:prstGeom prst="rect">
            <a:avLst/>
          </a:prstGeom>
          <a:noFill/>
          <a:ln/>
        </p:spPr>
        <p:txBody>
          <a:bodyPr wrap="square" lIns="0" tIns="0" rIns="0" bIns="0" rtlCol="0" anchor="t"/>
          <a:lstStyle/>
          <a:p>
            <a:pPr marL="0" indent="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331720"/>
            <a:ext cx="2057400" cy="914400"/>
          </a:xfrm>
          <a:prstGeom prst="rect">
            <a:avLst/>
          </a:prstGeom>
          <a:noFill/>
          <a:ln/>
        </p:spPr>
        <p:txBody>
          <a:bodyPr wrap="square" lIns="0" tIns="0" rIns="0" bIns="0" rtlCol="0" anchor="t"/>
          <a:lstStyle/>
          <a:p>
            <a:pPr marL="0" indent="0">
              <a:buNone/>
            </a:pPr>
            <a:r>
              <a:rPr lang="en-US" sz="1400" dirty="0">
                <a:solidFill>
                  <a:srgbClr val="4A5866"/>
                </a:solidFill>
                <a:latin typeface="Calibri" pitchFamily="34" charset="0"/>
                <a:ea typeface="Calibri" pitchFamily="34" charset="-122"/>
                <a:cs typeface="Calibri" pitchFamily="34" charset="-120"/>
              </a:rPr>
              <a:t>Kiểm tra giới hạn, lịch trống, booking gốc</a:t>
            </a:r>
            <a:endParaRPr lang="en-US" sz="1400" dirty="0"/>
          </a:p>
        </p:txBody>
      </p:sp>
      <p:sp>
        <p:nvSpPr>
          <p:cNvPr id="11" name="Shape 9"/>
          <p:cNvSpPr/>
          <p:nvPr/>
        </p:nvSpPr>
        <p:spPr>
          <a:xfrm>
            <a:off x="5867400" y="2560320"/>
            <a:ext cx="454152" cy="0"/>
          </a:xfrm>
          <a:prstGeom prst="line">
            <a:avLst/>
          </a:prstGeom>
          <a:noFill/>
          <a:ln w="25400">
            <a:solidFill>
              <a:srgbClr val="7A8592"/>
            </a:solidFill>
            <a:prstDash val="solid"/>
            <a:tailEnd type="triangle"/>
          </a:ln>
        </p:spPr>
        <p:txBody>
          <a:bodyPr/>
          <a:lstStyle/>
          <a:p>
            <a:endParaRPr lang="en-VN"/>
          </a:p>
        </p:txBody>
      </p:sp>
      <p:sp>
        <p:nvSpPr>
          <p:cNvPr id="12" name="Shape 10"/>
          <p:cNvSpPr/>
          <p:nvPr/>
        </p:nvSpPr>
        <p:spPr>
          <a:xfrm>
            <a:off x="6358128" y="1737360"/>
            <a:ext cx="2331720" cy="1645920"/>
          </a:xfrm>
          <a:prstGeom prst="roundRect">
            <a:avLst>
              <a:gd name="adj" fmla="val 6667"/>
            </a:avLst>
          </a:prstGeom>
          <a:solidFill>
            <a:srgbClr val="FBFAF6"/>
          </a:solidFill>
          <a:ln w="12700">
            <a:solidFill>
              <a:srgbClr val="DAD6CC"/>
            </a:solidFill>
            <a:prstDash val="solid"/>
          </a:ln>
        </p:spPr>
        <p:txBody>
          <a:bodyPr/>
          <a:lstStyle/>
          <a:p>
            <a:endParaRPr lang="en-VN"/>
          </a:p>
        </p:txBody>
      </p:sp>
      <p:sp>
        <p:nvSpPr>
          <p:cNvPr id="13" name="Text 11"/>
          <p:cNvSpPr txBox="1"/>
          <p:nvPr/>
        </p:nvSpPr>
        <p:spPr>
          <a:xfrm>
            <a:off x="6495288" y="1828800"/>
            <a:ext cx="2057400" cy="457200"/>
          </a:xfrm>
          <a:prstGeom prst="rect">
            <a:avLst/>
          </a:prstGeom>
          <a:noFill/>
          <a:ln/>
        </p:spPr>
        <p:txBody>
          <a:bodyPr wrap="square" lIns="0" tIns="0" rIns="0" bIns="0" rtlCol="0" anchor="t"/>
          <a:lstStyle/>
          <a:p>
            <a:pPr marL="0" indent="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331720"/>
            <a:ext cx="2057400" cy="914400"/>
          </a:xfrm>
          <a:prstGeom prst="rect">
            <a:avLst/>
          </a:prstGeom>
          <a:noFill/>
          <a:ln/>
        </p:spPr>
        <p:txBody>
          <a:bodyPr wrap="square" lIns="0" tIns="0" rIns="0" bIns="0" rtlCol="0" anchor="t"/>
          <a:lstStyle/>
          <a:p>
            <a:pPr marL="0" indent="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560320"/>
            <a:ext cx="454152" cy="0"/>
          </a:xfrm>
          <a:prstGeom prst="line">
            <a:avLst/>
          </a:prstGeom>
          <a:noFill/>
          <a:ln w="25400">
            <a:solidFill>
              <a:srgbClr val="7A8592"/>
            </a:solidFill>
            <a:prstDash val="solid"/>
            <a:tailEnd type="triangle"/>
          </a:ln>
        </p:spPr>
        <p:txBody>
          <a:bodyPr/>
          <a:lstStyle/>
          <a:p>
            <a:endParaRPr lang="en-VN"/>
          </a:p>
        </p:txBody>
      </p:sp>
      <p:sp>
        <p:nvSpPr>
          <p:cNvPr id="16" name="Shape 14"/>
          <p:cNvSpPr/>
          <p:nvPr/>
        </p:nvSpPr>
        <p:spPr>
          <a:xfrm>
            <a:off x="9217152" y="1737360"/>
            <a:ext cx="2331720" cy="1645920"/>
          </a:xfrm>
          <a:prstGeom prst="roundRect">
            <a:avLst>
              <a:gd name="adj" fmla="val 6667"/>
            </a:avLst>
          </a:prstGeom>
          <a:solidFill>
            <a:srgbClr val="12202B"/>
          </a:solidFill>
          <a:ln w="12700">
            <a:solidFill>
              <a:srgbClr val="12202B"/>
            </a:solidFill>
            <a:prstDash val="solid"/>
          </a:ln>
        </p:spPr>
        <p:txBody>
          <a:bodyPr/>
          <a:lstStyle/>
          <a:p>
            <a:endParaRPr lang="en-VN"/>
          </a:p>
        </p:txBody>
      </p:sp>
      <p:sp>
        <p:nvSpPr>
          <p:cNvPr id="17" name="Text 15"/>
          <p:cNvSpPr txBox="1"/>
          <p:nvPr/>
        </p:nvSpPr>
        <p:spPr>
          <a:xfrm>
            <a:off x="9354312" y="1828800"/>
            <a:ext cx="2057400" cy="457200"/>
          </a:xfrm>
          <a:prstGeom prst="rect">
            <a:avLst/>
          </a:prstGeom>
          <a:noFill/>
          <a:ln/>
        </p:spPr>
        <p:txBody>
          <a:bodyPr wrap="square" lIns="0" tIns="0" rIns="0" bIns="0" rtlCol="0" anchor="t"/>
          <a:lstStyle/>
          <a:p>
            <a:pPr marL="0" indent="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331720"/>
            <a:ext cx="2057400" cy="914400"/>
          </a:xfrm>
          <a:prstGeom prst="rect">
            <a:avLst/>
          </a:prstGeom>
          <a:noFill/>
          <a:ln/>
        </p:spPr>
        <p:txBody>
          <a:bodyPr wrap="square" lIns="0" tIns="0" rIns="0" bIns="0" rtlCol="0" anchor="t"/>
          <a:lstStyle/>
          <a:p>
            <a:pPr marL="0" indent="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marL="0" indent="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sp>
        <p:nvSpPr>
          <p:cNvPr id="19" name="Text 17"/>
          <p:cNvSpPr txBox="1"/>
          <p:nvPr/>
        </p:nvSpPr>
        <p:spPr>
          <a:xfrm>
            <a:off x="640080" y="3749040"/>
            <a:ext cx="10908792" cy="365760"/>
          </a:xfrm>
          <a:prstGeom prst="rect">
            <a:avLst/>
          </a:prstGeom>
          <a:noFill/>
          <a:ln/>
        </p:spPr>
        <p:txBody>
          <a:bodyPr wrap="square" lIns="0" tIns="0" rIns="0" bIns="0" rtlCol="0" anchor="ctr"/>
          <a:lstStyle/>
          <a:p>
            <a:pPr marL="0" indent="0">
              <a:buNone/>
            </a:pPr>
            <a:r>
              <a:rPr lang="en-US" sz="2000" b="1" dirty="0">
                <a:solidFill>
                  <a:srgbClr val="12202B"/>
                </a:solidFill>
                <a:latin typeface="Calibri" pitchFamily="34" charset="0"/>
                <a:ea typeface="Calibri" pitchFamily="34" charset="-122"/>
                <a:cs typeface="Calibri" pitchFamily="34" charset="-120"/>
              </a:rPr>
              <a:t>Điểm cần chú ý cho kiểm thử race</a:t>
            </a:r>
            <a:endParaRPr lang="en-US" sz="2000" dirty="0"/>
          </a:p>
        </p:txBody>
      </p:sp>
      <p:sp>
        <p:nvSpPr>
          <p:cNvPr id="20" name="Text 18"/>
          <p:cNvSpPr txBox="1"/>
          <p:nvPr/>
        </p:nvSpPr>
        <p:spPr>
          <a:xfrm>
            <a:off x="640080" y="4206240"/>
            <a:ext cx="10908792" cy="17373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Các bước kiểm tra (giới hạn, lịch trống, trạng thái booking gốc) chỉ đọc rồi quyết định; không giữ khóa tới lúc ghi.</a:t>
            </a:r>
            <a:endParaRPr lang="en-US" sz="1600" dirty="0"/>
          </a:p>
          <a:p>
            <a:pPr marL="342900" indent="-342900">
              <a:spcAft>
                <a:spcPts val="600"/>
              </a:spcAft>
              <a:buSzPct val="100000"/>
              <a:buChar char="•"/>
            </a:pPr>
            <a:r>
              <a:rPr lang="en-US" sz="1600" dirty="0">
                <a:solidFill>
                  <a:srgbClr val="4A5866"/>
                </a:solidFill>
                <a:latin typeface="Calibri" pitchFamily="34" charset="0"/>
                <a:ea typeface="Calibri" pitchFamily="34" charset="-122"/>
                <a:cs typeface="Calibri" pitchFamily="34" charset="-120"/>
              </a:rPr>
              <a:t>Chỉ có hai ràng buộc ở CSDL: UNIQUE uid và UNIQUE idempotencyKey (tính từ start, end, host).</a:t>
            </a:r>
            <a:endParaRPr lang="en-US" sz="1600" dirty="0"/>
          </a:p>
          <a:p>
            <a:pPr marL="342900" indent="-342900">
              <a:buSzPct val="100000"/>
              <a:buChar char="•"/>
            </a:pPr>
            <a:r>
              <a:rPr lang="en-US" sz="1600" dirty="0">
                <a:solidFill>
                  <a:srgbClr val="4A5866"/>
                </a:solidFill>
                <a:latin typeface="Calibri" pitchFamily="34" charset="0"/>
                <a:ea typeface="Calibri" pitchFamily="34" charset="-122"/>
                <a:cs typeface="Calibri" pitchFamily="34" charset="-120"/>
              </a:rPr>
              <a:t>Event có ghế dùng SELECT … FOR UPDATE khi thêm ghế vào booking đã có.</a:t>
            </a:r>
            <a:endParaRPr lang="en-US" sz="16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marL="0" indent="0">
              <a:buNone/>
            </a:pPr>
            <a:r>
              <a:rPr lang="en-US" sz="1200" dirty="0">
                <a:solidFill>
                  <a:srgbClr val="7A8592"/>
                </a:solidFill>
                <a:latin typeface="Calibri" pitchFamily="34" charset="0"/>
                <a:ea typeface="Calibri" pitchFamily="34" charset="-122"/>
                <a:cs typeface="Calibri" pitchFamily="34" charset="-120"/>
              </a:rPr>
              <a:t>Sơ đồ container và luồng tuần tự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7A8592"/>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marL="0" indent="0">
              <a:buNone/>
            </a:pPr>
            <a:r>
              <a:rPr lang="en-US" sz="1300" b="1" kern="0" spc="200" dirty="0">
                <a:solidFill>
                  <a:srgbClr val="B4531A"/>
                </a:solidFill>
                <a:latin typeface="Consolas" pitchFamily="34" charset="0"/>
                <a:ea typeface="Consolas" pitchFamily="34" charset="-122"/>
                <a:cs typeface="Consolas" pitchFamily="34" charset="-120"/>
              </a:rPr>
              <a:t>04 · MÔI TRƯỜNG VÀ ON-BOARDING</a:t>
            </a:r>
            <a:endParaRPr lang="en-US" sz="1300" dirty="0"/>
          </a:p>
        </p:txBody>
      </p:sp>
      <p:sp>
        <p:nvSpPr>
          <p:cNvPr id="3" name="Text 0"/>
          <p:cNvSpPr>
            <a:spLocks noGrp="1"/>
          </p:cNvSpPr>
          <p:nvPr>
            <p:ph type="title" idx="100" hasCustomPrompt="1"/>
          </p:nvPr>
        </p:nvSpPr>
        <p:spPr>
          <a:xfrm>
            <a:off x="640080" y="640080"/>
            <a:ext cx="10908792" cy="868680"/>
          </a:xfrm>
          <a:prstGeom prst="rect">
            <a:avLst/>
          </a:prstGeom>
          <a:noFill/>
          <a:ln/>
        </p:spPr>
        <p:txBody>
          <a:bodyPr wrap="square" lIns="0" tIns="0" rIns="0" bIns="0" rtlCol="0" anchor="t"/>
          <a:lstStyle/>
          <a:p>
            <a:pPr marL="0" indent="0">
              <a:buNone/>
            </a:pPr>
            <a:r>
              <a:rPr lang="en-US" sz="3400" b="1" dirty="0">
                <a:solidFill>
                  <a:srgbClr val="12202B"/>
                </a:solidFill>
                <a:latin typeface="Calibri" pitchFamily="34" charset="0"/>
                <a:ea typeface="Calibri" pitchFamily="34" charset="-122"/>
                <a:cs typeface="Calibri" pitchFamily="34" charset="-120"/>
              </a:rPr>
              <a:t>Hệ thống chạy trên máy, 3 luồng nghiệp vụ đạt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214116">
                  <a:extLst>
                    <a:ext uri="{9D8B030D-6E8A-4147-A177-3AD203B41FA5}">
                      <a16:colId xmlns:a16="http://schemas.microsoft.com/office/drawing/2014/main" val="20001"/>
                    </a:ext>
                  </a:extLst>
                </a:gridCol>
              </a:tblGrid>
              <a:tr h="457200">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extLst>
                  <a:ext uri="{0D108BD9-81ED-4DB2-BD59-A6C34878D82A}">
                    <a16:rowId xmlns:a16="http://schemas.microsoft.com/office/drawing/2014/main" val="10000"/>
                  </a:ext>
                </a:extLst>
              </a:tr>
              <a:tr h="457200">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116836">
                  <a:extLst>
                    <a:ext uri="{9D8B030D-6E8A-4147-A177-3AD203B41FA5}">
                      <a16:colId xmlns:a16="http://schemas.microsoft.com/office/drawing/2014/main" val="20002"/>
                    </a:ext>
                  </a:extLst>
                </a:gridCol>
              </a:tblGrid>
              <a:tr h="457200">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extLst>
                  <a:ext uri="{0D108BD9-81ED-4DB2-BD59-A6C34878D82A}">
                    <a16:rowId xmlns:a16="http://schemas.microsoft.com/office/drawing/2014/main" val="10000"/>
                  </a:ext>
                </a:extLst>
              </a:tr>
              <a:tr h="457200">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4" name="Text 2"/>
          <p:cNvSpPr txBox="1"/>
          <p:nvPr/>
        </p:nvSpPr>
        <p:spPr>
          <a:xfrm>
            <a:off x="640080" y="4937760"/>
            <a:ext cx="10908792" cy="822960"/>
          </a:xfrm>
          <a:prstGeom prst="rect">
            <a:avLst/>
          </a:prstGeom>
          <a:noFill/>
          <a:ln/>
        </p:spPr>
        <p:txBody>
          <a:bodyPr wrap="square" lIns="0" tIns="0" rIns="0" bIns="0" rtlCol="0" anchor="t"/>
          <a:lstStyle/>
          <a:p>
            <a:pPr marL="0" indent="0">
              <a:buNone/>
            </a:pPr>
            <a:r>
              <a:rPr lang="en-US" sz="1600" b="1" dirty="0">
                <a:solidFill>
                  <a:srgbClr val="12202B"/>
                </a:solidFill>
                <a:latin typeface="Calibri" pitchFamily="34" charset="0"/>
                <a:ea typeface="Calibri" pitchFamily="34" charset="-122"/>
                <a:cs typeface="Calibri" pitchFamily="34" charset="-120"/>
              </a:rPr>
              <a:t>Khó khăn đã xử lý: </a:t>
            </a:r>
            <a:r>
              <a:rPr lang="en-US" sz="1600" dirty="0">
                <a:solidFill>
                  <a:srgbClr val="4A5866"/>
                </a:solidFill>
                <a:latin typeface="Calibri" pitchFamily="34" charset="0"/>
                <a:ea typeface="Calibri" pitchFamily="34" charset="-122"/>
                <a:cs typeface="Calibri" pitchFamily="34" charset="-120"/>
              </a:rPr>
              <a:t>không có Docker (dùng Postgres.app); cột timestamp lưu UTC nên driver bị lệch +7 giờ; /api/cancel cần CSRF 64 ký tự.</a:t>
            </a:r>
            <a:endParaRPr lang="en-US" sz="1600" dirty="0"/>
          </a:p>
        </p:txBody>
      </p:sp>
      <p:sp>
        <p:nvSpPr>
          <p:cNvPr id="7" name="Text 3"/>
          <p:cNvSpPr txBox="1"/>
          <p:nvPr/>
        </p:nvSpPr>
        <p:spPr>
          <a:xfrm>
            <a:off x="640080" y="6355080"/>
            <a:ext cx="10332720" cy="274320"/>
          </a:xfrm>
          <a:prstGeom prst="rect">
            <a:avLst/>
          </a:prstGeom>
          <a:noFill/>
          <a:ln/>
        </p:spPr>
        <p:txBody>
          <a:bodyPr wrap="square" lIns="0" tIns="0" rIns="0" bIns="0" rtlCol="0" anchor="ctr"/>
          <a:lstStyle/>
          <a:p>
            <a:pPr marL="0" indent="0">
              <a:buNone/>
            </a:pPr>
            <a:r>
              <a:rPr lang="en-US" sz="1200" dirty="0">
                <a:solidFill>
                  <a:srgbClr val="7A8592"/>
                </a:solidFill>
                <a:latin typeface="Calibri" pitchFamily="34" charset="0"/>
                <a:ea typeface="Calibri" pitchFamily="34" charset="-122"/>
                <a:cs typeface="Calibri" pitchFamily="34" charset="-120"/>
              </a:rPr>
              <a:t>Cài đặt từ máy sạch: README.md · demo: npm run demo:midterm</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7A8592"/>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marL="0" indent="0">
              <a:buNone/>
            </a:pPr>
            <a:r>
              <a:rPr lang="en-US" sz="1300" b="1" kern="0" spc="200" dirty="0">
                <a:solidFill>
                  <a:srgbClr val="E07B39"/>
                </a:solidFill>
                <a:latin typeface="Consolas" pitchFamily="34" charset="0"/>
                <a:ea typeface="Consolas" pitchFamily="34" charset="-122"/>
                <a:cs typeface="Consolas" pitchFamily="34" charset="-120"/>
              </a:rPr>
              <a:t>05 · KẾ HOẠCH ÁP DỤNG K15</a:t>
            </a:r>
            <a:endParaRPr lang="en-US" sz="1300" dirty="0"/>
          </a:p>
        </p:txBody>
      </p:sp>
      <p:sp>
        <p:nvSpPr>
          <p:cNvPr id="3" name="Text 0"/>
          <p:cNvSpPr>
            <a:spLocks noGrp="1"/>
          </p:cNvSpPr>
          <p:nvPr>
            <p:ph type="title" idx="100" hasCustomPrompt="1"/>
          </p:nvPr>
        </p:nvSpPr>
        <p:spPr>
          <a:xfrm>
            <a:off x="640080" y="640080"/>
            <a:ext cx="10908792" cy="868680"/>
          </a:xfrm>
          <a:prstGeom prst="rect">
            <a:avLst/>
          </a:prstGeom>
          <a:noFill/>
          <a:ln/>
        </p:spPr>
        <p:txBody>
          <a:bodyPr wrap="square" lIns="0" tIns="0" rIns="0" bIns="0" rtlCol="0" anchor="t"/>
          <a:lstStyle/>
          <a:p>
            <a:pPr marL="0" indent="0">
              <a:buNone/>
            </a:pPr>
            <a:r>
              <a:rPr lang="en-US" sz="3400" b="1" dirty="0">
                <a:solidFill>
                  <a:srgbClr val="F4F2EC"/>
                </a:solidFill>
                <a:latin typeface="Calibri" pitchFamily="34" charset="0"/>
                <a:ea typeface="Calibri" pitchFamily="34" charset="-122"/>
                <a:cs typeface="Calibri" pitchFamily="34" charset="-120"/>
              </a:rPr>
              <a:t>Phạm vi, giả định và tiêu chí đánh giá</a:t>
            </a:r>
            <a:endParaRPr lang="en-US" sz="3400" dirty="0"/>
          </a:p>
        </p:txBody>
      </p:sp>
      <p:sp>
        <p:nvSpPr>
          <p:cNvPr id="4" name="Shape 2"/>
          <p:cNvSpPr/>
          <p:nvPr/>
        </p:nvSpPr>
        <p:spPr>
          <a:xfrm>
            <a:off x="640080" y="1691640"/>
            <a:ext cx="3422904" cy="4297680"/>
          </a:xfrm>
          <a:prstGeom prst="roundRect">
            <a:avLst>
              <a:gd name="adj" fmla="val 3206"/>
            </a:avLst>
          </a:prstGeom>
          <a:solidFill>
            <a:srgbClr val="1D3142"/>
          </a:solidFill>
          <a:ln w="12700">
            <a:solidFill>
              <a:srgbClr val="1D3142"/>
            </a:solidFill>
            <a:prstDash val="solid"/>
          </a:ln>
        </p:spPr>
        <p:txBody>
          <a:bodyPr/>
          <a:lstStyle/>
          <a:p>
            <a:endParaRPr lang="en-VN"/>
          </a:p>
        </p:txBody>
      </p:sp>
      <p:sp>
        <p:nvSpPr>
          <p:cNvPr id="5" name="Text 3"/>
          <p:cNvSpPr txBox="1"/>
          <p:nvPr/>
        </p:nvSpPr>
        <p:spPr>
          <a:xfrm>
            <a:off x="914400" y="1874520"/>
            <a:ext cx="2874264" cy="365760"/>
          </a:xfrm>
          <a:prstGeom prst="rect">
            <a:avLst/>
          </a:prstGeom>
          <a:noFill/>
          <a:ln/>
        </p:spPr>
        <p:txBody>
          <a:bodyPr wrap="square" lIns="0" tIns="0" rIns="0" bIns="0" rtlCol="0" anchor="ctr"/>
          <a:lstStyle/>
          <a:p>
            <a:pPr marL="0" indent="0">
              <a:buNone/>
            </a:pPr>
            <a:r>
              <a:rPr lang="en-US" sz="1400" b="1" dirty="0">
                <a:solidFill>
                  <a:srgbClr val="E07B39"/>
                </a:solidFill>
                <a:latin typeface="Consolas" pitchFamily="34" charset="0"/>
                <a:ea typeface="Consolas" pitchFamily="34" charset="-122"/>
                <a:cs typeface="Consolas" pitchFamily="34" charset="-120"/>
              </a:rPr>
              <a:t>PHẠM VI</a:t>
            </a:r>
            <a:endParaRPr lang="en-US" sz="1400" dirty="0"/>
          </a:p>
        </p:txBody>
      </p:sp>
      <p:sp>
        <p:nvSpPr>
          <p:cNvPr id="6" name="Text 4"/>
          <p:cNvSpPr txBox="1"/>
          <p:nvPr/>
        </p:nvSpPr>
        <p:spPr>
          <a:xfrm>
            <a:off x="914400"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Đặt lịch 1-1 và event có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Event cần xác nhận (PENDING)</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Đổi lịch, hủy lịch</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Giới hạn số booking/ngày</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Ngoài phạm vi: lịch ngoài, thanh toán, team, API v2</a:t>
            </a:r>
            <a:endParaRPr lang="en-US" sz="1500" dirty="0"/>
          </a:p>
        </p:txBody>
      </p:sp>
      <p:sp>
        <p:nvSpPr>
          <p:cNvPr id="7" name="Shape 5"/>
          <p:cNvSpPr/>
          <p:nvPr/>
        </p:nvSpPr>
        <p:spPr>
          <a:xfrm>
            <a:off x="4383024" y="1691640"/>
            <a:ext cx="3422904" cy="4297680"/>
          </a:xfrm>
          <a:prstGeom prst="roundRect">
            <a:avLst>
              <a:gd name="adj" fmla="val 3206"/>
            </a:avLst>
          </a:prstGeom>
          <a:solidFill>
            <a:srgbClr val="1D3142"/>
          </a:solidFill>
          <a:ln w="12700">
            <a:solidFill>
              <a:srgbClr val="1D3142"/>
            </a:solidFill>
            <a:prstDash val="solid"/>
          </a:ln>
        </p:spPr>
        <p:txBody>
          <a:bodyPr/>
          <a:lstStyle/>
          <a:p>
            <a:endParaRPr lang="en-VN"/>
          </a:p>
        </p:txBody>
      </p:sp>
      <p:sp>
        <p:nvSpPr>
          <p:cNvPr id="8" name="Text 6"/>
          <p:cNvSpPr txBox="1"/>
          <p:nvPr/>
        </p:nvSpPr>
        <p:spPr>
          <a:xfrm>
            <a:off x="4657344" y="1874520"/>
            <a:ext cx="2874264" cy="365760"/>
          </a:xfrm>
          <a:prstGeom prst="rect">
            <a:avLst/>
          </a:prstGeom>
          <a:noFill/>
          <a:ln/>
        </p:spPr>
        <p:txBody>
          <a:bodyPr wrap="square" lIns="0" tIns="0" rIns="0" bIns="0" rtlCol="0" anchor="ctr"/>
          <a:lstStyle/>
          <a:p>
            <a:pPr marL="0" indent="0">
              <a:buNone/>
            </a:pPr>
            <a:r>
              <a:rPr lang="en-US" sz="1400" b="1" dirty="0">
                <a:solidFill>
                  <a:srgbClr val="7FB0FF"/>
                </a:solidFill>
                <a:latin typeface="Consolas" pitchFamily="34" charset="0"/>
                <a:ea typeface="Consolas" pitchFamily="34" charset="-122"/>
                <a:cs typeface="Consolas" pitchFamily="34" charset="-120"/>
              </a:rPr>
              <a:t>GIẢ ĐỊNH</a:t>
            </a:r>
            <a:endParaRPr lang="en-US" sz="1400" dirty="0"/>
          </a:p>
        </p:txBody>
      </p:sp>
      <p:sp>
        <p:nvSpPr>
          <p:cNvPr id="9" name="Text 7"/>
          <p:cNvSpPr txBox="1"/>
          <p:nvPr/>
        </p:nvSpPr>
        <p:spPr>
          <a:xfrm>
            <a:off x="4657344"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Một instance, một PostgreSQL, chạy local</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Chạy yarn dev; production có thể rộng cửa sổ hơn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Host không nối lịch ngoài</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Rate limit tắt</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Mỗi vòng dùng một ngày riêng</a:t>
            </a:r>
            <a:endParaRPr lang="en-US" sz="1500" dirty="0"/>
          </a:p>
        </p:txBody>
      </p:sp>
      <p:sp>
        <p:nvSpPr>
          <p:cNvPr id="10" name="Shape 8"/>
          <p:cNvSpPr/>
          <p:nvPr/>
        </p:nvSpPr>
        <p:spPr>
          <a:xfrm>
            <a:off x="8125968" y="1691640"/>
            <a:ext cx="3422904" cy="4297680"/>
          </a:xfrm>
          <a:prstGeom prst="roundRect">
            <a:avLst>
              <a:gd name="adj" fmla="val 3206"/>
            </a:avLst>
          </a:prstGeom>
          <a:solidFill>
            <a:srgbClr val="1D3142"/>
          </a:solidFill>
          <a:ln w="12700">
            <a:solidFill>
              <a:srgbClr val="1D3142"/>
            </a:solidFill>
            <a:prstDash val="solid"/>
          </a:ln>
        </p:spPr>
        <p:txBody>
          <a:bodyPr/>
          <a:lstStyle/>
          <a:p>
            <a:endParaRPr lang="en-VN"/>
          </a:p>
        </p:txBody>
      </p:sp>
      <p:sp>
        <p:nvSpPr>
          <p:cNvPr id="11" name="Text 9"/>
          <p:cNvSpPr txBox="1"/>
          <p:nvPr/>
        </p:nvSpPr>
        <p:spPr>
          <a:xfrm>
            <a:off x="8400288" y="1874520"/>
            <a:ext cx="2874264" cy="365760"/>
          </a:xfrm>
          <a:prstGeom prst="rect">
            <a:avLst/>
          </a:prstGeom>
          <a:noFill/>
          <a:ln/>
        </p:spPr>
        <p:txBody>
          <a:bodyPr wrap="square" lIns="0" tIns="0" rIns="0" bIns="0" rtlCol="0" anchor="ctr"/>
          <a:lstStyle/>
          <a:p>
            <a:pPr marL="0" indent="0">
              <a:buNone/>
            </a:pPr>
            <a:r>
              <a:rPr lang="en-US" sz="1400" b="1" dirty="0">
                <a:solidFill>
                  <a:srgbClr val="E07B39"/>
                </a:solidFill>
                <a:latin typeface="Consolas" pitchFamily="34" charset="0"/>
                <a:ea typeface="Consolas" pitchFamily="34" charset="-122"/>
                <a:cs typeface="Consolas" pitchFamily="34" charset="-120"/>
              </a:rPr>
              <a:t>TIÊU CHÍ PASS / FAIL</a:t>
            </a:r>
            <a:endParaRPr lang="en-US" sz="1400" dirty="0"/>
          </a:p>
        </p:txBody>
      </p:sp>
      <p:sp>
        <p:nvSpPr>
          <p:cNvPr id="12" name="Text 10"/>
          <p:cNvSpPr txBox="1"/>
          <p:nvPr/>
        </p:nvSpPr>
        <p:spPr>
          <a:xfrm>
            <a:off x="8400288" y="2377440"/>
            <a:ext cx="2874264"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Oracle là invariant trong CSDL, không phải mã HTTP</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I1: host không có 2 booking chồng giờ</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I2: không vượt số ghế</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I4–I6: đổi lịch, hủy, giới hạn</a:t>
            </a:r>
            <a:endParaRPr lang="en-US" sz="1500" dirty="0"/>
          </a:p>
          <a:p>
            <a:pPr marL="342900" indent="-342900">
              <a:spcAft>
                <a:spcPts val="800"/>
              </a:spcAft>
              <a:buSzPct val="100000"/>
              <a:buChar char="•"/>
            </a:pPr>
            <a:r>
              <a:rPr lang="en-US" sz="1500" dirty="0">
                <a:solidFill>
                  <a:srgbClr val="B8C6D2"/>
                </a:solidFill>
                <a:latin typeface="Calibri" pitchFamily="34" charset="0"/>
                <a:ea typeface="Calibri" pitchFamily="34" charset="-122"/>
                <a:cs typeface="Calibri" pitchFamily="34" charset="-120"/>
              </a:rPr>
              <a:t>FAIL khi 1 vòng vi phạm; so với nhóm đối chứng tuần tự</a:t>
            </a:r>
            <a:endParaRPr lang="en-US" sz="1500" dirty="0"/>
          </a:p>
        </p:txBody>
      </p:sp>
      <p:sp>
        <p:nvSpPr>
          <p:cNvPr id="13" name="Text 11"/>
          <p:cNvSpPr txBox="1"/>
          <p:nvPr/>
        </p:nvSpPr>
        <p:spPr>
          <a:xfrm>
            <a:off x="640080" y="6355080"/>
            <a:ext cx="10332720" cy="274320"/>
          </a:xfrm>
          <a:prstGeom prst="rect">
            <a:avLst/>
          </a:prstGeom>
          <a:noFill/>
          <a:ln/>
        </p:spPr>
        <p:txBody>
          <a:bodyPr wrap="square" lIns="0" tIns="0" rIns="0" bIns="0" rtlCol="0" anchor="ctr"/>
          <a:lstStyle/>
          <a:p>
            <a:pPr marL="0" indent="0">
              <a:buNone/>
            </a:pPr>
            <a:r>
              <a:rPr lang="en-US" sz="1200" dirty="0">
                <a:solidFill>
                  <a:srgbClr val="8C9AA8"/>
                </a:solidFill>
                <a:latin typeface="Calibri" pitchFamily="34" charset="0"/>
                <a:ea typeface="Calibri" pitchFamily="34" charset="-122"/>
                <a:cs typeface="Calibri" pitchFamily="34" charset="-120"/>
              </a:rPr>
              <a:t>Chi tiết: BAO_CAO.md phần D,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C9AA8"/>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marL="0" indent="0">
              <a:buNone/>
            </a:pPr>
            <a:r>
              <a:rPr lang="en-US" sz="1300" b="1" kern="0" spc="200" dirty="0">
                <a:solidFill>
                  <a:srgbClr val="B4531A"/>
                </a:solidFill>
                <a:latin typeface="Consolas" pitchFamily="34" charset="0"/>
                <a:ea typeface="Consolas" pitchFamily="34" charset="-122"/>
                <a:cs typeface="Consolas" pitchFamily="34" charset="-120"/>
              </a:rPr>
              <a:t>06 · KẾT QUẢ THỬ NGHIỆM ĐẦU TIÊN</a:t>
            </a:r>
            <a:endParaRPr lang="en-US" sz="1300" dirty="0"/>
          </a:p>
        </p:txBody>
      </p:sp>
      <p:sp>
        <p:nvSpPr>
          <p:cNvPr id="3" name="Text 0"/>
          <p:cNvSpPr>
            <a:spLocks noGrp="1"/>
          </p:cNvSpPr>
          <p:nvPr>
            <p:ph type="title" idx="100" hasCustomPrompt="1"/>
          </p:nvPr>
        </p:nvSpPr>
        <p:spPr>
          <a:xfrm>
            <a:off x="640080" y="640080"/>
            <a:ext cx="10908792" cy="868680"/>
          </a:xfrm>
          <a:prstGeom prst="rect">
            <a:avLst/>
          </a:prstGeom>
          <a:noFill/>
          <a:ln/>
        </p:spPr>
        <p:txBody>
          <a:bodyPr wrap="square" lIns="0" tIns="0" rIns="0" bIns="0" rtlCol="0" anchor="t"/>
          <a:lstStyle/>
          <a:p>
            <a:pPr marL="0" indent="0">
              <a:buNone/>
            </a:pPr>
            <a:r>
              <a:rPr lang="en-US" sz="3400" b="1" dirty="0">
                <a:solidFill>
                  <a:srgbClr val="12202B"/>
                </a:solidFill>
                <a:latin typeface="Calibri" pitchFamily="34" charset="0"/>
                <a:ea typeface="Calibri" pitchFamily="34" charset="-122"/>
                <a:cs typeface="Calibri" pitchFamily="34" charset="-120"/>
              </a:rPr>
              <a:t>Một cơ chế bảo vệ hoạt động, một cơ chế thì không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3832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566928">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Thử nghiệm</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10 request đồng thời</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Gửi tuần tự</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Trong CSDL</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extLst>
                  <a:ext uri="{0D108BD9-81ED-4DB2-BD59-A6C34878D82A}">
                    <a16:rowId xmlns:a16="http://schemas.microsoft.com/office/drawing/2014/main" val="10000"/>
                  </a:ext>
                </a:extLst>
              </a:tr>
              <a:tr h="566928">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S1 · cùng một slot</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PASS (0/10 vòng sai)</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PASS</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1 booking</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S2 · slot lệch giờ, chồng lấn</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FAIL (10/10 vòng sai)</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marL="0" indent="0">
                        <a:buNone/>
                      </a:pPr>
                      <a:r>
                        <a:rPr lang="en-US" sz="1500" dirty="0">
                          <a:solidFill>
                            <a:srgbClr val="12202B"/>
                          </a:solidFill>
                          <a:latin typeface="Calibri" pitchFamily="34" charset="0"/>
                          <a:ea typeface="Calibri" pitchFamily="34" charset="-122"/>
                          <a:cs typeface="Calibri" pitchFamily="34" charset="-120"/>
                        </a:rPr>
                        <a:t>PASS</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marL="0" indent="0">
                        <a:buNone/>
                      </a:pPr>
                      <a:r>
                        <a:rPr lang="en-US" sz="1500" b="1" dirty="0">
                          <a:solidFill>
                            <a:srgbClr val="12202B"/>
                          </a:solidFill>
                          <a:latin typeface="Calibri" pitchFamily="34" charset="0"/>
                          <a:ea typeface="Calibri" pitchFamily="34" charset="-122"/>
                          <a:cs typeface="Calibri" pitchFamily="34" charset="-120"/>
                        </a:rPr>
                        <a:t>10 booking chồng nhau</a:t>
                      </a:r>
                      <a:endParaRPr lang="en-US" sz="1500" dirty="0">
                        <a:latin typeface="Calibri" charset="0"/>
                        <a:ea typeface="Calibri" charset="0"/>
                        <a:cs typeface="Calibri" charset="0"/>
                      </a:endParaRPr>
                    </a:p>
                  </a:txBody>
                  <a:tcPr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extLst>
                  <a:ext uri="{0D108BD9-81ED-4DB2-BD59-A6C34878D82A}">
                    <a16:rowId xmlns:a16="http://schemas.microsoft.com/office/drawing/2014/main" val="10002"/>
                  </a:ext>
                </a:extLst>
              </a:tr>
            </a:tbl>
          </a:graphicData>
        </a:graphic>
      </p:graphicFrame>
      <p:sp>
        <p:nvSpPr>
          <p:cNvPr id="5" name="Shape 2"/>
          <p:cNvSpPr/>
          <p:nvPr/>
        </p:nvSpPr>
        <p:spPr>
          <a:xfrm>
            <a:off x="640080" y="3749040"/>
            <a:ext cx="3422904" cy="2103120"/>
          </a:xfrm>
          <a:prstGeom prst="roundRect">
            <a:avLst>
              <a:gd name="adj" fmla="val 5217"/>
            </a:avLst>
          </a:prstGeom>
          <a:solidFill>
            <a:srgbClr val="FBFAF6"/>
          </a:solidFill>
          <a:ln w="12700">
            <a:solidFill>
              <a:srgbClr val="DAD6CC"/>
            </a:solidFill>
            <a:prstDash val="solid"/>
          </a:ln>
        </p:spPr>
        <p:txBody>
          <a:bodyPr/>
          <a:lstStyle/>
          <a:p>
            <a:endParaRPr lang="en-VN"/>
          </a:p>
        </p:txBody>
      </p:sp>
      <p:sp>
        <p:nvSpPr>
          <p:cNvPr id="6" name="Text 3"/>
          <p:cNvSpPr txBox="1"/>
          <p:nvPr/>
        </p:nvSpPr>
        <p:spPr>
          <a:xfrm>
            <a:off x="914400" y="3931920"/>
            <a:ext cx="2874264" cy="457200"/>
          </a:xfrm>
          <a:prstGeom prst="rect">
            <a:avLst/>
          </a:prstGeom>
          <a:noFill/>
          <a:ln/>
        </p:spPr>
        <p:txBody>
          <a:bodyPr wrap="square" lIns="0" tIns="0" rIns="0" bIns="0" rtlCol="0" anchor="ctr"/>
          <a:lstStyle/>
          <a:p>
            <a:pPr marL="0" indent="0">
              <a:buNone/>
            </a:pPr>
            <a:r>
              <a:rPr lang="en-US" sz="2000" b="1" dirty="0">
                <a:solidFill>
                  <a:srgbClr val="12202B"/>
                </a:solidFill>
                <a:latin typeface="Calibri" pitchFamily="34" charset="0"/>
                <a:ea typeface="Calibri" pitchFamily="34" charset="-122"/>
                <a:cs typeface="Calibri" pitchFamily="34" charset="-120"/>
              </a:rPr>
              <a:t>Mã HTTP vẫn 200</a:t>
            </a:r>
            <a:endParaRPr lang="en-US" sz="2000" dirty="0"/>
          </a:p>
        </p:txBody>
      </p:sp>
      <p:sp>
        <p:nvSpPr>
          <p:cNvPr id="7" name="Text 4"/>
          <p:cNvSpPr txBox="1"/>
          <p:nvPr/>
        </p:nvSpPr>
        <p:spPr>
          <a:xfrm>
            <a:off x="914400" y="4480560"/>
            <a:ext cx="2874264" cy="1280160"/>
          </a:xfrm>
          <a:prstGeom prst="rect">
            <a:avLst/>
          </a:prstGeom>
          <a:noFill/>
          <a:ln/>
        </p:spPr>
        <p:txBody>
          <a:bodyPr wrap="square" lIns="0" tIns="0" rIns="0" bIns="0" rtlCol="0" anchor="t"/>
          <a:lstStyle/>
          <a:p>
            <a:pPr marL="0" indent="0">
              <a:buNone/>
            </a:pPr>
            <a:r>
              <a:rPr lang="en-US" sz="1500" dirty="0">
                <a:solidFill>
                  <a:srgbClr val="4A5866"/>
                </a:solidFill>
                <a:latin typeface="Calibri" pitchFamily="34" charset="0"/>
                <a:ea typeface="Calibri" pitchFamily="34" charset="-122"/>
                <a:cs typeface="Calibri" pitchFamily="34" charset="-120"/>
              </a:rPr>
              <a:t>Cả 10 request đều trả thành công. Chỉ truy vấn CSDL mới thấy dữ liệu sai.</a:t>
            </a:r>
            <a:endParaRPr lang="en-US" sz="1500" dirty="0"/>
          </a:p>
        </p:txBody>
      </p:sp>
      <p:sp>
        <p:nvSpPr>
          <p:cNvPr id="4" name="Shape 5"/>
          <p:cNvSpPr/>
          <p:nvPr/>
        </p:nvSpPr>
        <p:spPr>
          <a:xfrm>
            <a:off x="4383024" y="3749040"/>
            <a:ext cx="3422904" cy="2103120"/>
          </a:xfrm>
          <a:prstGeom prst="roundRect">
            <a:avLst>
              <a:gd name="adj" fmla="val 5217"/>
            </a:avLst>
          </a:prstGeom>
          <a:solidFill>
            <a:srgbClr val="FBFAF6"/>
          </a:solidFill>
          <a:ln w="12700">
            <a:solidFill>
              <a:srgbClr val="DAD6CC"/>
            </a:solidFill>
            <a:prstDash val="solid"/>
          </a:ln>
        </p:spPr>
        <p:txBody>
          <a:bodyPr/>
          <a:lstStyle/>
          <a:p>
            <a:endParaRPr lang="en-VN"/>
          </a:p>
        </p:txBody>
      </p:sp>
      <p:sp>
        <p:nvSpPr>
          <p:cNvPr id="9" name="Text 6"/>
          <p:cNvSpPr txBox="1"/>
          <p:nvPr/>
        </p:nvSpPr>
        <p:spPr>
          <a:xfrm>
            <a:off x="4657344" y="3931920"/>
            <a:ext cx="2874264" cy="457200"/>
          </a:xfrm>
          <a:prstGeom prst="rect">
            <a:avLst/>
          </a:prstGeom>
          <a:noFill/>
          <a:ln/>
        </p:spPr>
        <p:txBody>
          <a:bodyPr wrap="square" lIns="0" tIns="0" rIns="0" bIns="0" rtlCol="0" anchor="ctr"/>
          <a:lstStyle/>
          <a:p>
            <a:pPr marL="0" indent="0">
              <a:buNone/>
            </a:pPr>
            <a:r>
              <a:rPr lang="en-US" sz="2000" b="1" dirty="0">
                <a:solidFill>
                  <a:srgbClr val="12202B"/>
                </a:solidFill>
                <a:latin typeface="Calibri" pitchFamily="34" charset="0"/>
                <a:ea typeface="Calibri" pitchFamily="34" charset="-122"/>
                <a:cs typeface="Calibri" pitchFamily="34" charset="-120"/>
              </a:rPr>
              <a:t>Chỉ cần 2 người</a:t>
            </a:r>
            <a:endParaRPr lang="en-US" sz="2000" dirty="0"/>
          </a:p>
        </p:txBody>
      </p:sp>
      <p:sp>
        <p:nvSpPr>
          <p:cNvPr id="10" name="Text 7"/>
          <p:cNvSpPr txBox="1"/>
          <p:nvPr/>
        </p:nvSpPr>
        <p:spPr>
          <a:xfrm>
            <a:off x="4657344" y="4480560"/>
            <a:ext cx="2874264" cy="1280160"/>
          </a:xfrm>
          <a:prstGeom prst="rect">
            <a:avLst/>
          </a:prstGeom>
          <a:noFill/>
          <a:ln/>
        </p:spPr>
        <p:txBody>
          <a:bodyPr wrap="square" lIns="0" tIns="0" rIns="0" bIns="0" rtlCol="0" anchor="t"/>
          <a:lstStyle/>
          <a:p>
            <a:pPr marL="0" indent="0">
              <a:buNone/>
            </a:pPr>
            <a:r>
              <a:rPr lang="en-US" sz="1500" dirty="0">
                <a:solidFill>
                  <a:srgbClr val="4A5866"/>
                </a:solidFill>
                <a:latin typeface="Calibri" pitchFamily="34" charset="0"/>
                <a:ea typeface="Calibri" pitchFamily="34" charset="-122"/>
                <a:cs typeface="Calibri" pitchFamily="34" charset="-120"/>
              </a:rPr>
              <a:t>Thí nghiệm riêng với 2 request đồng thời, 20 vòng: S2 vi phạm 20/20 (results/sensitivity-n2).</a:t>
            </a:r>
            <a:endParaRPr lang="en-US" sz="1500" dirty="0"/>
          </a:p>
        </p:txBody>
      </p:sp>
      <p:sp>
        <p:nvSpPr>
          <p:cNvPr id="11" name="Shape 8"/>
          <p:cNvSpPr/>
          <p:nvPr/>
        </p:nvSpPr>
        <p:spPr>
          <a:xfrm>
            <a:off x="8125968" y="3749040"/>
            <a:ext cx="3422904" cy="2103120"/>
          </a:xfrm>
          <a:prstGeom prst="roundRect">
            <a:avLst>
              <a:gd name="adj" fmla="val 5217"/>
            </a:avLst>
          </a:prstGeom>
          <a:solidFill>
            <a:srgbClr val="FBFAF6"/>
          </a:solidFill>
          <a:ln w="12700">
            <a:solidFill>
              <a:srgbClr val="DAD6CC"/>
            </a:solidFill>
            <a:prstDash val="solid"/>
          </a:ln>
        </p:spPr>
        <p:txBody>
          <a:bodyPr/>
          <a:lstStyle/>
          <a:p>
            <a:endParaRPr lang="en-VN"/>
          </a:p>
        </p:txBody>
      </p:sp>
      <p:sp>
        <p:nvSpPr>
          <p:cNvPr id="12" name="Text 9"/>
          <p:cNvSpPr txBox="1"/>
          <p:nvPr/>
        </p:nvSpPr>
        <p:spPr>
          <a:xfrm>
            <a:off x="8400288" y="3931920"/>
            <a:ext cx="2874264" cy="457200"/>
          </a:xfrm>
          <a:prstGeom prst="rect">
            <a:avLst/>
          </a:prstGeom>
          <a:noFill/>
          <a:ln/>
        </p:spPr>
        <p:txBody>
          <a:bodyPr wrap="square" lIns="0" tIns="0" rIns="0" bIns="0" rtlCol="0" anchor="ctr"/>
          <a:lstStyle/>
          <a:p>
            <a:pPr marL="0" indent="0">
              <a:buNone/>
            </a:pPr>
            <a:r>
              <a:rPr lang="en-US" sz="2000" b="1" dirty="0">
                <a:solidFill>
                  <a:srgbClr val="12202B"/>
                </a:solidFill>
                <a:latin typeface="Calibri" pitchFamily="34" charset="0"/>
                <a:ea typeface="Calibri" pitchFamily="34" charset="-122"/>
                <a:cs typeface="Calibri" pitchFamily="34" charset="-120"/>
              </a:rPr>
              <a:t>Do khóa quá hẹp</a:t>
            </a:r>
            <a:endParaRPr lang="en-US" sz="2000" dirty="0"/>
          </a:p>
        </p:txBody>
      </p:sp>
      <p:sp>
        <p:nvSpPr>
          <p:cNvPr id="13" name="Text 10"/>
          <p:cNvSpPr txBox="1"/>
          <p:nvPr/>
        </p:nvSpPr>
        <p:spPr>
          <a:xfrm>
            <a:off x="8400288" y="4480560"/>
            <a:ext cx="2874264" cy="1280160"/>
          </a:xfrm>
          <a:prstGeom prst="rect">
            <a:avLst/>
          </a:prstGeom>
          <a:noFill/>
          <a:ln/>
        </p:spPr>
        <p:txBody>
          <a:bodyPr wrap="square" lIns="0" tIns="0" rIns="0" bIns="0" rtlCol="0" anchor="t"/>
          <a:lstStyle/>
          <a:p>
            <a:pPr marL="0" indent="0">
              <a:buNone/>
            </a:pPr>
            <a:r>
              <a:rPr lang="en-US" sz="1500" dirty="0">
                <a:solidFill>
                  <a:srgbClr val="4A5866"/>
                </a:solidFill>
                <a:latin typeface="Calibri" pitchFamily="34" charset="0"/>
                <a:ea typeface="Calibri" pitchFamily="34" charset="-122"/>
                <a:cs typeface="Calibri" pitchFamily="34" charset="-120"/>
              </a:rPr>
              <a:t>idempotencyKey chỉ bắt slot trùng khít start, end và host.</a:t>
            </a:r>
            <a:endParaRPr lang="en-US" sz="1500" dirty="0"/>
          </a:p>
        </p:txBody>
      </p:sp>
      <p:sp>
        <p:nvSpPr>
          <p:cNvPr id="14" name="Text 11"/>
          <p:cNvSpPr txBox="1"/>
          <p:nvPr/>
        </p:nvSpPr>
        <p:spPr>
          <a:xfrm>
            <a:off x="640080" y="6355080"/>
            <a:ext cx="10332720" cy="274320"/>
          </a:xfrm>
          <a:prstGeom prst="rect">
            <a:avLst/>
          </a:prstGeom>
          <a:noFill/>
          <a:ln/>
        </p:spPr>
        <p:txBody>
          <a:bodyPr wrap="square" lIns="0" tIns="0" rIns="0" bIns="0" rtlCol="0" anchor="ctr"/>
          <a:lstStyle/>
          <a:p>
            <a:pPr marL="0" indent="0">
              <a:buNone/>
            </a:pPr>
            <a:r>
              <a:rPr lang="en-US" sz="1200" dirty="0">
                <a:solidFill>
                  <a:srgbClr val="7A8592"/>
                </a:solidFill>
                <a:latin typeface="Calibri" pitchFamily="34" charset="0"/>
                <a:ea typeface="Calibri" pitchFamily="34" charset="-122"/>
                <a:cs typeface="Calibri" pitchFamily="34" charset="-120"/>
              </a:rPr>
              <a:t>Bảng: 10 request/vòng; demo chạy 3 vòng, kết quả chuẩn 10 vòng · Nhóm đã chạy đủ 8 scenario, trình bày ở cuối kỳ</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7A8592"/>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92608"/>
            <a:ext cx="10908792" cy="274320"/>
          </a:xfrm>
          <a:prstGeom prst="rect">
            <a:avLst/>
          </a:prstGeom>
          <a:noFill/>
          <a:ln/>
        </p:spPr>
        <p:txBody>
          <a:bodyPr wrap="square" lIns="0" tIns="0" rIns="0" bIns="0" rtlCol="0" anchor="ctr"/>
          <a:lstStyle/>
          <a:p>
            <a:pPr marL="0" indent="0">
              <a:buNone/>
            </a:pPr>
            <a:r>
              <a:rPr lang="en-US" sz="1300" b="1" kern="0" spc="200" dirty="0">
                <a:solidFill>
                  <a:srgbClr val="E07B39"/>
                </a:solidFill>
                <a:latin typeface="Consolas" pitchFamily="34" charset="0"/>
                <a:ea typeface="Consolas" pitchFamily="34" charset="-122"/>
                <a:cs typeface="Consolas" pitchFamily="34" charset="-120"/>
              </a:rPr>
              <a:t>07 · KẾ HOẠCH TIẾP THEO</a:t>
            </a:r>
            <a:endParaRPr lang="en-US" sz="1300" dirty="0"/>
          </a:p>
        </p:txBody>
      </p:sp>
      <p:sp>
        <p:nvSpPr>
          <p:cNvPr id="3" name="Text 0"/>
          <p:cNvSpPr>
            <a:spLocks noGrp="1"/>
          </p:cNvSpPr>
          <p:nvPr>
            <p:ph type="title" idx="100" hasCustomPrompt="1"/>
          </p:nvPr>
        </p:nvSpPr>
        <p:spPr>
          <a:xfrm>
            <a:off x="640080" y="640080"/>
            <a:ext cx="10908792" cy="868680"/>
          </a:xfrm>
          <a:prstGeom prst="rect">
            <a:avLst/>
          </a:prstGeom>
          <a:noFill/>
          <a:ln/>
        </p:spPr>
        <p:txBody>
          <a:bodyPr wrap="square" lIns="0" tIns="0" rIns="0" bIns="0" rtlCol="0" anchor="t"/>
          <a:lstStyle/>
          <a:p>
            <a:pPr marL="0" indent="0">
              <a:buNone/>
            </a:pPr>
            <a:r>
              <a:rPr lang="en-US" sz="3400" b="1" dirty="0">
                <a:solidFill>
                  <a:srgbClr val="F4F2EC"/>
                </a:solidFill>
                <a:latin typeface="Calibri" pitchFamily="34" charset="0"/>
                <a:ea typeface="Calibri" pitchFamily="34" charset="-122"/>
                <a:cs typeface="Calibri" pitchFamily="34" charset="-120"/>
              </a:rPr>
              <a:t>Từ giữa kỳ đến bảo vệ</a:t>
            </a:r>
            <a:endParaRPr lang="en-US" sz="3400" dirty="0"/>
          </a:p>
        </p:txBody>
      </p:sp>
      <p:sp>
        <p:nvSpPr>
          <p:cNvPr id="4" name="Shape 2"/>
          <p:cNvSpPr/>
          <p:nvPr/>
        </p:nvSpPr>
        <p:spPr>
          <a:xfrm>
            <a:off x="640080" y="1691640"/>
            <a:ext cx="2194560" cy="685800"/>
          </a:xfrm>
          <a:prstGeom prst="roundRect">
            <a:avLst>
              <a:gd name="adj" fmla="val 13333"/>
            </a:avLst>
          </a:prstGeom>
          <a:solidFill>
            <a:srgbClr val="E07B39"/>
          </a:solidFill>
          <a:ln w="12700">
            <a:solidFill>
              <a:srgbClr val="E07B39"/>
            </a:solidFill>
            <a:prstDash val="solid"/>
          </a:ln>
        </p:spPr>
        <p:txBody>
          <a:bodyPr/>
          <a:lstStyle/>
          <a:p>
            <a:endParaRPr lang="en-VN"/>
          </a:p>
        </p:txBody>
      </p:sp>
      <p:sp>
        <p:nvSpPr>
          <p:cNvPr id="5" name="Text 3"/>
          <p:cNvSpPr txBox="1"/>
          <p:nvPr/>
        </p:nvSpPr>
        <p:spPr>
          <a:xfrm>
            <a:off x="640080" y="1691640"/>
            <a:ext cx="2194560" cy="685800"/>
          </a:xfrm>
          <a:prstGeom prst="rect">
            <a:avLst/>
          </a:prstGeom>
          <a:noFill/>
          <a:ln/>
        </p:spPr>
        <p:txBody>
          <a:bodyPr wrap="square" lIns="0" tIns="0" rIns="0" bIns="0" rtlCol="0" anchor="ctr"/>
          <a:lstStyle/>
          <a:p>
            <a:pPr marL="0" indent="0" algn="ctr">
              <a:buNone/>
            </a:pPr>
            <a:r>
              <a:rPr lang="en-US" sz="1700" b="1" dirty="0">
                <a:solidFill>
                  <a:srgbClr val="12202B"/>
                </a:solidFill>
                <a:latin typeface="Calibri" pitchFamily="34" charset="0"/>
                <a:ea typeface="Calibri" pitchFamily="34" charset="-122"/>
                <a:cs typeface="Calibri" pitchFamily="34" charset="-120"/>
              </a:rPr>
              <a:t>21/10 – 3/11</a:t>
            </a:r>
            <a:endParaRPr lang="en-US" sz="1700" dirty="0"/>
          </a:p>
        </p:txBody>
      </p:sp>
      <p:sp>
        <p:nvSpPr>
          <p:cNvPr id="6" name="Shape 4"/>
          <p:cNvSpPr/>
          <p:nvPr/>
        </p:nvSpPr>
        <p:spPr>
          <a:xfrm>
            <a:off x="3017520" y="1691640"/>
            <a:ext cx="8531352" cy="685800"/>
          </a:xfrm>
          <a:prstGeom prst="roundRect">
            <a:avLst>
              <a:gd name="adj" fmla="val 13333"/>
            </a:avLst>
          </a:prstGeom>
          <a:solidFill>
            <a:srgbClr val="1D3142"/>
          </a:solidFill>
          <a:ln w="12700">
            <a:solidFill>
              <a:srgbClr val="1D3142"/>
            </a:solidFill>
            <a:prstDash val="solid"/>
          </a:ln>
        </p:spPr>
        <p:txBody>
          <a:bodyPr/>
          <a:lstStyle/>
          <a:p>
            <a:endParaRPr lang="en-VN"/>
          </a:p>
        </p:txBody>
      </p:sp>
      <p:sp>
        <p:nvSpPr>
          <p:cNvPr id="7" name="Text 5"/>
          <p:cNvSpPr txBox="1"/>
          <p:nvPr/>
        </p:nvSpPr>
        <p:spPr>
          <a:xfrm>
            <a:off x="3246120" y="1691640"/>
            <a:ext cx="8074152" cy="685800"/>
          </a:xfrm>
          <a:prstGeom prst="rect">
            <a:avLst/>
          </a:prstGeom>
          <a:noFill/>
          <a:ln/>
        </p:spPr>
        <p:txBody>
          <a:bodyPr wrap="square" lIns="0" tIns="0" rIns="0" bIns="0" rtlCol="0" anchor="ctr"/>
          <a:lstStyle/>
          <a:p>
            <a:pPr marL="0" indent="0">
              <a:buNone/>
            </a:pPr>
            <a:r>
              <a:rPr lang="en-US" sz="1600" dirty="0">
                <a:solidFill>
                  <a:srgbClr val="F4F2EC"/>
                </a:solidFill>
                <a:latin typeface="Calibri" pitchFamily="34" charset="0"/>
                <a:ea typeface="Calibri" pitchFamily="34" charset="-122"/>
                <a:cs typeface="Calibri" pitchFamily="34" charset="-120"/>
              </a:rPr>
              <a:t>Thêm scenario Playwright qua giao diện, chạy lại toàn bộ trên máy sạch của thành viên khác</a:t>
            </a:r>
            <a:endParaRPr lang="en-US" sz="1600" dirty="0"/>
          </a:p>
        </p:txBody>
      </p:sp>
      <p:sp>
        <p:nvSpPr>
          <p:cNvPr id="8" name="Shape 6"/>
          <p:cNvSpPr/>
          <p:nvPr/>
        </p:nvSpPr>
        <p:spPr>
          <a:xfrm>
            <a:off x="640080" y="2560320"/>
            <a:ext cx="2194560" cy="685800"/>
          </a:xfrm>
          <a:prstGeom prst="roundRect">
            <a:avLst>
              <a:gd name="adj" fmla="val 13333"/>
            </a:avLst>
          </a:prstGeom>
          <a:solidFill>
            <a:srgbClr val="E07B39"/>
          </a:solidFill>
          <a:ln w="12700">
            <a:solidFill>
              <a:srgbClr val="E07B39"/>
            </a:solidFill>
            <a:prstDash val="solid"/>
          </a:ln>
        </p:spPr>
        <p:txBody>
          <a:bodyPr/>
          <a:lstStyle/>
          <a:p>
            <a:endParaRPr lang="en-VN"/>
          </a:p>
        </p:txBody>
      </p:sp>
      <p:sp>
        <p:nvSpPr>
          <p:cNvPr id="9" name="Text 7"/>
          <p:cNvSpPr txBox="1"/>
          <p:nvPr/>
        </p:nvSpPr>
        <p:spPr>
          <a:xfrm>
            <a:off x="640080" y="2560320"/>
            <a:ext cx="2194560" cy="685800"/>
          </a:xfrm>
          <a:prstGeom prst="rect">
            <a:avLst/>
          </a:prstGeom>
          <a:noFill/>
          <a:ln/>
        </p:spPr>
        <p:txBody>
          <a:bodyPr wrap="square" lIns="0" tIns="0" rIns="0" bIns="0" rtlCol="0" anchor="ctr"/>
          <a:lstStyle/>
          <a:p>
            <a:pPr marL="0" indent="0" algn="ctr">
              <a:buNone/>
            </a:pPr>
            <a:r>
              <a:rPr lang="en-US" sz="1700" b="1" dirty="0">
                <a:solidFill>
                  <a:srgbClr val="12202B"/>
                </a:solidFill>
                <a:latin typeface="Calibri" pitchFamily="34" charset="0"/>
                <a:ea typeface="Calibri" pitchFamily="34" charset="-122"/>
                <a:cs typeface="Calibri" pitchFamily="34" charset="-120"/>
              </a:rPr>
              <a:t>4/11 – 17/11</a:t>
            </a:r>
            <a:endParaRPr lang="en-US" sz="1700" dirty="0"/>
          </a:p>
        </p:txBody>
      </p:sp>
      <p:sp>
        <p:nvSpPr>
          <p:cNvPr id="10" name="Shape 8"/>
          <p:cNvSpPr/>
          <p:nvPr/>
        </p:nvSpPr>
        <p:spPr>
          <a:xfrm>
            <a:off x="3017520" y="2560320"/>
            <a:ext cx="8531352" cy="685800"/>
          </a:xfrm>
          <a:prstGeom prst="roundRect">
            <a:avLst>
              <a:gd name="adj" fmla="val 13333"/>
            </a:avLst>
          </a:prstGeom>
          <a:solidFill>
            <a:srgbClr val="1D3142"/>
          </a:solidFill>
          <a:ln w="12700">
            <a:solidFill>
              <a:srgbClr val="1D3142"/>
            </a:solidFill>
            <a:prstDash val="solid"/>
          </a:ln>
        </p:spPr>
        <p:txBody>
          <a:bodyPr/>
          <a:lstStyle/>
          <a:p>
            <a:endParaRPr lang="en-VN"/>
          </a:p>
        </p:txBody>
      </p:sp>
      <p:sp>
        <p:nvSpPr>
          <p:cNvPr id="11" name="Text 9"/>
          <p:cNvSpPr txBox="1"/>
          <p:nvPr/>
        </p:nvSpPr>
        <p:spPr>
          <a:xfrm>
            <a:off x="3246120" y="2560320"/>
            <a:ext cx="8074152" cy="685800"/>
          </a:xfrm>
          <a:prstGeom prst="rect">
            <a:avLst/>
          </a:prstGeom>
          <a:noFill/>
          <a:ln/>
        </p:spPr>
        <p:txBody>
          <a:bodyPr wrap="square" lIns="0" tIns="0" rIns="0" bIns="0" rtlCol="0" anchor="ctr"/>
          <a:lstStyle/>
          <a:p>
            <a:pPr marL="0" indent="0">
              <a:buNone/>
            </a:pPr>
            <a:r>
              <a:rPr lang="en-US" sz="1600" dirty="0">
                <a:solidFill>
                  <a:srgbClr val="F4F2EC"/>
                </a:solidFill>
                <a:latin typeface="Calibri" pitchFamily="34" charset="0"/>
                <a:ea typeface="Calibri" pitchFamily="34" charset="-122"/>
                <a:cs typeface="Calibri" pitchFamily="34" charset="-120"/>
              </a:rPr>
              <a:t>Rà soát nguyên nhân gốc và đề xuất sửa; chuẩn bị báo cáo lỗi D1, D4 cho Cal.com</a:t>
            </a:r>
            <a:endParaRPr lang="en-US" sz="1600" dirty="0"/>
          </a:p>
        </p:txBody>
      </p:sp>
      <p:sp>
        <p:nvSpPr>
          <p:cNvPr id="12" name="Shape 10"/>
          <p:cNvSpPr/>
          <p:nvPr/>
        </p:nvSpPr>
        <p:spPr>
          <a:xfrm>
            <a:off x="640080" y="3429000"/>
            <a:ext cx="2194560" cy="685800"/>
          </a:xfrm>
          <a:prstGeom prst="roundRect">
            <a:avLst>
              <a:gd name="adj" fmla="val 13333"/>
            </a:avLst>
          </a:prstGeom>
          <a:solidFill>
            <a:srgbClr val="E07B39"/>
          </a:solidFill>
          <a:ln w="12700">
            <a:solidFill>
              <a:srgbClr val="E07B39"/>
            </a:solidFill>
            <a:prstDash val="solid"/>
          </a:ln>
        </p:spPr>
        <p:txBody>
          <a:bodyPr/>
          <a:lstStyle/>
          <a:p>
            <a:endParaRPr lang="en-VN"/>
          </a:p>
        </p:txBody>
      </p:sp>
      <p:sp>
        <p:nvSpPr>
          <p:cNvPr id="13" name="Text 11"/>
          <p:cNvSpPr txBox="1"/>
          <p:nvPr/>
        </p:nvSpPr>
        <p:spPr>
          <a:xfrm>
            <a:off x="640080" y="3429000"/>
            <a:ext cx="2194560" cy="685800"/>
          </a:xfrm>
          <a:prstGeom prst="rect">
            <a:avLst/>
          </a:prstGeom>
          <a:noFill/>
          <a:ln/>
        </p:spPr>
        <p:txBody>
          <a:bodyPr wrap="square" lIns="0" tIns="0" rIns="0" bIns="0" rtlCol="0" anchor="ctr"/>
          <a:lstStyle/>
          <a:p>
            <a:pPr marL="0" indent="0" algn="ctr">
              <a:buNone/>
            </a:pPr>
            <a:r>
              <a:rPr lang="en-US" sz="1700" b="1" dirty="0">
                <a:solidFill>
                  <a:srgbClr val="12202B"/>
                </a:solidFill>
                <a:latin typeface="Calibri" pitchFamily="34" charset="0"/>
                <a:ea typeface="Calibri" pitchFamily="34" charset="-122"/>
                <a:cs typeface="Calibri" pitchFamily="34" charset="-120"/>
              </a:rPr>
              <a:t>18/11 – 30/11</a:t>
            </a:r>
            <a:endParaRPr lang="en-US" sz="1700" dirty="0"/>
          </a:p>
        </p:txBody>
      </p:sp>
      <p:sp>
        <p:nvSpPr>
          <p:cNvPr id="14" name="Shape 12"/>
          <p:cNvSpPr/>
          <p:nvPr/>
        </p:nvSpPr>
        <p:spPr>
          <a:xfrm>
            <a:off x="3017520" y="3429000"/>
            <a:ext cx="8531352" cy="685800"/>
          </a:xfrm>
          <a:prstGeom prst="roundRect">
            <a:avLst>
              <a:gd name="adj" fmla="val 13333"/>
            </a:avLst>
          </a:prstGeom>
          <a:solidFill>
            <a:srgbClr val="1D3142"/>
          </a:solidFill>
          <a:ln w="12700">
            <a:solidFill>
              <a:srgbClr val="1D3142"/>
            </a:solidFill>
            <a:prstDash val="solid"/>
          </a:ln>
        </p:spPr>
        <p:txBody>
          <a:bodyPr/>
          <a:lstStyle/>
          <a:p>
            <a:endParaRPr lang="en-VN"/>
          </a:p>
        </p:txBody>
      </p:sp>
      <p:sp>
        <p:nvSpPr>
          <p:cNvPr id="15" name="Text 13"/>
          <p:cNvSpPr txBox="1"/>
          <p:nvPr/>
        </p:nvSpPr>
        <p:spPr>
          <a:xfrm>
            <a:off x="3246120" y="3429000"/>
            <a:ext cx="8074152" cy="685800"/>
          </a:xfrm>
          <a:prstGeom prst="rect">
            <a:avLst/>
          </a:prstGeom>
          <a:noFill/>
          <a:ln/>
        </p:spPr>
        <p:txBody>
          <a:bodyPr wrap="square" lIns="0" tIns="0" rIns="0" bIns="0" rtlCol="0" anchor="ctr"/>
          <a:lstStyle/>
          <a:p>
            <a:pPr marL="0" indent="0">
              <a:buNone/>
            </a:pPr>
            <a:r>
              <a:rPr lang="en-US" sz="1600" dirty="0">
                <a:solidFill>
                  <a:srgbClr val="F4F2EC"/>
                </a:solidFill>
                <a:latin typeface="Calibri" pitchFamily="34" charset="0"/>
                <a:ea typeface="Calibri" pitchFamily="34" charset="-122"/>
                <a:cs typeface="Calibri" pitchFamily="34" charset="-120"/>
              </a:rPr>
              <a:t>Hoàn thiện báo cáo A–H, nộp trước bảo vệ 1 tuần</a:t>
            </a:r>
            <a:endParaRPr lang="en-US" sz="1600" dirty="0"/>
          </a:p>
        </p:txBody>
      </p:sp>
      <p:sp>
        <p:nvSpPr>
          <p:cNvPr id="16" name="Shape 14"/>
          <p:cNvSpPr/>
          <p:nvPr/>
        </p:nvSpPr>
        <p:spPr>
          <a:xfrm>
            <a:off x="640080" y="4297680"/>
            <a:ext cx="2194560" cy="685800"/>
          </a:xfrm>
          <a:prstGeom prst="roundRect">
            <a:avLst>
              <a:gd name="adj" fmla="val 13333"/>
            </a:avLst>
          </a:prstGeom>
          <a:solidFill>
            <a:srgbClr val="E07B39"/>
          </a:solidFill>
          <a:ln w="12700">
            <a:solidFill>
              <a:srgbClr val="E07B39"/>
            </a:solidFill>
            <a:prstDash val="solid"/>
          </a:ln>
        </p:spPr>
        <p:txBody>
          <a:bodyPr/>
          <a:lstStyle/>
          <a:p>
            <a:endParaRPr lang="en-VN"/>
          </a:p>
        </p:txBody>
      </p:sp>
      <p:sp>
        <p:nvSpPr>
          <p:cNvPr id="17" name="Text 15"/>
          <p:cNvSpPr txBox="1"/>
          <p:nvPr/>
        </p:nvSpPr>
        <p:spPr>
          <a:xfrm>
            <a:off x="640080" y="4297680"/>
            <a:ext cx="2194560" cy="685800"/>
          </a:xfrm>
          <a:prstGeom prst="rect">
            <a:avLst/>
          </a:prstGeom>
          <a:noFill/>
          <a:ln/>
        </p:spPr>
        <p:txBody>
          <a:bodyPr wrap="square" lIns="0" tIns="0" rIns="0" bIns="0" rtlCol="0" anchor="ctr"/>
          <a:lstStyle/>
          <a:p>
            <a:pPr marL="0" indent="0" algn="ctr">
              <a:buNone/>
            </a:pPr>
            <a:r>
              <a:rPr lang="en-US" sz="1700" b="1" dirty="0">
                <a:solidFill>
                  <a:srgbClr val="12202B"/>
                </a:solidFill>
                <a:latin typeface="Calibri" pitchFamily="34" charset="0"/>
                <a:ea typeface="Calibri" pitchFamily="34" charset="-122"/>
                <a:cs typeface="Calibri" pitchFamily="34" charset="-120"/>
              </a:rPr>
              <a:t>Tháng 12</a:t>
            </a:r>
            <a:endParaRPr lang="en-US" sz="1700" dirty="0"/>
          </a:p>
        </p:txBody>
      </p:sp>
      <p:sp>
        <p:nvSpPr>
          <p:cNvPr id="18" name="Shape 16"/>
          <p:cNvSpPr/>
          <p:nvPr/>
        </p:nvSpPr>
        <p:spPr>
          <a:xfrm>
            <a:off x="3017520" y="4297680"/>
            <a:ext cx="8531352" cy="685800"/>
          </a:xfrm>
          <a:prstGeom prst="roundRect">
            <a:avLst>
              <a:gd name="adj" fmla="val 13333"/>
            </a:avLst>
          </a:prstGeom>
          <a:solidFill>
            <a:srgbClr val="1D3142"/>
          </a:solidFill>
          <a:ln w="12700">
            <a:solidFill>
              <a:srgbClr val="1D3142"/>
            </a:solidFill>
            <a:prstDash val="solid"/>
          </a:ln>
        </p:spPr>
        <p:txBody>
          <a:bodyPr/>
          <a:lstStyle/>
          <a:p>
            <a:endParaRPr lang="en-VN"/>
          </a:p>
        </p:txBody>
      </p:sp>
      <p:sp>
        <p:nvSpPr>
          <p:cNvPr id="19" name="Text 17"/>
          <p:cNvSpPr txBox="1"/>
          <p:nvPr/>
        </p:nvSpPr>
        <p:spPr>
          <a:xfrm>
            <a:off x="3246120" y="4297680"/>
            <a:ext cx="8074152" cy="685800"/>
          </a:xfrm>
          <a:prstGeom prst="rect">
            <a:avLst/>
          </a:prstGeom>
          <a:noFill/>
          <a:ln/>
        </p:spPr>
        <p:txBody>
          <a:bodyPr wrap="square" lIns="0" tIns="0" rIns="0" bIns="0" rtlCol="0" anchor="ctr"/>
          <a:lstStyle/>
          <a:p>
            <a:pPr marL="0" indent="0">
              <a:buNone/>
            </a:pPr>
            <a:r>
              <a:rPr lang="en-US" sz="1600" dirty="0">
                <a:solidFill>
                  <a:srgbClr val="F4F2EC"/>
                </a:solidFill>
                <a:latin typeface="Calibri" pitchFamily="34" charset="0"/>
                <a:ea typeface="Calibri" pitchFamily="34" charset="-122"/>
                <a:cs typeface="Calibri" pitchFamily="34" charset="-120"/>
              </a:rPr>
              <a:t>Slide bảo vệ, tập dượt, đánh giá chéo giữa các thành viên</a:t>
            </a:r>
            <a:endParaRPr lang="en-US" sz="1600" dirty="0"/>
          </a:p>
        </p:txBody>
      </p:sp>
      <p:sp>
        <p:nvSpPr>
          <p:cNvPr id="20" name="Text 18"/>
          <p:cNvSpPr txBox="1"/>
          <p:nvPr/>
        </p:nvSpPr>
        <p:spPr>
          <a:xfrm>
            <a:off x="640080" y="5303520"/>
            <a:ext cx="10908792" cy="822960"/>
          </a:xfrm>
          <a:prstGeom prst="rect">
            <a:avLst/>
          </a:prstGeom>
          <a:noFill/>
          <a:ln/>
        </p:spPr>
        <p:txBody>
          <a:bodyPr wrap="square" lIns="0" tIns="0" rIns="0" bIns="0" rtlCol="0" anchor="t"/>
          <a:lstStyle/>
          <a:p>
            <a:pPr marL="0" indent="0">
              <a:buNone/>
            </a:pPr>
            <a:r>
              <a:rPr lang="en-US" sz="1500" dirty="0">
                <a:solidFill>
                  <a:srgbClr val="B8C6D2"/>
                </a:solidFill>
                <a:latin typeface="Calibri" pitchFamily="34" charset="0"/>
                <a:ea typeface="Calibri" pitchFamily="34" charset="-122"/>
                <a:cs typeface="Calibri" pitchFamily="34" charset="-120"/>
              </a:rPr>
              <a:t>Rủi ro: kết quả race có thể khác trên máy khác (báo tỉ lệ, không báo một lần chạy) · máy yếu khi chạy Cal.com + PostgreSQL + k6 (giảm số VU) · thành viên đóng góp không đều (board có người phụ trách, đánh giá chéo hằng tuần).</a:t>
            </a:r>
            <a:endParaRPr lang="en-US" sz="1500" dirty="0"/>
          </a:p>
        </p:txBody>
      </p:sp>
      <p:sp>
        <p:nvSpPr>
          <p:cNvPr id="21" name="Text 19"/>
          <p:cNvSpPr txBox="1"/>
          <p:nvPr/>
        </p:nvSpPr>
        <p:spPr>
          <a:xfrm>
            <a:off x="640080" y="6355080"/>
            <a:ext cx="10332720" cy="274320"/>
          </a:xfrm>
          <a:prstGeom prst="rect">
            <a:avLst/>
          </a:prstGeom>
          <a:noFill/>
          <a:ln/>
        </p:spPr>
        <p:txBody>
          <a:bodyPr wrap="square" lIns="0" tIns="0" rIns="0" bIns="0" rtlCol="0" anchor="ctr"/>
          <a:lstStyle/>
          <a:p>
            <a:pPr marL="0" indent="0">
              <a:buNone/>
            </a:pPr>
            <a:r>
              <a:rPr lang="en-US" sz="1200" dirty="0">
                <a:solidFill>
                  <a:srgbClr val="8C9AA8"/>
                </a:solidFill>
                <a:latin typeface="Calibri" pitchFamily="34" charset="0"/>
                <a:ea typeface="Calibri" pitchFamily="34" charset="-122"/>
                <a:cs typeface="Calibri" pitchFamily="34" charset="-120"/>
              </a:rPr>
              <a:t>Cảm ơn thầy và các bạn. Mời đặt câu hỏi.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C9AA8"/>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1663</Words>
  <Application>Microsoft Macintosh PowerPoint</Application>
  <PresentationFormat>Widescreen</PresentationFormat>
  <Paragraphs>190</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Consolas</vt:lpstr>
      <vt:lpstr>Office Theme</vt:lpstr>
      <vt:lpstr>PowerPoint Presentation</vt:lpstr>
      <vt:lpstr>Một tổ hợp Repo + Kỹ thuật, đã cố định phiên bản</vt:lpstr>
      <vt:lpstr>Sprint 1 hoàn thành, harness 8 scenario đã chạy xong</vt:lpstr>
      <vt:lpstr>Một request đặt lịch đi qua 4 lớp</vt:lpstr>
      <vt:lpstr>Hệ thống chạy trên máy, 3 luồng nghiệp vụ đạt</vt:lpstr>
      <vt:lpstr>Phạm vi, giả định và tiêu chí đánh giá</vt:lpstr>
      <vt:lpstr>Một cơ chế bảo vệ hoạt động, một cơ chế thì không</vt:lpstr>
      <vt:lpstr>Từ giữa kỳ đến bảo vệ</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Báo cáo giữa kỳ</dc:title>
  <dc:subject>PptxGenJS Presentation</dc:subject>
  <dc:creator>Nhóm R05-K15</dc:creator>
  <cp:lastModifiedBy>ji 33296</cp:lastModifiedBy>
  <cp:revision>2</cp:revision>
  <dcterms:created xsi:type="dcterms:W3CDTF">2026-10-13T01:17:56Z</dcterms:created>
  <dcterms:modified xsi:type="dcterms:W3CDTF">2026-10-13T01:20:36Z</dcterms:modified>
</cp:coreProperties>
</file>