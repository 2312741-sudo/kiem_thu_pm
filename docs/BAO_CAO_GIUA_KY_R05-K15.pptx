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Mở đầu" id="{945407b1-9eac-1a4b-d5d2-5ab94967c7e9}">
          <p14:sldIdLst>
            <p14:sldId id="256"/>
            <p14:sldId id="257"/>
          </p14:sldIdLst>
        </p14:section>
        <p14:section name="Tiến độ" id="{30cf0148-379b-f817-3f19-ff333d77c811}">
          <p14:sldIdLst>
            <p14:sldId id="258"/>
          </p14:sldIdLst>
        </p14:section>
        <p14:section name="Hệ thống và kiểm thử" id="{4adbe4a8-d245-9b64-dd37-25928bf6e02c}">
          <p14:sldIdLst>
            <p14:sldId id="259"/>
            <p14:sldId id="260"/>
            <p14:sldId id="261"/>
            <p14:sldId id="262"/>
          </p14:sldIdLst>
        </p14:section>
        <p14:section name="Kế hoạch kiểm thử" id="{b6986a6b-1797-33de-2e97-483319301c2f}">
          <p14:sldIdLst>
            <p14:sldId id="263"/>
            <p14:sldId id="264"/>
          </p14:sldIdLst>
        </p14:section>
        <p14:section name="Kết quả sơ bộ" id="{18feb182-1847-f1fb-a1f4-73604e3c62da}">
          <p14:sldIdLst>
            <p14:sldId id="265"/>
            <p14:sldId id="266"/>
            <p14:sldId id="267"/>
          </p14:sldIdLst>
        </p14:section>
        <p14:section name="Tiếp theo" id="{2f7bbc96-ff83-9554-141d-25310a98ffad}">
          <p14:sldIdLst>
            <p14:sldId id="26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Giữa kỳ cần trình bày bốn thứ: demo hệ thống chạy, sơ đồ kiến trúc và tài liệu on-boarding, kế hoạch áp dụng kỹ thuật kiểm thử. Nhóm có thêm một kết quả thử nghiệm đầu tiên.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Đề tài đã đăng ký là R05-K15. Nhóm khóa phiên bản ở tag v6.2.0 để test chạy lại được. Phạm vi hẹp vào luồng booking theo lưu ý của giảng viên.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Mọi mục của Sprint 1 đã xong, và nhóm đã làm trước: harness 8 scenario đã chạy 10 vòng mỗi scenario kèm nhóm đối chứng tuần tự, đã phân tích nguyên nhân gốc. Giữa kỳ nhóm chỉ trình bày kết quả sơ bộ S1 và S2; kết quả đầy đủ dành cho buổi bảo vệ cuối kỳ. Còn lại: Playwright qua giao diện, hoàn thiện báo cáo, và chuẩn bị bảo vệ. Nói rõ phân vai và board Trello/Jira của nhóm.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Đây là phần kiến trúc rút gọn. Sơ đồ đầy đủ ở docs/diagrams/kien-truc.md. Điểm mấu chốt rút ra khi đọc code: các bước kiểm tra chỉ đọc, giữa kiểm tra và ghi không có khóa, nên đây là nơi nhóm kỳ vọng tìm ra race.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Tài liệu on-boarding gồm phiên bản, lệnh cài đặt, biến môi trường, seed data. Smoke test chạy ba luồng: đặt, đổi, hủy lịch. Trong demo, nhóm chạy lệnh npm run demo:midterm để chứng minh.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Quy trình gồm bảy bước. Điểm khác của kiểm thử race là bước 6: oracle là dữ liệu trong cơ sở dữ liệu, không phải mã HTTP. Bước 5 chạy cả đồng thời và tuần tự để tách lỗi race khỏi lỗi logic thông thường.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Mỗi test case chọn một cơ chế bảo vệ khác nhau để thử. TC-01 và TC-04 là hai trường hợp hệ thống đã có bảo vệ, dùng để kiểm chứng harness không báo lỗi giả. Sáu test case còn lại thử những chỗ đọc code cho thấy chưa có bảo vệ ở tầng cơ sở dữ liệu.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Đây là phần đề bài yêu cầu cho giữa kỳ: kế hoạch áp dụng kỹ thuật với phạm vi test, giả định và tiêu chí đánh giá. Oracle là điểm khác biệt của kiểm thử race: không tin mã HTTP mà kiểm dữ liệu thật trong CSDL.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Số liệu chi phí máy đo thật từ thời điểm bắt đầu và kết thúc trong file summary.json của mỗi lần chạy. Chạy lại bộ test chính cả đồng thời và tuần tự mất dưới ba phút. Công sức nhân lực là ước lượng khoảng 34 đến 46 người-giờ, nhóm chưa theo dõi giờ thực tế từng người.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Kết quả thật của lượt chạy chính thức: mỗi test case chạy 10 vòng, ở hai chế độ đồng thời và tuần tự. TC-01 và TC-04 đúng, hai cơ chế bảo vệ của hệ thống hoạt động. Năm test case chỉ sai khi đồng thời là lỗi race. TC-06 sai cả khi tuần tự nên là lỗi logic, không phải race. Mã HTTP đều thành công, chỉ truy vấn trực tiếp cơ sở dữ liệu mới thấy dữ liệu sai.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Một thành viên chạy lại bộ test trên máy Windows của mình với cùng phiên bản mã. Kết luận tám test case giống hệt máy Mac: năm lỗi race chỉ sai khi đồng thời, một lỗi logic sai cả khi tuần tự, hai test case đúng. Hai lượt chạy đầu trên máy Windows không hợp lệ vì thiếu công cụ k6 và vì Cal.com dừng giữa chừng; nhóm đã loại và chỉ dùng lượt chạy sạch. Người chạy trên máy Windows là Ngô Quốc Trường Vĩ, máy MSI Core i7-13620H, RAM 16 GB.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Để chứng minh đây là lỗi thật, nhóm tái hiện lại từng lỗi bằng lệnh curl thuần, không dùng bộ test, rồi xem trực tiếp dữ liệu trong cơ sở dữ liệu. D4 là lỗi logic xảy ra cả khi gửi tuần tự; năm lỗi còn lại chỉ xảy ra khi đồng thời. Nhóm chưa báo lỗi cho nhóm phát triển Cal.com và chưa sửa mã Cal.com, nên nói là lỗi nhóm tìm được trên bản v6.2.0 chạy local.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Kế hoạch bốn giai đoạn đến bảo vệ; phần kiểm thử chính đã chạy xong nên thời gian còn lại dành cho kiểm chứng lại, hoàn thiện báo cáo và chuẩn bị bảo vệ. Rủi ro chính là race không tái hiện ổn định nên nhóm chạy nhiều vòng và báo tỉ lệ. Kết thúc phần báo cáo, mời thầy đặt câu hỏi.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4F2EC"/>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640080"/>
            <a:ext cx="10908792" cy="868680"/>
          </a:xfrm>
          <a:prstGeom prst="rect">
            <a:avLst/>
          </a:prstGeom>
          <a:noFill/>
          <a:ln/>
        </p:spPr>
        <p:txBody>
          <a:bodyPr wrap="square" rtlCol="0"/>
          <a:lstStyle>
            <a:lvl1pPr indent="0" marL="0">
              <a:buNone/>
              <a:defRPr lang="en-US" sz="3400" b="1" dirty="0">
                <a:solidFill>
                  <a:srgbClr val="12202B"/>
                </a:solidFill>
                <a:latin typeface="Calibri" pitchFamily="34" charset="0"/>
                <a:ea typeface="Calibri" pitchFamily="34" charset="-122"/>
                <a:cs typeface="Calibri" pitchFamily="34" charset="-120"/>
              </a:defRPr>
            </a:lvl1pPr>
          </a:lstStyle>
          <a:p>
            <a:pPr indent="0" marL="0">
              <a:buNone/>
            </a:pPr>
            <a:endParaRPr lang="en-US" sz="34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7A8592"/>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2202B"/>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640080"/>
            <a:ext cx="10908792" cy="868680"/>
          </a:xfrm>
          <a:prstGeom prst="rect">
            <a:avLst/>
          </a:prstGeom>
          <a:noFill/>
          <a:ln/>
        </p:spPr>
        <p:txBody>
          <a:bodyPr wrap="square" rtlCol="0"/>
          <a:lstStyle>
            <a:lvl1pPr indent="0" marL="0">
              <a:buNone/>
              <a:defRPr lang="en-US" sz="3400" b="1" dirty="0">
                <a:solidFill>
                  <a:srgbClr val="F4F2EC"/>
                </a:solidFill>
                <a:latin typeface="Calibri" pitchFamily="34" charset="0"/>
                <a:ea typeface="Calibri" pitchFamily="34" charset="-122"/>
                <a:cs typeface="Calibri" pitchFamily="34" charset="-120"/>
              </a:defRPr>
            </a:lvl1pPr>
          </a:lstStyle>
          <a:p>
            <a:pPr indent="0" marL="0">
              <a:buNone/>
            </a:pPr>
            <a:endParaRPr lang="en-US" sz="34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8C9AA8"/>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DARK_BLANK">
    <p:bg>
      <p:bgPr>
        <a:solidFill>
          <a:srgbClr val="12202B"/>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7A8592"/>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640080" y="640080"/>
            <a:ext cx="10908792" cy="365760"/>
          </a:xfrm>
          <a:prstGeom prst="rect">
            <a:avLst/>
          </a:prstGeom>
          <a:noFill/>
          <a:ln/>
        </p:spPr>
        <p:txBody>
          <a:bodyPr wrap="square" lIns="0" tIns="0" rIns="0" bIns="0" rtlCol="0" anchor="ctr"/>
          <a:lstStyle/>
          <a:p>
            <a:pPr indent="0" marL="0">
              <a:buNone/>
            </a:pPr>
            <a:r>
              <a:rPr lang="en-US" sz="1600" b="1" spc="300" kern="0" dirty="0">
                <a:solidFill>
                  <a:srgbClr val="E07B39"/>
                </a:solidFill>
                <a:latin typeface="Consolas" pitchFamily="34" charset="0"/>
                <a:ea typeface="Consolas" pitchFamily="34" charset="-122"/>
                <a:cs typeface="Consolas" pitchFamily="34" charset="-120"/>
              </a:rPr>
              <a:t>BÁO CÁO GIỮA KỲ · MILESTONE 2 · 20/10</a:t>
            </a:r>
            <a:endParaRPr lang="en-US" sz="1600" dirty="0"/>
          </a:p>
        </p:txBody>
      </p:sp>
      <p:sp>
        <p:nvSpPr>
          <p:cNvPr id="3" name="Text 1"/>
          <p:cNvSpPr txBox="1"/>
          <p:nvPr/>
        </p:nvSpPr>
        <p:spPr>
          <a:xfrm>
            <a:off x="640080" y="1737360"/>
            <a:ext cx="10515600" cy="2194560"/>
          </a:xfrm>
          <a:prstGeom prst="rect">
            <a:avLst/>
          </a:prstGeom>
          <a:noFill/>
          <a:ln/>
        </p:spPr>
        <p:txBody>
          <a:bodyPr wrap="square" lIns="0" tIns="0" rIns="0" bIns="0" rtlCol="0" anchor="t"/>
          <a:lstStyle/>
          <a:p>
            <a:pPr indent="0" marL="0">
              <a:buNone/>
            </a:pPr>
            <a:r>
              <a:rPr lang="en-US" sz="5400" b="1" dirty="0">
                <a:solidFill>
                  <a:srgbClr val="F4F2EC"/>
                </a:solidFill>
                <a:latin typeface="Calibri" pitchFamily="34" charset="0"/>
                <a:ea typeface="Calibri" pitchFamily="34" charset="-122"/>
                <a:cs typeface="Calibri" pitchFamily="34" charset="-120"/>
              </a:rPr>
              <a:t>R05-K15</a:t>
            </a:r>
            <a:endParaRPr lang="en-US" sz="5400" dirty="0"/>
          </a:p>
          <a:p>
            <a:pPr indent="0" marL="0">
              <a:buNone/>
            </a:pPr>
            <a:r>
              <a:rPr lang="en-US" sz="5400" b="1" dirty="0">
                <a:solidFill>
                  <a:srgbClr val="F4F2EC"/>
                </a:solidFill>
                <a:latin typeface="Calibri" pitchFamily="34" charset="0"/>
                <a:ea typeface="Calibri" pitchFamily="34" charset="-122"/>
                <a:cs typeface="Calibri" pitchFamily="34" charset="-120"/>
              </a:rPr>
              <a:t>Kiểm thử race condition cho Cal.com</a:t>
            </a:r>
            <a:endParaRPr lang="en-US" sz="5400" dirty="0"/>
          </a:p>
        </p:txBody>
      </p:sp>
      <p:sp>
        <p:nvSpPr>
          <p:cNvPr id="4" name="Text 2"/>
          <p:cNvSpPr txBox="1"/>
          <p:nvPr/>
        </p:nvSpPr>
        <p:spPr>
          <a:xfrm>
            <a:off x="640080" y="4114800"/>
            <a:ext cx="9601200" cy="822960"/>
          </a:xfrm>
          <a:prstGeom prst="rect">
            <a:avLst/>
          </a:prstGeom>
          <a:noFill/>
          <a:ln/>
        </p:spPr>
        <p:txBody>
          <a:bodyPr wrap="square" lIns="0" tIns="0" rIns="0" bIns="0" rtlCol="0" anchor="t"/>
          <a:lstStyle/>
          <a:p>
            <a:pPr indent="0" marL="0">
              <a:buNone/>
            </a:pPr>
            <a:r>
              <a:rPr lang="en-US" sz="2400" dirty="0">
                <a:solidFill>
                  <a:srgbClr val="B8C6D2"/>
                </a:solidFill>
                <a:latin typeface="Calibri" pitchFamily="34" charset="0"/>
                <a:ea typeface="Calibri" pitchFamily="34" charset="-122"/>
                <a:cs typeface="Calibri" pitchFamily="34" charset="-120"/>
              </a:rPr>
              <a:t>Quy trình test, 8 test case, kết quả test thật và 6 lỗi đã tái hiện</a:t>
            </a:r>
            <a:endParaRPr lang="en-US" sz="2400" dirty="0"/>
          </a:p>
        </p:txBody>
      </p:sp>
      <p:sp>
        <p:nvSpPr>
          <p:cNvPr id="5" name="Text 3"/>
          <p:cNvSpPr txBox="1"/>
          <p:nvPr/>
        </p:nvSpPr>
        <p:spPr>
          <a:xfrm>
            <a:off x="640080" y="5577840"/>
            <a:ext cx="6400800" cy="731520"/>
          </a:xfrm>
          <a:prstGeom prst="rect">
            <a:avLst/>
          </a:prstGeom>
          <a:noFill/>
          <a:ln/>
        </p:spPr>
        <p:txBody>
          <a:bodyPr wrap="square" lIns="0" tIns="0" rIns="0" bIns="0" rtlCol="0" anchor="ctr"/>
          <a:lstStyle/>
          <a:p>
            <a:pPr indent="0" marL="0">
              <a:buNone/>
            </a:pPr>
            <a:r>
              <a:rPr lang="en-US" sz="1600" dirty="0">
                <a:solidFill>
                  <a:srgbClr val="B8C6D2"/>
                </a:solidFill>
                <a:latin typeface="Calibri" pitchFamily="34" charset="0"/>
                <a:ea typeface="Calibri" pitchFamily="34" charset="-122"/>
                <a:cs typeface="Calibri" pitchFamily="34" charset="-120"/>
              </a:rPr>
              <a:t>Môn Kiểm thử phần mềm · GV Nguyễn Thế Lâm</a:t>
            </a:r>
            <a:endParaRPr lang="en-US" sz="1600" dirty="0"/>
          </a:p>
          <a:p>
            <a:pPr indent="0" marL="0">
              <a:buNone/>
            </a:pPr>
            <a:r>
              <a:rPr lang="en-US" sz="1600" dirty="0">
                <a:solidFill>
                  <a:srgbClr val="B8C6D2"/>
                </a:solidFill>
                <a:latin typeface="Calibri" pitchFamily="34" charset="0"/>
                <a:ea typeface="Calibri" pitchFamily="34" charset="-122"/>
                <a:cs typeface="Calibri" pitchFamily="34" charset="-120"/>
              </a:rPr>
              <a:t>Khoa CNTT – Trường Đại học Đà Lạt</a:t>
            </a:r>
            <a:endParaRPr lang="en-US" sz="1600" dirty="0"/>
          </a:p>
        </p:txBody>
      </p:sp>
      <p:sp>
        <p:nvSpPr>
          <p:cNvPr id="6" name="Text 4"/>
          <p:cNvSpPr txBox="1"/>
          <p:nvPr/>
        </p:nvSpPr>
        <p:spPr>
          <a:xfrm>
            <a:off x="6949440" y="5029200"/>
            <a:ext cx="4599432" cy="1325880"/>
          </a:xfrm>
          <a:prstGeom prst="rect">
            <a:avLst/>
          </a:prstGeom>
          <a:noFill/>
          <a:ln/>
        </p:spPr>
        <p:txBody>
          <a:bodyPr wrap="square" lIns="0" tIns="0" rIns="0" bIns="0" rtlCol="0" anchor="b"/>
          <a:lstStyle/>
          <a:p>
            <a:pPr algn="r" indent="0" marL="0">
              <a:buNone/>
            </a:pPr>
            <a:r>
              <a:rPr lang="en-US" sz="1600" dirty="0">
                <a:solidFill>
                  <a:srgbClr val="B8C6D2"/>
                </a:solidFill>
                <a:latin typeface="Calibri" pitchFamily="34" charset="0"/>
                <a:ea typeface="Calibri" pitchFamily="34" charset="-122"/>
                <a:cs typeface="Calibri" pitchFamily="34" charset="-120"/>
              </a:rPr>
              <a:t>Nhóm 14</a:t>
            </a:r>
            <a:endParaRPr lang="en-US" sz="1600" dirty="0"/>
          </a:p>
          <a:p>
            <a:pPr algn="r" indent="0" marL="0">
              <a:buNone/>
            </a:pPr>
            <a:r>
              <a:rPr lang="en-US" sz="1600" dirty="0">
                <a:solidFill>
                  <a:srgbClr val="B8C6D2"/>
                </a:solidFill>
                <a:latin typeface="Calibri" pitchFamily="34" charset="0"/>
                <a:ea typeface="Calibri" pitchFamily="34" charset="-122"/>
                <a:cs typeface="Calibri" pitchFamily="34" charset="-120"/>
              </a:rPr>
              <a:t>2312741 - Nguyễn Thanh Tâm</a:t>
            </a:r>
            <a:endParaRPr lang="en-US" sz="1600" dirty="0"/>
          </a:p>
          <a:p>
            <a:pPr algn="r" indent="0" marL="0">
              <a:buNone/>
            </a:pPr>
            <a:r>
              <a:rPr lang="en-US" sz="1600" dirty="0">
                <a:solidFill>
                  <a:srgbClr val="B8C6D2"/>
                </a:solidFill>
                <a:latin typeface="Calibri" pitchFamily="34" charset="0"/>
                <a:ea typeface="Calibri" pitchFamily="34" charset="-122"/>
                <a:cs typeface="Calibri" pitchFamily="34" charset="-120"/>
              </a:rPr>
              <a:t>2312800 - Võ Công Vinh</a:t>
            </a:r>
            <a:endParaRPr lang="en-US" sz="1600" dirty="0"/>
          </a:p>
          <a:p>
            <a:pPr algn="r" indent="0" marL="0">
              <a:buNone/>
            </a:pPr>
            <a:r>
              <a:rPr lang="en-US" sz="1600" dirty="0">
                <a:solidFill>
                  <a:srgbClr val="B8C6D2"/>
                </a:solidFill>
                <a:latin typeface="Calibri" pitchFamily="34" charset="0"/>
                <a:ea typeface="Calibri" pitchFamily="34" charset="-122"/>
                <a:cs typeface="Calibri" pitchFamily="34" charset="-120"/>
              </a:rPr>
              <a:t>2312774 - Nguyễn Đức Tín</a:t>
            </a:r>
            <a:endParaRPr lang="en-US" sz="1600" dirty="0"/>
          </a:p>
          <a:p>
            <a:pPr algn="r" indent="0" marL="0">
              <a:buNone/>
            </a:pPr>
            <a:r>
              <a:rPr lang="en-US" sz="1600" dirty="0">
                <a:solidFill>
                  <a:srgbClr val="B8C6D2"/>
                </a:solidFill>
                <a:latin typeface="Calibri" pitchFamily="34" charset="0"/>
                <a:ea typeface="Calibri" pitchFamily="34" charset="-122"/>
                <a:cs typeface="Calibri" pitchFamily="34" charset="-120"/>
              </a:rPr>
              <a:t>2312796 - Ngô Quốc Trường Vĩ</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640080" y="292608"/>
            <a:ext cx="10908792" cy="274320"/>
          </a:xfrm>
          <a:prstGeom prst="rect">
            <a:avLst/>
          </a:prstGeom>
          <a:noFill/>
          <a:ln/>
        </p:spPr>
        <p:txBody>
          <a:bodyPr wrap="square" lIns="0" tIns="0" rIns="0" bIns="0" rtlCol="0" anchor="ctr"/>
          <a:lstStyle/>
          <a:p>
            <a:pPr indent="0" marL="0">
              <a:buNone/>
            </a:pPr>
            <a:r>
              <a:rPr lang="en-US" sz="1300" b="1" spc="200" kern="0" dirty="0">
                <a:solidFill>
                  <a:srgbClr val="B4531A"/>
                </a:solidFill>
                <a:latin typeface="Consolas" pitchFamily="34" charset="0"/>
                <a:ea typeface="Consolas" pitchFamily="34" charset="-122"/>
                <a:cs typeface="Consolas" pitchFamily="34" charset="-120"/>
              </a:rPr>
              <a:t>01 · ĐỀ TÀI ĐÃ CHỐT</a:t>
            </a:r>
            <a:endParaRPr lang="en-US" sz="1300" dirty="0"/>
          </a:p>
        </p:txBody>
      </p:sp>
      <p:sp>
        <p:nvSpPr>
          <p:cNvPr id="3" name="Text 0"/>
          <p:cNvSpPr/>
          <p:nvPr>
            <p:ph idx="100" type="title" hasCustomPrompt="1"/>
          </p:nvPr>
        </p:nvSpPr>
        <p:spPr>
          <a:xfrm>
            <a:off x="640080" y="640080"/>
            <a:ext cx="10908792" cy="868680"/>
          </a:xfrm>
          <a:prstGeom prst="rect">
            <a:avLst/>
          </a:prstGeom>
          <a:noFill/>
          <a:ln/>
        </p:spPr>
        <p:txBody>
          <a:bodyPr wrap="square" lIns="0" tIns="0" rIns="0" bIns="0" rtlCol="0" anchor="t"/>
          <a:lstStyle/>
          <a:p>
            <a:pPr indent="0" marL="0">
              <a:buNone/>
            </a:pPr>
            <a:r>
              <a:rPr lang="en-US" sz="3400" b="1" dirty="0">
                <a:solidFill>
                  <a:srgbClr val="12202B"/>
                </a:solidFill>
                <a:latin typeface="Calibri" pitchFamily="34" charset="0"/>
                <a:ea typeface="Calibri" pitchFamily="34" charset="-122"/>
                <a:cs typeface="Calibri" pitchFamily="34" charset="-120"/>
              </a:rPr>
              <a:t>Một tổ hợp Repo + Kỹ thuật, đã cố định phiên bản</a:t>
            </a:r>
            <a:endParaRPr lang="en-US" sz="3400" dirty="0"/>
          </a:p>
        </p:txBody>
      </p:sp>
      <p:sp>
        <p:nvSpPr>
          <p:cNvPr id="4" name="Shape 2"/>
          <p:cNvSpPr/>
          <p:nvPr/>
        </p:nvSpPr>
        <p:spPr>
          <a:xfrm>
            <a:off x="640080" y="1783080"/>
            <a:ext cx="3422904" cy="3017520"/>
          </a:xfrm>
          <a:prstGeom prst="roundRect">
            <a:avLst>
              <a:gd name="adj" fmla="val 3636"/>
            </a:avLst>
          </a:prstGeom>
          <a:solidFill>
            <a:srgbClr val="FBFAF6"/>
          </a:solidFill>
          <a:ln w="12700">
            <a:solidFill>
              <a:srgbClr val="DAD6CC"/>
            </a:solidFill>
            <a:prstDash val="solid"/>
          </a:ln>
        </p:spPr>
      </p:sp>
      <p:sp>
        <p:nvSpPr>
          <p:cNvPr id="5" name="Text 3"/>
          <p:cNvSpPr txBox="1"/>
          <p:nvPr/>
        </p:nvSpPr>
        <p:spPr>
          <a:xfrm>
            <a:off x="914400" y="1965960"/>
            <a:ext cx="2874264" cy="274320"/>
          </a:xfrm>
          <a:prstGeom prst="rect">
            <a:avLst/>
          </a:prstGeom>
          <a:noFill/>
          <a:ln/>
        </p:spPr>
        <p:txBody>
          <a:bodyPr wrap="square" lIns="0" tIns="0" rIns="0" bIns="0" rtlCol="0" anchor="ctr"/>
          <a:lstStyle/>
          <a:p>
            <a:pPr indent="0" marL="0">
              <a:buNone/>
            </a:pPr>
            <a:r>
              <a:rPr lang="en-US" sz="1300" b="1" dirty="0">
                <a:solidFill>
                  <a:srgbClr val="2558B8"/>
                </a:solidFill>
                <a:latin typeface="Consolas" pitchFamily="34" charset="0"/>
                <a:ea typeface="Consolas" pitchFamily="34" charset="-122"/>
                <a:cs typeface="Consolas" pitchFamily="34" charset="-120"/>
              </a:rPr>
              <a:t>REPO · R05</a:t>
            </a:r>
            <a:endParaRPr lang="en-US" sz="1300" dirty="0"/>
          </a:p>
        </p:txBody>
      </p:sp>
      <p:sp>
        <p:nvSpPr>
          <p:cNvPr id="6" name="Text 4"/>
          <p:cNvSpPr txBox="1"/>
          <p:nvPr/>
        </p:nvSpPr>
        <p:spPr>
          <a:xfrm>
            <a:off x="914400" y="2377440"/>
            <a:ext cx="2874264" cy="548640"/>
          </a:xfrm>
          <a:prstGeom prst="rect">
            <a:avLst/>
          </a:prstGeom>
          <a:noFill/>
          <a:ln/>
        </p:spPr>
        <p:txBody>
          <a:bodyPr wrap="square" lIns="0" tIns="0" rIns="0" bIns="0" rtlCol="0" anchor="ctr"/>
          <a:lstStyle/>
          <a:p>
            <a:pPr indent="0" marL="0">
              <a:buNone/>
            </a:pPr>
            <a:r>
              <a:rPr lang="en-US" sz="2600" b="1" dirty="0">
                <a:solidFill>
                  <a:srgbClr val="12202B"/>
                </a:solidFill>
                <a:latin typeface="Calibri" pitchFamily="34" charset="0"/>
                <a:ea typeface="Calibri" pitchFamily="34" charset="-122"/>
                <a:cs typeface="Calibri" pitchFamily="34" charset="-120"/>
              </a:rPr>
              <a:t>Cal.com</a:t>
            </a:r>
            <a:endParaRPr lang="en-US" sz="2600" dirty="0"/>
          </a:p>
        </p:txBody>
      </p:sp>
      <p:sp>
        <p:nvSpPr>
          <p:cNvPr id="7" name="Text 5"/>
          <p:cNvSpPr txBox="1"/>
          <p:nvPr/>
        </p:nvSpPr>
        <p:spPr>
          <a:xfrm>
            <a:off x="914400" y="3063240"/>
            <a:ext cx="2874264" cy="1554480"/>
          </a:xfrm>
          <a:prstGeom prst="rect">
            <a:avLst/>
          </a:prstGeom>
          <a:noFill/>
          <a:ln/>
        </p:spPr>
        <p:txBody>
          <a:bodyPr wrap="square" lIns="0" tIns="0" rIns="0" bIns="0" rtlCol="0" anchor="t"/>
          <a:lstStyle/>
          <a:p>
            <a:pPr indent="0" marL="0">
              <a:buNone/>
            </a:pPr>
            <a:r>
              <a:rPr lang="en-US" sz="1600" dirty="0">
                <a:solidFill>
                  <a:srgbClr val="4A5866"/>
                </a:solidFill>
                <a:latin typeface="Calibri" pitchFamily="34" charset="0"/>
                <a:ea typeface="Calibri" pitchFamily="34" charset="-122"/>
                <a:cs typeface="Calibri" pitchFamily="34" charset="-120"/>
              </a:rPr>
              <a:t>Nền tảng đặt lịch mã nguồn mở. TypeScript, Next.js 16, PostgreSQL + Prisma, monorepo.</a:t>
            </a:r>
            <a:endParaRPr lang="en-US" sz="1600" dirty="0"/>
          </a:p>
        </p:txBody>
      </p:sp>
      <p:sp>
        <p:nvSpPr>
          <p:cNvPr id="8" name="Shape 6"/>
          <p:cNvSpPr/>
          <p:nvPr/>
        </p:nvSpPr>
        <p:spPr>
          <a:xfrm>
            <a:off x="4383024" y="1783080"/>
            <a:ext cx="3422904" cy="3017520"/>
          </a:xfrm>
          <a:prstGeom prst="roundRect">
            <a:avLst>
              <a:gd name="adj" fmla="val 3636"/>
            </a:avLst>
          </a:prstGeom>
          <a:solidFill>
            <a:srgbClr val="FBFAF6"/>
          </a:solidFill>
          <a:ln w="12700">
            <a:solidFill>
              <a:srgbClr val="DAD6CC"/>
            </a:solidFill>
            <a:prstDash val="solid"/>
          </a:ln>
        </p:spPr>
      </p:sp>
      <p:sp>
        <p:nvSpPr>
          <p:cNvPr id="9" name="Text 7"/>
          <p:cNvSpPr txBox="1"/>
          <p:nvPr/>
        </p:nvSpPr>
        <p:spPr>
          <a:xfrm>
            <a:off x="4657344" y="1965960"/>
            <a:ext cx="2874264" cy="274320"/>
          </a:xfrm>
          <a:prstGeom prst="rect">
            <a:avLst/>
          </a:prstGeom>
          <a:noFill/>
          <a:ln/>
        </p:spPr>
        <p:txBody>
          <a:bodyPr wrap="square" lIns="0" tIns="0" rIns="0" bIns="0" rtlCol="0" anchor="ctr"/>
          <a:lstStyle/>
          <a:p>
            <a:pPr indent="0" marL="0">
              <a:buNone/>
            </a:pPr>
            <a:r>
              <a:rPr lang="en-US" sz="1300" b="1" dirty="0">
                <a:solidFill>
                  <a:srgbClr val="2558B8"/>
                </a:solidFill>
                <a:latin typeface="Consolas" pitchFamily="34" charset="0"/>
                <a:ea typeface="Consolas" pitchFamily="34" charset="-122"/>
                <a:cs typeface="Consolas" pitchFamily="34" charset="-120"/>
              </a:rPr>
              <a:t>KỸ THUẬT · K15</a:t>
            </a:r>
            <a:endParaRPr lang="en-US" sz="1300" dirty="0"/>
          </a:p>
        </p:txBody>
      </p:sp>
      <p:sp>
        <p:nvSpPr>
          <p:cNvPr id="10" name="Text 8"/>
          <p:cNvSpPr txBox="1"/>
          <p:nvPr/>
        </p:nvSpPr>
        <p:spPr>
          <a:xfrm>
            <a:off x="4657344" y="2377440"/>
            <a:ext cx="2874264" cy="548640"/>
          </a:xfrm>
          <a:prstGeom prst="rect">
            <a:avLst/>
          </a:prstGeom>
          <a:noFill/>
          <a:ln/>
        </p:spPr>
        <p:txBody>
          <a:bodyPr wrap="square" lIns="0" tIns="0" rIns="0" bIns="0" rtlCol="0" anchor="ctr"/>
          <a:lstStyle/>
          <a:p>
            <a:pPr indent="0" marL="0">
              <a:buNone/>
            </a:pPr>
            <a:r>
              <a:rPr lang="en-US" sz="2600" b="1" dirty="0">
                <a:solidFill>
                  <a:srgbClr val="12202B"/>
                </a:solidFill>
                <a:latin typeface="Calibri" pitchFamily="34" charset="0"/>
                <a:ea typeface="Calibri" pitchFamily="34" charset="-122"/>
                <a:cs typeface="Calibri" pitchFamily="34" charset="-120"/>
              </a:rPr>
              <a:t>Concurrency / Race</a:t>
            </a:r>
            <a:endParaRPr lang="en-US" sz="2600" dirty="0"/>
          </a:p>
        </p:txBody>
      </p:sp>
      <p:sp>
        <p:nvSpPr>
          <p:cNvPr id="11" name="Text 9"/>
          <p:cNvSpPr txBox="1"/>
          <p:nvPr/>
        </p:nvSpPr>
        <p:spPr>
          <a:xfrm>
            <a:off x="4657344" y="3063240"/>
            <a:ext cx="2874264" cy="1554480"/>
          </a:xfrm>
          <a:prstGeom prst="rect">
            <a:avLst/>
          </a:prstGeom>
          <a:noFill/>
          <a:ln/>
        </p:spPr>
        <p:txBody>
          <a:bodyPr wrap="square" lIns="0" tIns="0" rIns="0" bIns="0" rtlCol="0" anchor="t"/>
          <a:lstStyle/>
          <a:p>
            <a:pPr indent="0" marL="0">
              <a:buNone/>
            </a:pPr>
            <a:r>
              <a:rPr lang="en-US" sz="1600" dirty="0">
                <a:solidFill>
                  <a:srgbClr val="4A5866"/>
                </a:solidFill>
                <a:latin typeface="Calibri" pitchFamily="34" charset="0"/>
                <a:ea typeface="Calibri" pitchFamily="34" charset="-122"/>
                <a:cs typeface="Calibri" pitchFamily="34" charset="-120"/>
              </a:rPr>
              <a:t>Gửi nhiều request đồng thời, kiểm invariant trực tiếp trong CSDL.</a:t>
            </a:r>
            <a:endParaRPr lang="en-US" sz="1600" dirty="0"/>
          </a:p>
        </p:txBody>
      </p:sp>
      <p:sp>
        <p:nvSpPr>
          <p:cNvPr id="12" name="Shape 10"/>
          <p:cNvSpPr/>
          <p:nvPr/>
        </p:nvSpPr>
        <p:spPr>
          <a:xfrm>
            <a:off x="8125968" y="1783080"/>
            <a:ext cx="3422904" cy="3017520"/>
          </a:xfrm>
          <a:prstGeom prst="roundRect">
            <a:avLst>
              <a:gd name="adj" fmla="val 3636"/>
            </a:avLst>
          </a:prstGeom>
          <a:solidFill>
            <a:srgbClr val="FBFAF6"/>
          </a:solidFill>
          <a:ln w="12700">
            <a:solidFill>
              <a:srgbClr val="DAD6CC"/>
            </a:solidFill>
            <a:prstDash val="solid"/>
          </a:ln>
        </p:spPr>
      </p:sp>
      <p:sp>
        <p:nvSpPr>
          <p:cNvPr id="13" name="Text 11"/>
          <p:cNvSpPr txBox="1"/>
          <p:nvPr/>
        </p:nvSpPr>
        <p:spPr>
          <a:xfrm>
            <a:off x="8400288" y="1965960"/>
            <a:ext cx="2874264" cy="274320"/>
          </a:xfrm>
          <a:prstGeom prst="rect">
            <a:avLst/>
          </a:prstGeom>
          <a:noFill/>
          <a:ln/>
        </p:spPr>
        <p:txBody>
          <a:bodyPr wrap="square" lIns="0" tIns="0" rIns="0" bIns="0" rtlCol="0" anchor="ctr"/>
          <a:lstStyle/>
          <a:p>
            <a:pPr indent="0" marL="0">
              <a:buNone/>
            </a:pPr>
            <a:r>
              <a:rPr lang="en-US" sz="1300" b="1" dirty="0">
                <a:solidFill>
                  <a:srgbClr val="2558B8"/>
                </a:solidFill>
                <a:latin typeface="Consolas" pitchFamily="34" charset="0"/>
                <a:ea typeface="Consolas" pitchFamily="34" charset="-122"/>
                <a:cs typeface="Consolas" pitchFamily="34" charset="-120"/>
              </a:rPr>
              <a:t>PHIÊN BẢN ĐÃ PIN</a:t>
            </a:r>
            <a:endParaRPr lang="en-US" sz="1300" dirty="0"/>
          </a:p>
        </p:txBody>
      </p:sp>
      <p:sp>
        <p:nvSpPr>
          <p:cNvPr id="14" name="Text 12"/>
          <p:cNvSpPr txBox="1"/>
          <p:nvPr/>
        </p:nvSpPr>
        <p:spPr>
          <a:xfrm>
            <a:off x="8400288" y="2377440"/>
            <a:ext cx="2874264" cy="548640"/>
          </a:xfrm>
          <a:prstGeom prst="rect">
            <a:avLst/>
          </a:prstGeom>
          <a:noFill/>
          <a:ln/>
        </p:spPr>
        <p:txBody>
          <a:bodyPr wrap="square" lIns="0" tIns="0" rIns="0" bIns="0" rtlCol="0" anchor="ctr"/>
          <a:lstStyle/>
          <a:p>
            <a:pPr indent="0" marL="0">
              <a:buNone/>
            </a:pPr>
            <a:r>
              <a:rPr lang="en-US" sz="2600" b="1" dirty="0">
                <a:solidFill>
                  <a:srgbClr val="12202B"/>
                </a:solidFill>
                <a:latin typeface="Calibri" pitchFamily="34" charset="0"/>
                <a:ea typeface="Calibri" pitchFamily="34" charset="-122"/>
                <a:cs typeface="Calibri" pitchFamily="34" charset="-120"/>
              </a:rPr>
              <a:t>v6.2.0</a:t>
            </a:r>
            <a:endParaRPr lang="en-US" sz="2600" dirty="0"/>
          </a:p>
        </p:txBody>
      </p:sp>
      <p:sp>
        <p:nvSpPr>
          <p:cNvPr id="15" name="Text 13"/>
          <p:cNvSpPr txBox="1"/>
          <p:nvPr/>
        </p:nvSpPr>
        <p:spPr>
          <a:xfrm>
            <a:off x="8400288" y="3063240"/>
            <a:ext cx="2874264" cy="1554480"/>
          </a:xfrm>
          <a:prstGeom prst="rect">
            <a:avLst/>
          </a:prstGeom>
          <a:noFill/>
          <a:ln/>
        </p:spPr>
        <p:txBody>
          <a:bodyPr wrap="square" lIns="0" tIns="0" rIns="0" bIns="0" rtlCol="0" anchor="t"/>
          <a:lstStyle/>
          <a:p>
            <a:pPr indent="0" marL="0">
              <a:buNone/>
            </a:pPr>
            <a:r>
              <a:rPr lang="en-US" sz="1600" dirty="0">
                <a:solidFill>
                  <a:srgbClr val="4A5866"/>
                </a:solidFill>
                <a:latin typeface="Calibri" pitchFamily="34" charset="0"/>
                <a:ea typeface="Calibri" pitchFamily="34" charset="-122"/>
                <a:cs typeface="Calibri" pitchFamily="34" charset="-120"/>
              </a:rPr>
              <a:t>Commit 1c193cca8682b33b9866c792186033f7ef886682, tránh nhánh main thay đổi giữa kỳ.</a:t>
            </a:r>
            <a:endParaRPr lang="en-US" sz="1600" dirty="0"/>
          </a:p>
        </p:txBody>
      </p:sp>
      <p:sp>
        <p:nvSpPr>
          <p:cNvPr id="16" name="Text 14"/>
          <p:cNvSpPr txBox="1"/>
          <p:nvPr/>
        </p:nvSpPr>
        <p:spPr>
          <a:xfrm>
            <a:off x="640080" y="5166360"/>
            <a:ext cx="10908792" cy="457200"/>
          </a:xfrm>
          <a:prstGeom prst="rect">
            <a:avLst/>
          </a:prstGeom>
          <a:noFill/>
          <a:ln/>
        </p:spPr>
        <p:txBody>
          <a:bodyPr wrap="square" lIns="0" tIns="0" rIns="0" bIns="0" rtlCol="0" anchor="ctr"/>
          <a:lstStyle/>
          <a:p>
            <a:pPr indent="0" marL="0">
              <a:buNone/>
            </a:pPr>
            <a:r>
              <a:rPr lang="en-US" sz="1800" dirty="0">
                <a:solidFill>
                  <a:srgbClr val="4A5866"/>
                </a:solidFill>
                <a:latin typeface="Calibri" pitchFamily="34" charset="0"/>
                <a:ea typeface="Calibri" pitchFamily="34" charset="-122"/>
                <a:cs typeface="Calibri" pitchFamily="34" charset="-120"/>
              </a:rPr>
              <a:t>Phạm vi: chỉ luồng đặt lịch, đổi lịch, hủy lịch (booking). Không ôm toàn bộ monorepo.</a:t>
            </a:r>
            <a:endParaRPr lang="en-US" sz="18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7A8592"/>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640080" y="292608"/>
            <a:ext cx="10908792" cy="274320"/>
          </a:xfrm>
          <a:prstGeom prst="rect">
            <a:avLst/>
          </a:prstGeom>
          <a:noFill/>
          <a:ln/>
        </p:spPr>
        <p:txBody>
          <a:bodyPr wrap="square" lIns="0" tIns="0" rIns="0" bIns="0" rtlCol="0" anchor="ctr"/>
          <a:lstStyle/>
          <a:p>
            <a:pPr indent="0" marL="0">
              <a:buNone/>
            </a:pPr>
            <a:r>
              <a:rPr lang="en-US" sz="1300" b="1" spc="200" kern="0" dirty="0">
                <a:solidFill>
                  <a:srgbClr val="B4531A"/>
                </a:solidFill>
                <a:latin typeface="Consolas" pitchFamily="34" charset="0"/>
                <a:ea typeface="Consolas" pitchFamily="34" charset="-122"/>
                <a:cs typeface="Consolas" pitchFamily="34" charset="-120"/>
              </a:rPr>
              <a:t>02 · TIẾN ĐỘ SO VỚI KẾ HOẠCH</a:t>
            </a:r>
            <a:endParaRPr lang="en-US" sz="1300" dirty="0"/>
          </a:p>
        </p:txBody>
      </p:sp>
      <p:sp>
        <p:nvSpPr>
          <p:cNvPr id="3" name="Text 0"/>
          <p:cNvSpPr/>
          <p:nvPr>
            <p:ph idx="100" type="title" hasCustomPrompt="1"/>
          </p:nvPr>
        </p:nvSpPr>
        <p:spPr>
          <a:xfrm>
            <a:off x="640080" y="640080"/>
            <a:ext cx="10908792" cy="868680"/>
          </a:xfrm>
          <a:prstGeom prst="rect">
            <a:avLst/>
          </a:prstGeom>
          <a:noFill/>
          <a:ln/>
        </p:spPr>
        <p:txBody>
          <a:bodyPr wrap="square" lIns="0" tIns="0" rIns="0" bIns="0" rtlCol="0" anchor="t"/>
          <a:lstStyle/>
          <a:p>
            <a:pPr indent="0" marL="0">
              <a:buNone/>
            </a:pPr>
            <a:r>
              <a:rPr lang="en-US" sz="3400" b="1" dirty="0">
                <a:solidFill>
                  <a:srgbClr val="12202B"/>
                </a:solidFill>
                <a:latin typeface="Calibri" pitchFamily="34" charset="0"/>
                <a:ea typeface="Calibri" pitchFamily="34" charset="-122"/>
                <a:cs typeface="Calibri" pitchFamily="34" charset="-120"/>
              </a:rPr>
              <a:t>Sprint 1 hoàn thành, harness 8 scenario đã chạy xong</a:t>
            </a:r>
            <a:endParaRPr lang="en-US" sz="34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640080" y="1600200"/>
          <a:ext cx="10908792" cy="914400"/>
        </p:xfrm>
        <a:graphic>
          <a:graphicData uri="http://schemas.openxmlformats.org/drawingml/2006/table">
            <a:tbl>
              <a:tblPr/>
              <a:tblGrid>
                <a:gridCol w="5394960"/>
                <a:gridCol w="1097280"/>
                <a:gridCol w="1371600"/>
                <a:gridCol w="3044952"/>
              </a:tblGrid>
              <a:tr h="393192">
                <a:tc>
                  <a:txBody>
                    <a:bodyPr/>
                    <a:lstStyle/>
                    <a:p>
                      <a:pPr indent="0" marL="0">
                        <a:buNone/>
                      </a:pPr>
                      <a:r>
                        <a:rPr lang="en-US" sz="1300" b="1" dirty="0">
                          <a:solidFill>
                            <a:srgbClr val="12202B"/>
                          </a:solidFill>
                          <a:latin typeface="Calibri" pitchFamily="34" charset="0"/>
                          <a:ea typeface="Calibri" pitchFamily="34" charset="-122"/>
                          <a:cs typeface="Calibri" pitchFamily="34" charset="-120"/>
                        </a:rPr>
                        <a:t>Hạng mục</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E6E2D6"/>
                    </a:solidFill>
                  </a:tcPr>
                </a:tc>
                <a:tc>
                  <a:txBody>
                    <a:bodyPr/>
                    <a:lstStyle/>
                    <a:p>
                      <a:pPr indent="0" marL="0">
                        <a:buNone/>
                      </a:pPr>
                      <a:r>
                        <a:rPr lang="en-US" sz="1300" b="1" dirty="0">
                          <a:solidFill>
                            <a:srgbClr val="12202B"/>
                          </a:solidFill>
                          <a:latin typeface="Calibri" pitchFamily="34" charset="0"/>
                          <a:ea typeface="Calibri" pitchFamily="34" charset="-122"/>
                          <a:cs typeface="Calibri" pitchFamily="34" charset="-120"/>
                        </a:rPr>
                        <a:t>Sprint</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E6E2D6"/>
                    </a:solidFill>
                  </a:tcPr>
                </a:tc>
                <a:tc>
                  <a:txBody>
                    <a:bodyPr/>
                    <a:lstStyle/>
                    <a:p>
                      <a:pPr indent="0" marL="0">
                        <a:buNone/>
                      </a:pPr>
                      <a:r>
                        <a:rPr lang="en-US" sz="1300" b="1" dirty="0">
                          <a:solidFill>
                            <a:srgbClr val="12202B"/>
                          </a:solidFill>
                          <a:latin typeface="Calibri" pitchFamily="34" charset="0"/>
                          <a:ea typeface="Calibri" pitchFamily="34" charset="-122"/>
                          <a:cs typeface="Calibri" pitchFamily="34" charset="-120"/>
                        </a:rPr>
                        <a:t>Trạng thái</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E6E2D6"/>
                    </a:solidFill>
                  </a:tcPr>
                </a:tc>
                <a:tc>
                  <a:txBody>
                    <a:bodyPr/>
                    <a:lstStyle/>
                    <a:p>
                      <a:pPr indent="0" marL="0">
                        <a:buNone/>
                      </a:pPr>
                      <a:r>
                        <a:rPr lang="en-US" sz="1300" b="1" dirty="0">
                          <a:solidFill>
                            <a:srgbClr val="12202B"/>
                          </a:solidFill>
                          <a:latin typeface="Calibri" pitchFamily="34" charset="0"/>
                          <a:ea typeface="Calibri" pitchFamily="34" charset="-122"/>
                          <a:cs typeface="Calibri" pitchFamily="34" charset="-120"/>
                        </a:rPr>
                        <a:t>Bằng chứng</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E6E2D6"/>
                    </a:solidFill>
                  </a:tcPr>
                </a:tc>
              </a:tr>
              <a:tr h="393192">
                <a:tc>
                  <a:txBody>
                    <a:bodyPr/>
                    <a:lstStyle/>
                    <a:p>
                      <a:pPr indent="0" marL="0">
                        <a:buNone/>
                      </a:pPr>
                      <a:r>
                        <a:rPr lang="en-US" sz="1300" dirty="0">
                          <a:solidFill>
                            <a:srgbClr val="12202B"/>
                          </a:solidFill>
                          <a:latin typeface="Calibri" pitchFamily="34" charset="0"/>
                          <a:ea typeface="Calibri" pitchFamily="34" charset="-122"/>
                          <a:cs typeface="Calibri" pitchFamily="34" charset="-120"/>
                        </a:rPr>
                        <a:t>Chốt repo, kỹ thuật, pin tag và commit SHA</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300" dirty="0">
                          <a:solidFill>
                            <a:srgbClr val="12202B"/>
                          </a:solidFill>
                          <a:latin typeface="Calibri" pitchFamily="34" charset="0"/>
                          <a:ea typeface="Calibri" pitchFamily="34" charset="-122"/>
                          <a:cs typeface="Calibri" pitchFamily="34" charset="-120"/>
                        </a:rPr>
                        <a:t>Đăng ký</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300" b="1" dirty="0">
                          <a:solidFill>
                            <a:srgbClr val="2E7D4F"/>
                          </a:solidFill>
                          <a:latin typeface="Calibri" pitchFamily="34" charset="0"/>
                          <a:ea typeface="Calibri" pitchFamily="34" charset="-122"/>
                          <a:cs typeface="Calibri" pitchFamily="34" charset="-120"/>
                        </a:rPr>
                        <a:t>Xong</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300" dirty="0">
                          <a:solidFill>
                            <a:srgbClr val="12202B"/>
                          </a:solidFill>
                          <a:latin typeface="Calibri" pitchFamily="34" charset="0"/>
                          <a:ea typeface="Calibri" pitchFamily="34" charset="-122"/>
                          <a:cs typeface="Calibri" pitchFamily="34" charset="-120"/>
                        </a:rPr>
                        <a:t>README.md mục 1</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r>
              <a:tr h="393192">
                <a:tc>
                  <a:txBody>
                    <a:bodyPr/>
                    <a:lstStyle/>
                    <a:p>
                      <a:pPr indent="0" marL="0">
                        <a:buNone/>
                      </a:pPr>
                      <a:r>
                        <a:rPr lang="en-US" sz="1300" dirty="0">
                          <a:solidFill>
                            <a:srgbClr val="12202B"/>
                          </a:solidFill>
                          <a:latin typeface="Calibri" pitchFamily="34" charset="0"/>
                          <a:ea typeface="Calibri" pitchFamily="34" charset="-122"/>
                          <a:cs typeface="Calibri" pitchFamily="34" charset="-120"/>
                        </a:rPr>
                        <a:t>Dựng Cal.com local, seed data, chạy 3 luồng nghiệp vụ</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300" dirty="0">
                          <a:solidFill>
                            <a:srgbClr val="12202B"/>
                          </a:solidFill>
                          <a:latin typeface="Calibri" pitchFamily="34" charset="0"/>
                          <a:ea typeface="Calibri" pitchFamily="34" charset="-122"/>
                          <a:cs typeface="Calibri" pitchFamily="34" charset="-120"/>
                        </a:rPr>
                        <a:t>1</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300" b="1" dirty="0">
                          <a:solidFill>
                            <a:srgbClr val="2E7D4F"/>
                          </a:solidFill>
                          <a:latin typeface="Calibri" pitchFamily="34" charset="0"/>
                          <a:ea typeface="Calibri" pitchFamily="34" charset="-122"/>
                          <a:cs typeface="Calibri" pitchFamily="34" charset="-120"/>
                        </a:rPr>
                        <a:t>Xong</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300" dirty="0">
                          <a:solidFill>
                            <a:srgbClr val="12202B"/>
                          </a:solidFill>
                          <a:latin typeface="Calibri" pitchFamily="34" charset="0"/>
                          <a:ea typeface="Calibri" pitchFamily="34" charset="-122"/>
                          <a:cs typeface="Calibri" pitchFamily="34" charset="-120"/>
                        </a:rPr>
                        <a:t>docs/evidence/smoke-test.txt</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r>
              <a:tr h="393192">
                <a:tc>
                  <a:txBody>
                    <a:bodyPr/>
                    <a:lstStyle/>
                    <a:p>
                      <a:pPr indent="0" marL="0">
                        <a:buNone/>
                      </a:pPr>
                      <a:r>
                        <a:rPr lang="en-US" sz="1300" dirty="0">
                          <a:solidFill>
                            <a:srgbClr val="12202B"/>
                          </a:solidFill>
                          <a:latin typeface="Calibri" pitchFamily="34" charset="0"/>
                          <a:ea typeface="Calibri" pitchFamily="34" charset="-122"/>
                          <a:cs typeface="Calibri" pitchFamily="34" charset="-120"/>
                        </a:rPr>
                        <a:t>Đọc code, vẽ kiến trúc và luồng dữ liệu</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300" dirty="0">
                          <a:solidFill>
                            <a:srgbClr val="12202B"/>
                          </a:solidFill>
                          <a:latin typeface="Calibri" pitchFamily="34" charset="0"/>
                          <a:ea typeface="Calibri" pitchFamily="34" charset="-122"/>
                          <a:cs typeface="Calibri" pitchFamily="34" charset="-120"/>
                        </a:rPr>
                        <a:t>1</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300" b="1" dirty="0">
                          <a:solidFill>
                            <a:srgbClr val="2E7D4F"/>
                          </a:solidFill>
                          <a:latin typeface="Calibri" pitchFamily="34" charset="0"/>
                          <a:ea typeface="Calibri" pitchFamily="34" charset="-122"/>
                          <a:cs typeface="Calibri" pitchFamily="34" charset="-120"/>
                        </a:rPr>
                        <a:t>Xong</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300" dirty="0">
                          <a:solidFill>
                            <a:srgbClr val="12202B"/>
                          </a:solidFill>
                          <a:latin typeface="Calibri" pitchFamily="34" charset="0"/>
                          <a:ea typeface="Calibri" pitchFamily="34" charset="-122"/>
                          <a:cs typeface="Calibri" pitchFamily="34" charset="-120"/>
                        </a:rPr>
                        <a:t>docs/diagrams/kien-truc.md</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r>
              <a:tr h="393192">
                <a:tc>
                  <a:txBody>
                    <a:bodyPr/>
                    <a:lstStyle/>
                    <a:p>
                      <a:pPr indent="0" marL="0">
                        <a:buNone/>
                      </a:pPr>
                      <a:r>
                        <a:rPr lang="en-US" sz="1300" dirty="0">
                          <a:solidFill>
                            <a:srgbClr val="12202B"/>
                          </a:solidFill>
                          <a:latin typeface="Calibri" pitchFamily="34" charset="0"/>
                          <a:ea typeface="Calibri" pitchFamily="34" charset="-122"/>
                          <a:cs typeface="Calibri" pitchFamily="34" charset="-120"/>
                        </a:rPr>
                        <a:t>Tài liệu on-boarding, kế hoạch kiểm thử</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300" dirty="0">
                          <a:solidFill>
                            <a:srgbClr val="12202B"/>
                          </a:solidFill>
                          <a:latin typeface="Calibri" pitchFamily="34" charset="0"/>
                          <a:ea typeface="Calibri" pitchFamily="34" charset="-122"/>
                          <a:cs typeface="Calibri" pitchFamily="34" charset="-120"/>
                        </a:rPr>
                        <a:t>1</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300" b="1" dirty="0">
                          <a:solidFill>
                            <a:srgbClr val="2E7D4F"/>
                          </a:solidFill>
                          <a:latin typeface="Calibri" pitchFamily="34" charset="0"/>
                          <a:ea typeface="Calibri" pitchFamily="34" charset="-122"/>
                          <a:cs typeface="Calibri" pitchFamily="34" charset="-120"/>
                        </a:rPr>
                        <a:t>Xong</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300" dirty="0">
                          <a:solidFill>
                            <a:srgbClr val="12202B"/>
                          </a:solidFill>
                          <a:latin typeface="Calibri" pitchFamily="34" charset="0"/>
                          <a:ea typeface="Calibri" pitchFamily="34" charset="-122"/>
                          <a:cs typeface="Calibri" pitchFamily="34" charset="-120"/>
                        </a:rPr>
                        <a:t>README.md, slide 8</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r>
              <a:tr h="393192">
                <a:tc>
                  <a:txBody>
                    <a:bodyPr/>
                    <a:lstStyle/>
                    <a:p>
                      <a:pPr indent="0" marL="0">
                        <a:buNone/>
                      </a:pPr>
                      <a:r>
                        <a:rPr lang="en-US" sz="1300" dirty="0">
                          <a:solidFill>
                            <a:srgbClr val="12202B"/>
                          </a:solidFill>
                          <a:latin typeface="Calibri" pitchFamily="34" charset="0"/>
                          <a:ea typeface="Calibri" pitchFamily="34" charset="-122"/>
                          <a:cs typeface="Calibri" pitchFamily="34" charset="-120"/>
                        </a:rPr>
                        <a:t>Harness k6 + SQL, 8 scenario, mỗi scenario 10 vòng, có đối chứng tuần tự</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300" dirty="0">
                          <a:solidFill>
                            <a:srgbClr val="12202B"/>
                          </a:solidFill>
                          <a:latin typeface="Calibri" pitchFamily="34" charset="0"/>
                          <a:ea typeface="Calibri" pitchFamily="34" charset="-122"/>
                          <a:cs typeface="Calibri" pitchFamily="34" charset="-120"/>
                        </a:rPr>
                        <a:t>2–3</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300" b="1" dirty="0">
                          <a:solidFill>
                            <a:srgbClr val="2E7D4F"/>
                          </a:solidFill>
                          <a:latin typeface="Calibri" pitchFamily="34" charset="0"/>
                          <a:ea typeface="Calibri" pitchFamily="34" charset="-122"/>
                          <a:cs typeface="Calibri" pitchFamily="34" charset="-120"/>
                        </a:rPr>
                        <a:t>Xong</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300" dirty="0">
                          <a:solidFill>
                            <a:srgbClr val="12202B"/>
                          </a:solidFill>
                          <a:latin typeface="Calibri" pitchFamily="34" charset="0"/>
                          <a:ea typeface="Calibri" pitchFamily="34" charset="-122"/>
                          <a:cs typeface="Calibri" pitchFamily="34" charset="-120"/>
                        </a:rPr>
                        <a:t>race-tests/results/</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r>
              <a:tr h="393192">
                <a:tc>
                  <a:txBody>
                    <a:bodyPr/>
                    <a:lstStyle/>
                    <a:p>
                      <a:pPr indent="0" marL="0">
                        <a:buNone/>
                      </a:pPr>
                      <a:r>
                        <a:rPr lang="en-US" sz="1300" dirty="0">
                          <a:solidFill>
                            <a:srgbClr val="12202B"/>
                          </a:solidFill>
                          <a:latin typeface="Calibri" pitchFamily="34" charset="0"/>
                          <a:ea typeface="Calibri" pitchFamily="34" charset="-122"/>
                          <a:cs typeface="Calibri" pitchFamily="34" charset="-120"/>
                        </a:rPr>
                        <a:t>Phân tích nguyên nhân gốc, thí nghiệm khắc phục</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300" dirty="0">
                          <a:solidFill>
                            <a:srgbClr val="12202B"/>
                          </a:solidFill>
                          <a:latin typeface="Calibri" pitchFamily="34" charset="0"/>
                          <a:ea typeface="Calibri" pitchFamily="34" charset="-122"/>
                          <a:cs typeface="Calibri" pitchFamily="34" charset="-120"/>
                        </a:rPr>
                        <a:t>4</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300" b="1" dirty="0">
                          <a:solidFill>
                            <a:srgbClr val="2E7D4F"/>
                          </a:solidFill>
                          <a:latin typeface="Calibri" pitchFamily="34" charset="0"/>
                          <a:ea typeface="Calibri" pitchFamily="34" charset="-122"/>
                          <a:cs typeface="Calibri" pitchFamily="34" charset="-120"/>
                        </a:rPr>
                        <a:t>Xong</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300" dirty="0">
                          <a:solidFill>
                            <a:srgbClr val="12202B"/>
                          </a:solidFill>
                          <a:latin typeface="Calibri" pitchFamily="34" charset="0"/>
                          <a:ea typeface="Calibri" pitchFamily="34" charset="-122"/>
                          <a:cs typeface="Calibri" pitchFamily="34" charset="-120"/>
                        </a:rPr>
                        <a:t>docs/DEFECTS.md</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r>
              <a:tr h="393192">
                <a:tc>
                  <a:txBody>
                    <a:bodyPr/>
                    <a:lstStyle/>
                    <a:p>
                      <a:pPr indent="0" marL="0">
                        <a:buNone/>
                      </a:pPr>
                      <a:r>
                        <a:rPr lang="en-US" sz="1300" dirty="0">
                          <a:solidFill>
                            <a:srgbClr val="12202B"/>
                          </a:solidFill>
                          <a:latin typeface="Calibri" pitchFamily="34" charset="0"/>
                          <a:ea typeface="Calibri" pitchFamily="34" charset="-122"/>
                          <a:cs typeface="Calibri" pitchFamily="34" charset="-120"/>
                        </a:rPr>
                        <a:t>Báo cáo cuối (bản nháp A–H) và slide bảo vệ</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300" dirty="0">
                          <a:solidFill>
                            <a:srgbClr val="12202B"/>
                          </a:solidFill>
                          <a:latin typeface="Calibri" pitchFamily="34" charset="0"/>
                          <a:ea typeface="Calibri" pitchFamily="34" charset="-122"/>
                          <a:cs typeface="Calibri" pitchFamily="34" charset="-120"/>
                        </a:rPr>
                        <a:t>4–5</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300" b="1" dirty="0">
                          <a:solidFill>
                            <a:srgbClr val="B4531A"/>
                          </a:solidFill>
                          <a:latin typeface="Calibri" pitchFamily="34" charset="0"/>
                          <a:ea typeface="Calibri" pitchFamily="34" charset="-122"/>
                          <a:cs typeface="Calibri" pitchFamily="34" charset="-120"/>
                        </a:rPr>
                        <a:t>Một phần</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300" dirty="0">
                          <a:solidFill>
                            <a:srgbClr val="12202B"/>
                          </a:solidFill>
                          <a:latin typeface="Calibri" pitchFamily="34" charset="0"/>
                          <a:ea typeface="Calibri" pitchFamily="34" charset="-122"/>
                          <a:cs typeface="Calibri" pitchFamily="34" charset="-120"/>
                        </a:rPr>
                        <a:t>docs/BAO_CAO.md</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r>
              <a:tr h="393192">
                <a:tc>
                  <a:txBody>
                    <a:bodyPr/>
                    <a:lstStyle/>
                    <a:p>
                      <a:pPr indent="0" marL="0">
                        <a:buNone/>
                      </a:pPr>
                      <a:r>
                        <a:rPr lang="en-US" sz="1300" dirty="0">
                          <a:solidFill>
                            <a:srgbClr val="12202B"/>
                          </a:solidFill>
                          <a:latin typeface="Calibri" pitchFamily="34" charset="0"/>
                          <a:ea typeface="Calibri" pitchFamily="34" charset="-122"/>
                          <a:cs typeface="Calibri" pitchFamily="34" charset="-120"/>
                        </a:rPr>
                        <a:t>Chạy lại trên máy Windows khác: kết quả khớp 8/8</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300" dirty="0">
                          <a:solidFill>
                            <a:srgbClr val="12202B"/>
                          </a:solidFill>
                          <a:latin typeface="Calibri" pitchFamily="34" charset="0"/>
                          <a:ea typeface="Calibri" pitchFamily="34" charset="-122"/>
                          <a:cs typeface="Calibri" pitchFamily="34" charset="-120"/>
                        </a:rPr>
                        <a:t>3</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300" b="1" dirty="0">
                          <a:solidFill>
                            <a:srgbClr val="2E7D4F"/>
                          </a:solidFill>
                          <a:latin typeface="Calibri" pitchFamily="34" charset="0"/>
                          <a:ea typeface="Calibri" pitchFamily="34" charset="-122"/>
                          <a:cs typeface="Calibri" pitchFamily="34" charset="-120"/>
                        </a:rPr>
                        <a:t>Xong</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300" dirty="0">
                          <a:solidFill>
                            <a:srgbClr val="12202B"/>
                          </a:solidFill>
                          <a:latin typeface="Calibri" pitchFamily="34" charset="0"/>
                          <a:ea typeface="Calibri" pitchFamily="34" charset="-122"/>
                          <a:cs typeface="Calibri" pitchFamily="34" charset="-120"/>
                        </a:rPr>
                        <a:t>race-tests/results/windows-race</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r>
              <a:tr h="393192">
                <a:tc>
                  <a:txBody>
                    <a:bodyPr/>
                    <a:lstStyle/>
                    <a:p>
                      <a:pPr indent="0" marL="0">
                        <a:buNone/>
                      </a:pPr>
                      <a:r>
                        <a:rPr lang="en-US" sz="1300" dirty="0">
                          <a:solidFill>
                            <a:srgbClr val="12202B"/>
                          </a:solidFill>
                          <a:latin typeface="Calibri" pitchFamily="34" charset="0"/>
                          <a:ea typeface="Calibri" pitchFamily="34" charset="-122"/>
                          <a:cs typeface="Calibri" pitchFamily="34" charset="-120"/>
                        </a:rPr>
                        <a:t>Scenario Playwright qua giao diện</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300" dirty="0">
                          <a:solidFill>
                            <a:srgbClr val="12202B"/>
                          </a:solidFill>
                          <a:latin typeface="Calibri" pitchFamily="34" charset="0"/>
                          <a:ea typeface="Calibri" pitchFamily="34" charset="-122"/>
                          <a:cs typeface="Calibri" pitchFamily="34" charset="-120"/>
                        </a:rPr>
                        <a:t>3</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300" b="1" dirty="0">
                          <a:solidFill>
                            <a:srgbClr val="4A5866"/>
                          </a:solidFill>
                          <a:latin typeface="Calibri" pitchFamily="34" charset="0"/>
                          <a:ea typeface="Calibri" pitchFamily="34" charset="-122"/>
                          <a:cs typeface="Calibri" pitchFamily="34" charset="-120"/>
                        </a:rPr>
                        <a:t>Chưa làm</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300" dirty="0">
                          <a:solidFill>
                            <a:srgbClr val="12202B"/>
                          </a:solidFill>
                          <a:latin typeface="Calibri" pitchFamily="34" charset="0"/>
                          <a:ea typeface="Calibri" pitchFamily="34" charset="-122"/>
                          <a:cs typeface="Calibri" pitchFamily="34" charset="-120"/>
                        </a:rPr>
                        <a:t>–</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r>
              <a:tr h="393192">
                <a:tc>
                  <a:txBody>
                    <a:bodyPr/>
                    <a:lstStyle/>
                    <a:p>
                      <a:pPr indent="0" marL="0">
                        <a:buNone/>
                      </a:pPr>
                      <a:r>
                        <a:rPr lang="en-US" sz="1300" dirty="0">
                          <a:solidFill>
                            <a:srgbClr val="12202B"/>
                          </a:solidFill>
                          <a:latin typeface="Calibri" pitchFamily="34" charset="0"/>
                          <a:ea typeface="Calibri" pitchFamily="34" charset="-122"/>
                          <a:cs typeface="Calibri" pitchFamily="34" charset="-120"/>
                        </a:rPr>
                        <a:t>Board GitHub Projects: 18 thẻ ở 3 cột; còn gán người và commit đều các thành viên</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300" dirty="0">
                          <a:solidFill>
                            <a:srgbClr val="12202B"/>
                          </a:solidFill>
                          <a:latin typeface="Calibri" pitchFamily="34" charset="0"/>
                          <a:ea typeface="Calibri" pitchFamily="34" charset="-122"/>
                          <a:cs typeface="Calibri" pitchFamily="34" charset="-120"/>
                        </a:rPr>
                        <a:t>Đăng ký</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300" b="1" dirty="0">
                          <a:solidFill>
                            <a:srgbClr val="B4531A"/>
                          </a:solidFill>
                          <a:latin typeface="Calibri" pitchFamily="34" charset="0"/>
                          <a:ea typeface="Calibri" pitchFamily="34" charset="-122"/>
                          <a:cs typeface="Calibri" pitchFamily="34" charset="-120"/>
                        </a:rPr>
                        <a:t>Một phần</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300" dirty="0">
                          <a:solidFill>
                            <a:srgbClr val="12202B"/>
                          </a:solidFill>
                          <a:latin typeface="Calibri" pitchFamily="34" charset="0"/>
                          <a:ea typeface="Calibri" pitchFamily="34" charset="-122"/>
                          <a:cs typeface="Calibri" pitchFamily="34" charset="-120"/>
                        </a:rPr>
                        <a:t>docs/evidence/board.png</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7A8592"/>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640080" y="292608"/>
            <a:ext cx="10908792" cy="274320"/>
          </a:xfrm>
          <a:prstGeom prst="rect">
            <a:avLst/>
          </a:prstGeom>
          <a:noFill/>
          <a:ln/>
        </p:spPr>
        <p:txBody>
          <a:bodyPr wrap="square" lIns="0" tIns="0" rIns="0" bIns="0" rtlCol="0" anchor="ctr"/>
          <a:lstStyle/>
          <a:p>
            <a:pPr indent="0" marL="0">
              <a:buNone/>
            </a:pPr>
            <a:r>
              <a:rPr lang="en-US" sz="1300" b="1" spc="200" kern="0" dirty="0">
                <a:solidFill>
                  <a:srgbClr val="B4531A"/>
                </a:solidFill>
                <a:latin typeface="Consolas" pitchFamily="34" charset="0"/>
                <a:ea typeface="Consolas" pitchFamily="34" charset="-122"/>
                <a:cs typeface="Consolas" pitchFamily="34" charset="-120"/>
              </a:rPr>
              <a:t>03 · KIẾN TRÚC</a:t>
            </a:r>
            <a:endParaRPr lang="en-US" sz="1300" dirty="0"/>
          </a:p>
        </p:txBody>
      </p:sp>
      <p:sp>
        <p:nvSpPr>
          <p:cNvPr id="3" name="Text 0"/>
          <p:cNvSpPr/>
          <p:nvPr>
            <p:ph idx="100" type="title" hasCustomPrompt="1"/>
          </p:nvPr>
        </p:nvSpPr>
        <p:spPr>
          <a:xfrm>
            <a:off x="640080" y="640080"/>
            <a:ext cx="10908792" cy="868680"/>
          </a:xfrm>
          <a:prstGeom prst="rect">
            <a:avLst/>
          </a:prstGeom>
          <a:noFill/>
          <a:ln/>
        </p:spPr>
        <p:txBody>
          <a:bodyPr wrap="square" lIns="0" tIns="0" rIns="0" bIns="0" rtlCol="0" anchor="t"/>
          <a:lstStyle/>
          <a:p>
            <a:pPr indent="0" marL="0">
              <a:buNone/>
            </a:pPr>
            <a:r>
              <a:rPr lang="en-US" sz="3400" b="1" dirty="0">
                <a:solidFill>
                  <a:srgbClr val="12202B"/>
                </a:solidFill>
                <a:latin typeface="Calibri" pitchFamily="34" charset="0"/>
                <a:ea typeface="Calibri" pitchFamily="34" charset="-122"/>
                <a:cs typeface="Calibri" pitchFamily="34" charset="-120"/>
              </a:rPr>
              <a:t>Một request đặt lịch đi qua 4 lớp</a:t>
            </a:r>
            <a:endParaRPr lang="en-US" sz="3400" dirty="0"/>
          </a:p>
        </p:txBody>
      </p:sp>
      <p:sp>
        <p:nvSpPr>
          <p:cNvPr id="4" name="Shape 2"/>
          <p:cNvSpPr/>
          <p:nvPr/>
        </p:nvSpPr>
        <p:spPr>
          <a:xfrm>
            <a:off x="640080" y="1737360"/>
            <a:ext cx="2331720" cy="1645920"/>
          </a:xfrm>
          <a:prstGeom prst="roundRect">
            <a:avLst>
              <a:gd name="adj" fmla="val 6667"/>
            </a:avLst>
          </a:prstGeom>
          <a:solidFill>
            <a:srgbClr val="12202B"/>
          </a:solidFill>
          <a:ln w="12700">
            <a:solidFill>
              <a:srgbClr val="12202B"/>
            </a:solidFill>
            <a:prstDash val="solid"/>
          </a:ln>
        </p:spPr>
      </p:sp>
      <p:sp>
        <p:nvSpPr>
          <p:cNvPr id="5" name="Text 3"/>
          <p:cNvSpPr txBox="1"/>
          <p:nvPr/>
        </p:nvSpPr>
        <p:spPr>
          <a:xfrm>
            <a:off x="777240" y="1828800"/>
            <a:ext cx="2057400" cy="457200"/>
          </a:xfrm>
          <a:prstGeom prst="rect">
            <a:avLst/>
          </a:prstGeom>
          <a:noFill/>
          <a:ln/>
        </p:spPr>
        <p:txBody>
          <a:bodyPr wrap="square" lIns="0" tIns="0" rIns="0" bIns="0" rtlCol="0" anchor="t"/>
          <a:lstStyle/>
          <a:p>
            <a:pPr indent="0" marL="0">
              <a:buNone/>
            </a:pPr>
            <a:r>
              <a:rPr lang="en-US" sz="1300" b="1" dirty="0">
                <a:solidFill>
                  <a:srgbClr val="E07B39"/>
                </a:solidFill>
                <a:latin typeface="Consolas" pitchFamily="34" charset="0"/>
                <a:ea typeface="Consolas" pitchFamily="34" charset="-122"/>
                <a:cs typeface="Consolas" pitchFamily="34" charset="-120"/>
              </a:rPr>
              <a:t>apps/web</a:t>
            </a:r>
            <a:endParaRPr lang="en-US" sz="1300" dirty="0"/>
          </a:p>
        </p:txBody>
      </p:sp>
      <p:sp>
        <p:nvSpPr>
          <p:cNvPr id="6" name="Text 4"/>
          <p:cNvSpPr txBox="1"/>
          <p:nvPr/>
        </p:nvSpPr>
        <p:spPr>
          <a:xfrm>
            <a:off x="777240" y="2331720"/>
            <a:ext cx="2057400" cy="914400"/>
          </a:xfrm>
          <a:prstGeom prst="rect">
            <a:avLst/>
          </a:prstGeom>
          <a:noFill/>
          <a:ln/>
        </p:spPr>
        <p:txBody>
          <a:bodyPr wrap="square" lIns="0" tIns="0" rIns="0" bIns="0" rtlCol="0" anchor="t"/>
          <a:lstStyle/>
          <a:p>
            <a:pPr indent="0" marL="0">
              <a:buNone/>
            </a:pPr>
            <a:r>
              <a:rPr lang="en-US" sz="1400" dirty="0">
                <a:solidFill>
                  <a:srgbClr val="F4F2EC"/>
                </a:solidFill>
                <a:latin typeface="Calibri" pitchFamily="34" charset="0"/>
                <a:ea typeface="Calibri" pitchFamily="34" charset="-122"/>
                <a:cs typeface="Calibri" pitchFamily="34" charset="-120"/>
              </a:rPr>
              <a:t>POST /api/book/event</a:t>
            </a:r>
            <a:endParaRPr lang="en-US" sz="1400" dirty="0"/>
          </a:p>
          <a:p>
            <a:pPr indent="0" marL="0">
              <a:buNone/>
            </a:pPr>
            <a:r>
              <a:rPr lang="en-US" sz="1400" dirty="0">
                <a:solidFill>
                  <a:srgbClr val="F4F2EC"/>
                </a:solidFill>
                <a:latin typeface="Calibri" pitchFamily="34" charset="0"/>
                <a:ea typeface="Calibri" pitchFamily="34" charset="-122"/>
                <a:cs typeface="Calibri" pitchFamily="34" charset="-120"/>
              </a:rPr>
              <a:t>POST /api/cancel</a:t>
            </a:r>
            <a:endParaRPr lang="en-US" sz="1400" dirty="0"/>
          </a:p>
        </p:txBody>
      </p:sp>
      <p:sp>
        <p:nvSpPr>
          <p:cNvPr id="7" name="Shape 5"/>
          <p:cNvSpPr/>
          <p:nvPr/>
        </p:nvSpPr>
        <p:spPr>
          <a:xfrm>
            <a:off x="3008376" y="2560320"/>
            <a:ext cx="454152" cy="0"/>
          </a:xfrm>
          <a:prstGeom prst="line">
            <a:avLst/>
          </a:prstGeom>
          <a:noFill/>
          <a:ln w="25400">
            <a:solidFill>
              <a:srgbClr val="7A8592"/>
            </a:solidFill>
            <a:prstDash val="solid"/>
            <a:tailEnd type="triangle"/>
          </a:ln>
        </p:spPr>
      </p:sp>
      <p:sp>
        <p:nvSpPr>
          <p:cNvPr id="8" name="Shape 6"/>
          <p:cNvSpPr/>
          <p:nvPr/>
        </p:nvSpPr>
        <p:spPr>
          <a:xfrm>
            <a:off x="3499104" y="1737360"/>
            <a:ext cx="2331720" cy="1645920"/>
          </a:xfrm>
          <a:prstGeom prst="roundRect">
            <a:avLst>
              <a:gd name="adj" fmla="val 6667"/>
            </a:avLst>
          </a:prstGeom>
          <a:solidFill>
            <a:srgbClr val="FBFAF6"/>
          </a:solidFill>
          <a:ln w="12700">
            <a:solidFill>
              <a:srgbClr val="DAD6CC"/>
            </a:solidFill>
            <a:prstDash val="solid"/>
          </a:ln>
        </p:spPr>
      </p:sp>
      <p:sp>
        <p:nvSpPr>
          <p:cNvPr id="9" name="Text 7"/>
          <p:cNvSpPr txBox="1"/>
          <p:nvPr/>
        </p:nvSpPr>
        <p:spPr>
          <a:xfrm>
            <a:off x="3636264" y="1828800"/>
            <a:ext cx="2057400" cy="457200"/>
          </a:xfrm>
          <a:prstGeom prst="rect">
            <a:avLst/>
          </a:prstGeom>
          <a:noFill/>
          <a:ln/>
        </p:spPr>
        <p:txBody>
          <a:bodyPr wrap="square" lIns="0" tIns="0" rIns="0" bIns="0" rtlCol="0" anchor="t"/>
          <a:lstStyle/>
          <a:p>
            <a:pPr indent="0" marL="0">
              <a:buNone/>
            </a:pPr>
            <a:r>
              <a:rPr lang="en-US" sz="1300" b="1" dirty="0">
                <a:solidFill>
                  <a:srgbClr val="2558B8"/>
                </a:solidFill>
                <a:latin typeface="Consolas" pitchFamily="34" charset="0"/>
                <a:ea typeface="Consolas" pitchFamily="34" charset="-122"/>
                <a:cs typeface="Consolas" pitchFamily="34" charset="-120"/>
              </a:rPr>
              <a:t>RegularBookingService</a:t>
            </a:r>
            <a:endParaRPr lang="en-US" sz="1300" dirty="0"/>
          </a:p>
        </p:txBody>
      </p:sp>
      <p:sp>
        <p:nvSpPr>
          <p:cNvPr id="10" name="Text 8"/>
          <p:cNvSpPr txBox="1"/>
          <p:nvPr/>
        </p:nvSpPr>
        <p:spPr>
          <a:xfrm>
            <a:off x="3636264" y="2331720"/>
            <a:ext cx="2057400" cy="914400"/>
          </a:xfrm>
          <a:prstGeom prst="rect">
            <a:avLst/>
          </a:prstGeom>
          <a:noFill/>
          <a:ln/>
        </p:spPr>
        <p:txBody>
          <a:bodyPr wrap="square" lIns="0" tIns="0" rIns="0" bIns="0" rtlCol="0" anchor="t"/>
          <a:lstStyle/>
          <a:p>
            <a:pPr indent="0" marL="0">
              <a:buNone/>
            </a:pPr>
            <a:r>
              <a:rPr lang="en-US" sz="1400" dirty="0">
                <a:solidFill>
                  <a:srgbClr val="4A5866"/>
                </a:solidFill>
                <a:latin typeface="Calibri" pitchFamily="34" charset="0"/>
                <a:ea typeface="Calibri" pitchFamily="34" charset="-122"/>
                <a:cs typeface="Calibri" pitchFamily="34" charset="-120"/>
              </a:rPr>
              <a:t>Kiểm tra giới hạn, lịch trống, booking gốc</a:t>
            </a:r>
            <a:endParaRPr lang="en-US" sz="1400" dirty="0"/>
          </a:p>
        </p:txBody>
      </p:sp>
      <p:sp>
        <p:nvSpPr>
          <p:cNvPr id="11" name="Shape 9"/>
          <p:cNvSpPr/>
          <p:nvPr/>
        </p:nvSpPr>
        <p:spPr>
          <a:xfrm>
            <a:off x="5867400" y="2560320"/>
            <a:ext cx="454152" cy="0"/>
          </a:xfrm>
          <a:prstGeom prst="line">
            <a:avLst/>
          </a:prstGeom>
          <a:noFill/>
          <a:ln w="25400">
            <a:solidFill>
              <a:srgbClr val="7A8592"/>
            </a:solidFill>
            <a:prstDash val="solid"/>
            <a:tailEnd type="triangle"/>
          </a:ln>
        </p:spPr>
      </p:sp>
      <p:sp>
        <p:nvSpPr>
          <p:cNvPr id="12" name="Shape 10"/>
          <p:cNvSpPr/>
          <p:nvPr/>
        </p:nvSpPr>
        <p:spPr>
          <a:xfrm>
            <a:off x="6358128" y="1737360"/>
            <a:ext cx="2331720" cy="1645920"/>
          </a:xfrm>
          <a:prstGeom prst="roundRect">
            <a:avLst>
              <a:gd name="adj" fmla="val 6667"/>
            </a:avLst>
          </a:prstGeom>
          <a:solidFill>
            <a:srgbClr val="FBFAF6"/>
          </a:solidFill>
          <a:ln w="12700">
            <a:solidFill>
              <a:srgbClr val="DAD6CC"/>
            </a:solidFill>
            <a:prstDash val="solid"/>
          </a:ln>
        </p:spPr>
      </p:sp>
      <p:sp>
        <p:nvSpPr>
          <p:cNvPr id="13" name="Text 11"/>
          <p:cNvSpPr txBox="1"/>
          <p:nvPr/>
        </p:nvSpPr>
        <p:spPr>
          <a:xfrm>
            <a:off x="6495288" y="1828800"/>
            <a:ext cx="2057400" cy="457200"/>
          </a:xfrm>
          <a:prstGeom prst="rect">
            <a:avLst/>
          </a:prstGeom>
          <a:noFill/>
          <a:ln/>
        </p:spPr>
        <p:txBody>
          <a:bodyPr wrap="square" lIns="0" tIns="0" rIns="0" bIns="0" rtlCol="0" anchor="t"/>
          <a:lstStyle/>
          <a:p>
            <a:pPr indent="0" marL="0">
              <a:buNone/>
            </a:pPr>
            <a:r>
              <a:rPr lang="en-US" sz="1300" b="1" dirty="0">
                <a:solidFill>
                  <a:srgbClr val="2558B8"/>
                </a:solidFill>
                <a:latin typeface="Consolas" pitchFamily="34" charset="0"/>
                <a:ea typeface="Consolas" pitchFamily="34" charset="-122"/>
                <a:cs typeface="Consolas" pitchFamily="34" charset="-120"/>
              </a:rPr>
              <a:t>createBooking / handleSeats</a:t>
            </a:r>
            <a:endParaRPr lang="en-US" sz="1300" dirty="0"/>
          </a:p>
        </p:txBody>
      </p:sp>
      <p:sp>
        <p:nvSpPr>
          <p:cNvPr id="14" name="Text 12"/>
          <p:cNvSpPr txBox="1"/>
          <p:nvPr/>
        </p:nvSpPr>
        <p:spPr>
          <a:xfrm>
            <a:off x="6495288" y="2331720"/>
            <a:ext cx="2057400" cy="914400"/>
          </a:xfrm>
          <a:prstGeom prst="rect">
            <a:avLst/>
          </a:prstGeom>
          <a:noFill/>
          <a:ln/>
        </p:spPr>
        <p:txBody>
          <a:bodyPr wrap="square" lIns="0" tIns="0" rIns="0" bIns="0" rtlCol="0" anchor="t"/>
          <a:lstStyle/>
          <a:p>
            <a:pPr indent="0" marL="0">
              <a:buNone/>
            </a:pPr>
            <a:r>
              <a:rPr lang="en-US" sz="1400" dirty="0">
                <a:solidFill>
                  <a:srgbClr val="4A5866"/>
                </a:solidFill>
                <a:latin typeface="Calibri" pitchFamily="34" charset="0"/>
                <a:ea typeface="Calibri" pitchFamily="34" charset="-122"/>
                <a:cs typeface="Calibri" pitchFamily="34" charset="-120"/>
              </a:rPr>
              <a:t>Ghi Booking, Attendee, BookingSeat</a:t>
            </a:r>
            <a:endParaRPr lang="en-US" sz="1400" dirty="0"/>
          </a:p>
        </p:txBody>
      </p:sp>
      <p:sp>
        <p:nvSpPr>
          <p:cNvPr id="15" name="Shape 13"/>
          <p:cNvSpPr/>
          <p:nvPr/>
        </p:nvSpPr>
        <p:spPr>
          <a:xfrm>
            <a:off x="8726424" y="2560320"/>
            <a:ext cx="454152" cy="0"/>
          </a:xfrm>
          <a:prstGeom prst="line">
            <a:avLst/>
          </a:prstGeom>
          <a:noFill/>
          <a:ln w="25400">
            <a:solidFill>
              <a:srgbClr val="7A8592"/>
            </a:solidFill>
            <a:prstDash val="solid"/>
            <a:tailEnd type="triangle"/>
          </a:ln>
        </p:spPr>
      </p:sp>
      <p:sp>
        <p:nvSpPr>
          <p:cNvPr id="16" name="Shape 14"/>
          <p:cNvSpPr/>
          <p:nvPr/>
        </p:nvSpPr>
        <p:spPr>
          <a:xfrm>
            <a:off x="9217152" y="1737360"/>
            <a:ext cx="2331720" cy="1645920"/>
          </a:xfrm>
          <a:prstGeom prst="roundRect">
            <a:avLst>
              <a:gd name="adj" fmla="val 6667"/>
            </a:avLst>
          </a:prstGeom>
          <a:solidFill>
            <a:srgbClr val="12202B"/>
          </a:solidFill>
          <a:ln w="12700">
            <a:solidFill>
              <a:srgbClr val="12202B"/>
            </a:solidFill>
            <a:prstDash val="solid"/>
          </a:ln>
        </p:spPr>
      </p:sp>
      <p:sp>
        <p:nvSpPr>
          <p:cNvPr id="17" name="Text 15"/>
          <p:cNvSpPr txBox="1"/>
          <p:nvPr/>
        </p:nvSpPr>
        <p:spPr>
          <a:xfrm>
            <a:off x="9354312" y="1828800"/>
            <a:ext cx="2057400" cy="457200"/>
          </a:xfrm>
          <a:prstGeom prst="rect">
            <a:avLst/>
          </a:prstGeom>
          <a:noFill/>
          <a:ln/>
        </p:spPr>
        <p:txBody>
          <a:bodyPr wrap="square" lIns="0" tIns="0" rIns="0" bIns="0" rtlCol="0" anchor="t"/>
          <a:lstStyle/>
          <a:p>
            <a:pPr indent="0" marL="0">
              <a:buNone/>
            </a:pPr>
            <a:r>
              <a:rPr lang="en-US" sz="1300" b="1" dirty="0">
                <a:solidFill>
                  <a:srgbClr val="E07B39"/>
                </a:solidFill>
                <a:latin typeface="Consolas" pitchFamily="34" charset="0"/>
                <a:ea typeface="Consolas" pitchFamily="34" charset="-122"/>
                <a:cs typeface="Consolas" pitchFamily="34" charset="-120"/>
              </a:rPr>
              <a:t>PostgreSQL</a:t>
            </a:r>
            <a:endParaRPr lang="en-US" sz="1300" dirty="0"/>
          </a:p>
        </p:txBody>
      </p:sp>
      <p:sp>
        <p:nvSpPr>
          <p:cNvPr id="18" name="Text 16"/>
          <p:cNvSpPr txBox="1"/>
          <p:nvPr/>
        </p:nvSpPr>
        <p:spPr>
          <a:xfrm>
            <a:off x="9354312" y="2331720"/>
            <a:ext cx="2057400" cy="914400"/>
          </a:xfrm>
          <a:prstGeom prst="rect">
            <a:avLst/>
          </a:prstGeom>
          <a:noFill/>
          <a:ln/>
        </p:spPr>
        <p:txBody>
          <a:bodyPr wrap="square" lIns="0" tIns="0" rIns="0" bIns="0" rtlCol="0" anchor="t"/>
          <a:lstStyle/>
          <a:p>
            <a:pPr indent="0" marL="0">
              <a:buNone/>
            </a:pPr>
            <a:r>
              <a:rPr lang="en-US" sz="1400" dirty="0">
                <a:solidFill>
                  <a:srgbClr val="F4F2EC"/>
                </a:solidFill>
                <a:latin typeface="Calibri" pitchFamily="34" charset="0"/>
                <a:ea typeface="Calibri" pitchFamily="34" charset="-122"/>
                <a:cs typeface="Calibri" pitchFamily="34" charset="-120"/>
              </a:rPr>
              <a:t>UNIQUE(uid)</a:t>
            </a:r>
            <a:endParaRPr lang="en-US" sz="1400" dirty="0"/>
          </a:p>
          <a:p>
            <a:pPr indent="0" marL="0">
              <a:buNone/>
            </a:pPr>
            <a:r>
              <a:rPr lang="en-US" sz="1400" dirty="0">
                <a:solidFill>
                  <a:srgbClr val="F4F2EC"/>
                </a:solidFill>
                <a:latin typeface="Calibri" pitchFamily="34" charset="0"/>
                <a:ea typeface="Calibri" pitchFamily="34" charset="-122"/>
                <a:cs typeface="Calibri" pitchFamily="34" charset="-120"/>
              </a:rPr>
              <a:t>UNIQUE(idempotencyKey)</a:t>
            </a:r>
            <a:endParaRPr lang="en-US" sz="1400" dirty="0"/>
          </a:p>
        </p:txBody>
      </p:sp>
      <p:sp>
        <p:nvSpPr>
          <p:cNvPr id="19" name="Text 17"/>
          <p:cNvSpPr txBox="1"/>
          <p:nvPr/>
        </p:nvSpPr>
        <p:spPr>
          <a:xfrm>
            <a:off x="640080" y="3749040"/>
            <a:ext cx="10908792" cy="365760"/>
          </a:xfrm>
          <a:prstGeom prst="rect">
            <a:avLst/>
          </a:prstGeom>
          <a:noFill/>
          <a:ln/>
        </p:spPr>
        <p:txBody>
          <a:bodyPr wrap="square" lIns="0" tIns="0" rIns="0" bIns="0" rtlCol="0" anchor="ctr"/>
          <a:lstStyle/>
          <a:p>
            <a:pPr indent="0" marL="0">
              <a:buNone/>
            </a:pPr>
            <a:r>
              <a:rPr lang="en-US" sz="2000" b="1" dirty="0">
                <a:solidFill>
                  <a:srgbClr val="12202B"/>
                </a:solidFill>
                <a:latin typeface="Calibri" pitchFamily="34" charset="0"/>
                <a:ea typeface="Calibri" pitchFamily="34" charset="-122"/>
                <a:cs typeface="Calibri" pitchFamily="34" charset="-120"/>
              </a:rPr>
              <a:t>Điểm cần chú ý cho kiểm thử race</a:t>
            </a:r>
            <a:endParaRPr lang="en-US" sz="2000" dirty="0"/>
          </a:p>
        </p:txBody>
      </p:sp>
      <p:sp>
        <p:nvSpPr>
          <p:cNvPr id="20" name="Text 18"/>
          <p:cNvSpPr txBox="1"/>
          <p:nvPr/>
        </p:nvSpPr>
        <p:spPr>
          <a:xfrm>
            <a:off x="640080" y="4206240"/>
            <a:ext cx="10908792" cy="1737360"/>
          </a:xfrm>
          <a:prstGeom prst="rect">
            <a:avLst/>
          </a:prstGeom>
          <a:noFill/>
          <a:ln/>
        </p:spPr>
        <p:txBody>
          <a:bodyPr wrap="square" lIns="0" tIns="0" rIns="0" bIns="0" rtlCol="0" anchor="t"/>
          <a:lstStyle/>
          <a:p>
            <a:pPr marL="342900" indent="-342900">
              <a:spcAft>
                <a:spcPts val="600"/>
              </a:spcAft>
              <a:buSzPct val="100000"/>
              <a:buChar char="•"/>
            </a:pPr>
            <a:r>
              <a:rPr lang="en-US" sz="1600" dirty="0">
                <a:solidFill>
                  <a:srgbClr val="4A5866"/>
                </a:solidFill>
                <a:latin typeface="Calibri" pitchFamily="34" charset="0"/>
                <a:ea typeface="Calibri" pitchFamily="34" charset="-122"/>
                <a:cs typeface="Calibri" pitchFamily="34" charset="-120"/>
              </a:rPr>
              <a:t>Các bước kiểm tra (giới hạn, lịch trống, trạng thái booking gốc) chỉ đọc rồi quyết định; không giữ khóa tới lúc ghi.</a:t>
            </a:r>
            <a:endParaRPr lang="en-US" sz="1600" dirty="0"/>
          </a:p>
          <a:p>
            <a:pPr marL="342900" indent="-342900">
              <a:spcAft>
                <a:spcPts val="600"/>
              </a:spcAft>
              <a:buSzPct val="100000"/>
              <a:buChar char="•"/>
            </a:pPr>
            <a:r>
              <a:rPr lang="en-US" sz="1600" dirty="0">
                <a:solidFill>
                  <a:srgbClr val="4A5866"/>
                </a:solidFill>
                <a:latin typeface="Calibri" pitchFamily="34" charset="0"/>
                <a:ea typeface="Calibri" pitchFamily="34" charset="-122"/>
                <a:cs typeface="Calibri" pitchFamily="34" charset="-120"/>
              </a:rPr>
              <a:t>Chỉ có hai ràng buộc ở CSDL: UNIQUE uid và UNIQUE idempotencyKey (tính từ start, end, host).</a:t>
            </a:r>
            <a:endParaRPr lang="en-US" sz="1600" dirty="0"/>
          </a:p>
          <a:p>
            <a:pPr marL="342900" indent="-342900">
              <a:buSzPct val="100000"/>
              <a:buChar char="•"/>
            </a:pPr>
            <a:r>
              <a:rPr lang="en-US" sz="1600" dirty="0">
                <a:solidFill>
                  <a:srgbClr val="4A5866"/>
                </a:solidFill>
                <a:latin typeface="Calibri" pitchFamily="34" charset="0"/>
                <a:ea typeface="Calibri" pitchFamily="34" charset="-122"/>
                <a:cs typeface="Calibri" pitchFamily="34" charset="-120"/>
              </a:rPr>
              <a:t>Event có ghế dùng SELECT … FOR UPDATE khi thêm ghế vào booking đã có.</a:t>
            </a:r>
            <a:endParaRPr lang="en-US" sz="1600" dirty="0"/>
          </a:p>
        </p:txBody>
      </p:sp>
      <p:sp>
        <p:nvSpPr>
          <p:cNvPr id="21" name="Text 19"/>
          <p:cNvSpPr txBox="1"/>
          <p:nvPr/>
        </p:nvSpPr>
        <p:spPr>
          <a:xfrm>
            <a:off x="640080" y="6355080"/>
            <a:ext cx="10332720" cy="274320"/>
          </a:xfrm>
          <a:prstGeom prst="rect">
            <a:avLst/>
          </a:prstGeom>
          <a:noFill/>
          <a:ln/>
        </p:spPr>
        <p:txBody>
          <a:bodyPr wrap="square" lIns="0" tIns="0" rIns="0" bIns="0" rtlCol="0" anchor="ctr"/>
          <a:lstStyle/>
          <a:p>
            <a:pPr indent="0" marL="0">
              <a:buNone/>
            </a:pPr>
            <a:r>
              <a:rPr lang="en-US" sz="1200" dirty="0">
                <a:solidFill>
                  <a:srgbClr val="7A8592"/>
                </a:solidFill>
                <a:latin typeface="Calibri" pitchFamily="34" charset="0"/>
                <a:ea typeface="Calibri" pitchFamily="34" charset="-122"/>
                <a:cs typeface="Calibri" pitchFamily="34" charset="-120"/>
              </a:rPr>
              <a:t>Sơ đồ container và luồng tuần tự đầy đủ: docs/diagrams/kien-truc.md</a:t>
            </a:r>
            <a:endParaRPr lang="en-US" sz="12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7A8592"/>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640080" y="292608"/>
            <a:ext cx="10908792" cy="274320"/>
          </a:xfrm>
          <a:prstGeom prst="rect">
            <a:avLst/>
          </a:prstGeom>
          <a:noFill/>
          <a:ln/>
        </p:spPr>
        <p:txBody>
          <a:bodyPr wrap="square" lIns="0" tIns="0" rIns="0" bIns="0" rtlCol="0" anchor="ctr"/>
          <a:lstStyle/>
          <a:p>
            <a:pPr indent="0" marL="0">
              <a:buNone/>
            </a:pPr>
            <a:r>
              <a:rPr lang="en-US" sz="1300" b="1" spc="200" kern="0" dirty="0">
                <a:solidFill>
                  <a:srgbClr val="B4531A"/>
                </a:solidFill>
                <a:latin typeface="Consolas" pitchFamily="34" charset="0"/>
                <a:ea typeface="Consolas" pitchFamily="34" charset="-122"/>
                <a:cs typeface="Consolas" pitchFamily="34" charset="-120"/>
              </a:rPr>
              <a:t>04 · MÔI TRƯỜNG VÀ ON-BOARDING</a:t>
            </a:r>
            <a:endParaRPr lang="en-US" sz="1300" dirty="0"/>
          </a:p>
        </p:txBody>
      </p:sp>
      <p:sp>
        <p:nvSpPr>
          <p:cNvPr id="3" name="Text 0"/>
          <p:cNvSpPr/>
          <p:nvPr>
            <p:ph idx="100" type="title" hasCustomPrompt="1"/>
          </p:nvPr>
        </p:nvSpPr>
        <p:spPr>
          <a:xfrm>
            <a:off x="640080" y="640080"/>
            <a:ext cx="10908792" cy="868680"/>
          </a:xfrm>
          <a:prstGeom prst="rect">
            <a:avLst/>
          </a:prstGeom>
          <a:noFill/>
          <a:ln/>
        </p:spPr>
        <p:txBody>
          <a:bodyPr wrap="square" lIns="0" tIns="0" rIns="0" bIns="0" rtlCol="0" anchor="t"/>
          <a:lstStyle/>
          <a:p>
            <a:pPr indent="0" marL="0">
              <a:buNone/>
            </a:pPr>
            <a:r>
              <a:rPr lang="en-US" sz="3400" b="1" dirty="0">
                <a:solidFill>
                  <a:srgbClr val="12202B"/>
                </a:solidFill>
                <a:latin typeface="Calibri" pitchFamily="34" charset="0"/>
                <a:ea typeface="Calibri" pitchFamily="34" charset="-122"/>
                <a:cs typeface="Calibri" pitchFamily="34" charset="-120"/>
              </a:rPr>
              <a:t>Hệ thống chạy trên máy, 3 luồng nghiệp vụ đạt</a:t>
            </a:r>
            <a:endParaRPr lang="en-US" sz="34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640080" y="1783080"/>
          <a:ext cx="5225796" cy="914400"/>
        </p:xfrm>
        <a:graphic>
          <a:graphicData uri="http://schemas.openxmlformats.org/drawingml/2006/table">
            <a:tbl>
              <a:tblPr/>
              <a:tblGrid>
                <a:gridCol w="2011680"/>
                <a:gridCol w="3214116"/>
              </a:tblGrid>
              <a:tr h="457200">
                <a:tc>
                  <a:txBody>
                    <a:bodyPr/>
                    <a:lstStyle/>
                    <a:p>
                      <a:pPr indent="0" marL="0">
                        <a:buNone/>
                      </a:pPr>
                      <a:r>
                        <a:rPr lang="en-US" sz="1500" b="1" dirty="0">
                          <a:solidFill>
                            <a:srgbClr val="12202B"/>
                          </a:solidFill>
                          <a:latin typeface="Calibri" pitchFamily="34" charset="0"/>
                          <a:ea typeface="Calibri" pitchFamily="34" charset="-122"/>
                          <a:cs typeface="Calibri" pitchFamily="34" charset="-120"/>
                        </a:rPr>
                        <a:t>Thành phần</a:t>
                      </a:r>
                      <a:endParaRPr lang="en-US" sz="15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E6E2D6"/>
                    </a:solidFill>
                  </a:tcPr>
                </a:tc>
                <a:tc>
                  <a:txBody>
                    <a:bodyPr/>
                    <a:lstStyle/>
                    <a:p>
                      <a:pPr indent="0" marL="0">
                        <a:buNone/>
                      </a:pPr>
                      <a:r>
                        <a:rPr lang="en-US" sz="1500" b="1" dirty="0">
                          <a:solidFill>
                            <a:srgbClr val="12202B"/>
                          </a:solidFill>
                          <a:latin typeface="Calibri" pitchFamily="34" charset="0"/>
                          <a:ea typeface="Calibri" pitchFamily="34" charset="-122"/>
                          <a:cs typeface="Calibri" pitchFamily="34" charset="-120"/>
                        </a:rPr>
                        <a:t>Phiên bản</a:t>
                      </a:r>
                      <a:endParaRPr lang="en-US" sz="15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E6E2D6"/>
                    </a:solidFill>
                  </a:tcPr>
                </a:tc>
              </a:tr>
              <a:tr h="457200">
                <a:tc>
                  <a:txBody>
                    <a:bodyPr/>
                    <a:lstStyle/>
                    <a:p>
                      <a:pPr indent="0" marL="0">
                        <a:buNone/>
                      </a:pPr>
                      <a:r>
                        <a:rPr lang="en-US" sz="1500" dirty="0">
                          <a:solidFill>
                            <a:srgbClr val="12202B"/>
                          </a:solidFill>
                          <a:latin typeface="Calibri" pitchFamily="34" charset="0"/>
                          <a:ea typeface="Calibri" pitchFamily="34" charset="-122"/>
                          <a:cs typeface="Calibri" pitchFamily="34" charset="-120"/>
                        </a:rPr>
                        <a:t>Cal.com</a:t>
                      </a:r>
                      <a:endParaRPr lang="en-US" sz="15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500" dirty="0">
                          <a:solidFill>
                            <a:srgbClr val="12202B"/>
                          </a:solidFill>
                          <a:latin typeface="Calibri" pitchFamily="34" charset="0"/>
                          <a:ea typeface="Calibri" pitchFamily="34" charset="-122"/>
                          <a:cs typeface="Calibri" pitchFamily="34" charset="-120"/>
                        </a:rPr>
                        <a:t>v6.2.0 · 1c193cca</a:t>
                      </a:r>
                      <a:endParaRPr lang="en-US" sz="15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r>
              <a:tr h="457200">
                <a:tc>
                  <a:txBody>
                    <a:bodyPr/>
                    <a:lstStyle/>
                    <a:p>
                      <a:pPr indent="0" marL="0">
                        <a:buNone/>
                      </a:pPr>
                      <a:r>
                        <a:rPr lang="en-US" sz="1500" dirty="0">
                          <a:solidFill>
                            <a:srgbClr val="12202B"/>
                          </a:solidFill>
                          <a:latin typeface="Calibri" pitchFamily="34" charset="0"/>
                          <a:ea typeface="Calibri" pitchFamily="34" charset="-122"/>
                          <a:cs typeface="Calibri" pitchFamily="34" charset="-120"/>
                        </a:rPr>
                        <a:t>Node / Yarn</a:t>
                      </a:r>
                      <a:endParaRPr lang="en-US" sz="15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500" dirty="0">
                          <a:solidFill>
                            <a:srgbClr val="12202B"/>
                          </a:solidFill>
                          <a:latin typeface="Calibri" pitchFamily="34" charset="0"/>
                          <a:ea typeface="Calibri" pitchFamily="34" charset="-122"/>
                          <a:cs typeface="Calibri" pitchFamily="34" charset="-120"/>
                        </a:rPr>
                        <a:t>22.23 / 4.12.0</a:t>
                      </a:r>
                      <a:endParaRPr lang="en-US" sz="15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r>
              <a:tr h="457200">
                <a:tc>
                  <a:txBody>
                    <a:bodyPr/>
                    <a:lstStyle/>
                    <a:p>
                      <a:pPr indent="0" marL="0">
                        <a:buNone/>
                      </a:pPr>
                      <a:r>
                        <a:rPr lang="en-US" sz="1500" dirty="0">
                          <a:solidFill>
                            <a:srgbClr val="12202B"/>
                          </a:solidFill>
                          <a:latin typeface="Calibri" pitchFamily="34" charset="0"/>
                          <a:ea typeface="Calibri" pitchFamily="34" charset="-122"/>
                          <a:cs typeface="Calibri" pitchFamily="34" charset="-120"/>
                        </a:rPr>
                        <a:t>PostgreSQL</a:t>
                      </a:r>
                      <a:endParaRPr lang="en-US" sz="15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500" dirty="0">
                          <a:solidFill>
                            <a:srgbClr val="12202B"/>
                          </a:solidFill>
                          <a:latin typeface="Calibri" pitchFamily="34" charset="0"/>
                          <a:ea typeface="Calibri" pitchFamily="34" charset="-122"/>
                          <a:cs typeface="Calibri" pitchFamily="34" charset="-120"/>
                        </a:rPr>
                        <a:t>16 (300 kết nối)</a:t>
                      </a:r>
                      <a:endParaRPr lang="en-US" sz="15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r>
              <a:tr h="457200">
                <a:tc>
                  <a:txBody>
                    <a:bodyPr/>
                    <a:lstStyle/>
                    <a:p>
                      <a:pPr indent="0" marL="0">
                        <a:buNone/>
                      </a:pPr>
                      <a:r>
                        <a:rPr lang="en-US" sz="1500" dirty="0">
                          <a:solidFill>
                            <a:srgbClr val="12202B"/>
                          </a:solidFill>
                          <a:latin typeface="Calibri" pitchFamily="34" charset="0"/>
                          <a:ea typeface="Calibri" pitchFamily="34" charset="-122"/>
                          <a:cs typeface="Calibri" pitchFamily="34" charset="-120"/>
                        </a:rPr>
                        <a:t>k6</a:t>
                      </a:r>
                      <a:endParaRPr lang="en-US" sz="15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500" dirty="0">
                          <a:solidFill>
                            <a:srgbClr val="12202B"/>
                          </a:solidFill>
                          <a:latin typeface="Calibri" pitchFamily="34" charset="0"/>
                          <a:ea typeface="Calibri" pitchFamily="34" charset="-122"/>
                          <a:cs typeface="Calibri" pitchFamily="34" charset="-120"/>
                        </a:rPr>
                        <a:t>2.3.0</a:t>
                      </a:r>
                      <a:endParaRPr lang="en-US" sz="15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r>
              <a:tr h="457200">
                <a:tc>
                  <a:txBody>
                    <a:bodyPr/>
                    <a:lstStyle/>
                    <a:p>
                      <a:pPr indent="0" marL="0">
                        <a:buNone/>
                      </a:pPr>
                      <a:r>
                        <a:rPr lang="en-US" sz="1500" dirty="0">
                          <a:solidFill>
                            <a:srgbClr val="12202B"/>
                          </a:solidFill>
                          <a:latin typeface="Calibri" pitchFamily="34" charset="0"/>
                          <a:ea typeface="Calibri" pitchFamily="34" charset="-122"/>
                          <a:cs typeface="Calibri" pitchFamily="34" charset="-120"/>
                        </a:rPr>
                        <a:t>Dữ liệu test</a:t>
                      </a:r>
                      <a:endParaRPr lang="en-US" sz="15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500" dirty="0">
                          <a:solidFill>
                            <a:srgbClr val="12202B"/>
                          </a:solidFill>
                          <a:latin typeface="Calibri" pitchFamily="34" charset="0"/>
                          <a:ea typeface="Calibri" pitchFamily="34" charset="-122"/>
                          <a:cs typeface="Calibri" pitchFamily="34" charset="-120"/>
                        </a:rPr>
                        <a:t>host k15host, 5 event type</a:t>
                      </a:r>
                      <a:endParaRPr lang="en-US" sz="15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r>
            </a:tbl>
          </a:graphicData>
        </a:graphic>
      </p:graphicFrame>
      <p:graphicFrame>
        <p:nvGraphicFramePr>
          <p:cNvPr id="11" name="Table 1"/>
          <p:cNvGraphicFramePr>
            <a:graphicFrameLocks noGrp="1"/>
          </p:cNvGraphicFramePr>
          <p:nvPr>
            <p:extLst>
              <p:ext uri="{D42A27DB-BD31-4B8C-83A1-F6EECF244321}">
                <p14:modId xmlns:p14="http://schemas.microsoft.com/office/powerpoint/2010/main" val="1579011935"/>
              </p:ext>
            </p:extLst>
          </p:nvPr>
        </p:nvGraphicFramePr>
        <p:xfrm>
          <a:off x="6323076" y="1783080"/>
          <a:ext cx="5225796" cy="914400"/>
        </p:xfrm>
        <a:graphic>
          <a:graphicData uri="http://schemas.openxmlformats.org/drawingml/2006/table">
            <a:tbl>
              <a:tblPr/>
              <a:tblGrid>
                <a:gridCol w="2194560"/>
                <a:gridCol w="914400"/>
                <a:gridCol w="2116836"/>
              </a:tblGrid>
              <a:tr h="457200">
                <a:tc>
                  <a:txBody>
                    <a:bodyPr/>
                    <a:lstStyle/>
                    <a:p>
                      <a:pPr indent="0" marL="0">
                        <a:buNone/>
                      </a:pPr>
                      <a:r>
                        <a:rPr lang="en-US" sz="1500" b="1" dirty="0">
                          <a:solidFill>
                            <a:srgbClr val="12202B"/>
                          </a:solidFill>
                          <a:latin typeface="Calibri" pitchFamily="34" charset="0"/>
                          <a:ea typeface="Calibri" pitchFamily="34" charset="-122"/>
                          <a:cs typeface="Calibri" pitchFamily="34" charset="-120"/>
                        </a:rPr>
                        <a:t>Smoke test</a:t>
                      </a:r>
                      <a:endParaRPr lang="en-US" sz="15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E6E2D6"/>
                    </a:solidFill>
                  </a:tcPr>
                </a:tc>
                <a:tc>
                  <a:txBody>
                    <a:bodyPr/>
                    <a:lstStyle/>
                    <a:p>
                      <a:pPr indent="0" marL="0">
                        <a:buNone/>
                      </a:pPr>
                      <a:r>
                        <a:rPr lang="en-US" sz="1500" b="1" dirty="0">
                          <a:solidFill>
                            <a:srgbClr val="12202B"/>
                          </a:solidFill>
                          <a:latin typeface="Calibri" pitchFamily="34" charset="0"/>
                          <a:ea typeface="Calibri" pitchFamily="34" charset="-122"/>
                          <a:cs typeface="Calibri" pitchFamily="34" charset="-120"/>
                        </a:rPr>
                        <a:t>HTTP</a:t>
                      </a:r>
                      <a:endParaRPr lang="en-US" sz="15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E6E2D6"/>
                    </a:solidFill>
                  </a:tcPr>
                </a:tc>
                <a:tc>
                  <a:txBody>
                    <a:bodyPr/>
                    <a:lstStyle/>
                    <a:p>
                      <a:pPr indent="0" marL="0">
                        <a:buNone/>
                      </a:pPr>
                      <a:r>
                        <a:rPr lang="en-US" sz="1500" b="1" dirty="0">
                          <a:solidFill>
                            <a:srgbClr val="12202B"/>
                          </a:solidFill>
                          <a:latin typeface="Calibri" pitchFamily="34" charset="0"/>
                          <a:ea typeface="Calibri" pitchFamily="34" charset="-122"/>
                          <a:cs typeface="Calibri" pitchFamily="34" charset="-120"/>
                        </a:rPr>
                        <a:t>Trong DB</a:t>
                      </a:r>
                      <a:endParaRPr lang="en-US" sz="15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E6E2D6"/>
                    </a:solidFill>
                  </a:tcPr>
                </a:tc>
              </a:tr>
              <a:tr h="457200">
                <a:tc>
                  <a:txBody>
                    <a:bodyPr/>
                    <a:lstStyle/>
                    <a:p>
                      <a:pPr indent="0" marL="0">
                        <a:buNone/>
                      </a:pPr>
                      <a:r>
                        <a:rPr lang="en-US" sz="1500" dirty="0">
                          <a:solidFill>
                            <a:srgbClr val="12202B"/>
                          </a:solidFill>
                          <a:latin typeface="Calibri" pitchFamily="34" charset="0"/>
                          <a:ea typeface="Calibri" pitchFamily="34" charset="-122"/>
                          <a:cs typeface="Calibri" pitchFamily="34" charset="-120"/>
                        </a:rPr>
                        <a:t>1. Đặt lịch</a:t>
                      </a:r>
                      <a:endParaRPr lang="en-US" sz="15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500" dirty="0">
                          <a:solidFill>
                            <a:srgbClr val="12202B"/>
                          </a:solidFill>
                          <a:latin typeface="Calibri" pitchFamily="34" charset="0"/>
                          <a:ea typeface="Calibri" pitchFamily="34" charset="-122"/>
                          <a:cs typeface="Calibri" pitchFamily="34" charset="-120"/>
                        </a:rPr>
                        <a:t>200</a:t>
                      </a:r>
                      <a:endParaRPr lang="en-US" sz="15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500" dirty="0">
                          <a:solidFill>
                            <a:srgbClr val="12202B"/>
                          </a:solidFill>
                          <a:latin typeface="Calibri" pitchFamily="34" charset="0"/>
                          <a:ea typeface="Calibri" pitchFamily="34" charset="-122"/>
                          <a:cs typeface="Calibri" pitchFamily="34" charset="-120"/>
                        </a:rPr>
                        <a:t>accepted</a:t>
                      </a:r>
                      <a:endParaRPr lang="en-US" sz="15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r>
              <a:tr h="457200">
                <a:tc>
                  <a:txBody>
                    <a:bodyPr/>
                    <a:lstStyle/>
                    <a:p>
                      <a:pPr indent="0" marL="0">
                        <a:buNone/>
                      </a:pPr>
                      <a:r>
                        <a:rPr lang="en-US" sz="1500" dirty="0">
                          <a:solidFill>
                            <a:srgbClr val="12202B"/>
                          </a:solidFill>
                          <a:latin typeface="Calibri" pitchFamily="34" charset="0"/>
                          <a:ea typeface="Calibri" pitchFamily="34" charset="-122"/>
                          <a:cs typeface="Calibri" pitchFamily="34" charset="-120"/>
                        </a:rPr>
                        <a:t>2. Đổi lịch</a:t>
                      </a:r>
                      <a:endParaRPr lang="en-US" sz="15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500" dirty="0">
                          <a:solidFill>
                            <a:srgbClr val="12202B"/>
                          </a:solidFill>
                          <a:latin typeface="Calibri" pitchFamily="34" charset="0"/>
                          <a:ea typeface="Calibri" pitchFamily="34" charset="-122"/>
                          <a:cs typeface="Calibri" pitchFamily="34" charset="-120"/>
                        </a:rPr>
                        <a:t>200</a:t>
                      </a:r>
                      <a:endParaRPr lang="en-US" sz="15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500" dirty="0">
                          <a:solidFill>
                            <a:srgbClr val="12202B"/>
                          </a:solidFill>
                          <a:latin typeface="Calibri" pitchFamily="34" charset="0"/>
                          <a:ea typeface="Calibri" pitchFamily="34" charset="-122"/>
                          <a:cs typeface="Calibri" pitchFamily="34" charset="-120"/>
                        </a:rPr>
                        <a:t>bản cũ cancelled</a:t>
                      </a:r>
                      <a:endParaRPr lang="en-US" sz="15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r>
              <a:tr h="457200">
                <a:tc>
                  <a:txBody>
                    <a:bodyPr/>
                    <a:lstStyle/>
                    <a:p>
                      <a:pPr indent="0" marL="0">
                        <a:buNone/>
                      </a:pPr>
                      <a:r>
                        <a:rPr lang="en-US" sz="1500" dirty="0">
                          <a:solidFill>
                            <a:srgbClr val="12202B"/>
                          </a:solidFill>
                          <a:latin typeface="Calibri" pitchFamily="34" charset="0"/>
                          <a:ea typeface="Calibri" pitchFamily="34" charset="-122"/>
                          <a:cs typeface="Calibri" pitchFamily="34" charset="-120"/>
                        </a:rPr>
                        <a:t>3. Hủy lịch</a:t>
                      </a:r>
                      <a:endParaRPr lang="en-US" sz="15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500" dirty="0">
                          <a:solidFill>
                            <a:srgbClr val="12202B"/>
                          </a:solidFill>
                          <a:latin typeface="Calibri" pitchFamily="34" charset="0"/>
                          <a:ea typeface="Calibri" pitchFamily="34" charset="-122"/>
                          <a:cs typeface="Calibri" pitchFamily="34" charset="-120"/>
                        </a:rPr>
                        <a:t>200</a:t>
                      </a:r>
                      <a:endParaRPr lang="en-US" sz="15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500" dirty="0">
                          <a:solidFill>
                            <a:srgbClr val="12202B"/>
                          </a:solidFill>
                          <a:latin typeface="Calibri" pitchFamily="34" charset="0"/>
                          <a:ea typeface="Calibri" pitchFamily="34" charset="-122"/>
                          <a:cs typeface="Calibri" pitchFamily="34" charset="-120"/>
                        </a:rPr>
                        <a:t>cancelled</a:t>
                      </a:r>
                      <a:endParaRPr lang="en-US" sz="15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r>
              <a:tr h="457200">
                <a:tc>
                  <a:txBody>
                    <a:bodyPr/>
                    <a:lstStyle/>
                    <a:p>
                      <a:pPr indent="0" marL="0">
                        <a:buNone/>
                      </a:pPr>
                      <a:r>
                        <a:rPr lang="en-US" sz="1500" dirty="0">
                          <a:solidFill>
                            <a:srgbClr val="12202B"/>
                          </a:solidFill>
                          <a:latin typeface="Calibri" pitchFamily="34" charset="0"/>
                          <a:ea typeface="Calibri" pitchFamily="34" charset="-122"/>
                          <a:cs typeface="Calibri" pitchFamily="34" charset="-120"/>
                        </a:rPr>
                        <a:t>4. Đặt lại slot</a:t>
                      </a:r>
                      <a:endParaRPr lang="en-US" sz="15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500" dirty="0">
                          <a:solidFill>
                            <a:srgbClr val="12202B"/>
                          </a:solidFill>
                          <a:latin typeface="Calibri" pitchFamily="34" charset="0"/>
                          <a:ea typeface="Calibri" pitchFamily="34" charset="-122"/>
                          <a:cs typeface="Calibri" pitchFamily="34" charset="-120"/>
                        </a:rPr>
                        <a:t>200</a:t>
                      </a:r>
                      <a:endParaRPr lang="en-US" sz="15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500" dirty="0">
                          <a:solidFill>
                            <a:srgbClr val="12202B"/>
                          </a:solidFill>
                          <a:latin typeface="Calibri" pitchFamily="34" charset="0"/>
                          <a:ea typeface="Calibri" pitchFamily="34" charset="-122"/>
                          <a:cs typeface="Calibri" pitchFamily="34" charset="-120"/>
                        </a:rPr>
                        <a:t>đã giải phóng</a:t>
                      </a:r>
                      <a:endParaRPr lang="en-US" sz="15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r>
            </a:tbl>
          </a:graphicData>
        </a:graphic>
      </p:graphicFrame>
      <p:sp>
        <p:nvSpPr>
          <p:cNvPr id="6" name="Text 2"/>
          <p:cNvSpPr txBox="1"/>
          <p:nvPr/>
        </p:nvSpPr>
        <p:spPr>
          <a:xfrm>
            <a:off x="640080" y="4937760"/>
            <a:ext cx="10908792" cy="822960"/>
          </a:xfrm>
          <a:prstGeom prst="rect">
            <a:avLst/>
          </a:prstGeom>
          <a:noFill/>
          <a:ln/>
        </p:spPr>
        <p:txBody>
          <a:bodyPr wrap="square" lIns="0" tIns="0" rIns="0" bIns="0" rtlCol="0" anchor="t"/>
          <a:lstStyle/>
          <a:p>
            <a:pPr indent="0" marL="0">
              <a:buNone/>
            </a:pPr>
            <a:r>
              <a:rPr lang="en-US" sz="1600" b="1" dirty="0">
                <a:solidFill>
                  <a:srgbClr val="12202B"/>
                </a:solidFill>
                <a:latin typeface="Calibri" pitchFamily="34" charset="0"/>
                <a:ea typeface="Calibri" pitchFamily="34" charset="-122"/>
                <a:cs typeface="Calibri" pitchFamily="34" charset="-120"/>
              </a:rPr>
              <a:t>Khó khăn đã xử lý: </a:t>
            </a:r>
            <a:pPr indent="0" marL="0">
              <a:buNone/>
            </a:pPr>
            <a:r>
              <a:rPr lang="en-US" sz="1600" dirty="0">
                <a:solidFill>
                  <a:srgbClr val="4A5866"/>
                </a:solidFill>
                <a:latin typeface="Calibri" pitchFamily="34" charset="0"/>
                <a:ea typeface="Calibri" pitchFamily="34" charset="-122"/>
                <a:cs typeface="Calibri" pitchFamily="34" charset="-120"/>
              </a:rPr>
              <a:t>không có Docker (dùng Postgres.app); cột timestamp lưu UTC nên driver bị lệch +7 giờ; /api/cancel cần CSRF 64 ký tự.</a:t>
            </a:r>
            <a:endParaRPr lang="en-US" sz="1600" dirty="0"/>
          </a:p>
        </p:txBody>
      </p:sp>
      <p:sp>
        <p:nvSpPr>
          <p:cNvPr id="7" name="Text 3"/>
          <p:cNvSpPr txBox="1"/>
          <p:nvPr/>
        </p:nvSpPr>
        <p:spPr>
          <a:xfrm>
            <a:off x="640080" y="6355080"/>
            <a:ext cx="10332720" cy="274320"/>
          </a:xfrm>
          <a:prstGeom prst="rect">
            <a:avLst/>
          </a:prstGeom>
          <a:noFill/>
          <a:ln/>
        </p:spPr>
        <p:txBody>
          <a:bodyPr wrap="square" lIns="0" tIns="0" rIns="0" bIns="0" rtlCol="0" anchor="ctr"/>
          <a:lstStyle/>
          <a:p>
            <a:pPr indent="0" marL="0">
              <a:buNone/>
            </a:pPr>
            <a:r>
              <a:rPr lang="en-US" sz="1200" dirty="0">
                <a:solidFill>
                  <a:srgbClr val="7A8592"/>
                </a:solidFill>
                <a:latin typeface="Calibri" pitchFamily="34" charset="0"/>
                <a:ea typeface="Calibri" pitchFamily="34" charset="-122"/>
                <a:cs typeface="Calibri" pitchFamily="34" charset="-120"/>
              </a:rPr>
              <a:t>Cài đặt từ máy sạch: README.md · demo: npm run demo:midterm</a:t>
            </a:r>
            <a:endParaRPr lang="en-US" sz="12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7A8592"/>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640080" y="292608"/>
            <a:ext cx="10908792" cy="274320"/>
          </a:xfrm>
          <a:prstGeom prst="rect">
            <a:avLst/>
          </a:prstGeom>
          <a:noFill/>
          <a:ln/>
        </p:spPr>
        <p:txBody>
          <a:bodyPr wrap="square" lIns="0" tIns="0" rIns="0" bIns="0" rtlCol="0" anchor="ctr"/>
          <a:lstStyle/>
          <a:p>
            <a:pPr indent="0" marL="0">
              <a:buNone/>
            </a:pPr>
            <a:r>
              <a:rPr lang="en-US" sz="1300" b="1" spc="200" kern="0" dirty="0">
                <a:solidFill>
                  <a:srgbClr val="B4531A"/>
                </a:solidFill>
                <a:latin typeface="Consolas" pitchFamily="34" charset="0"/>
                <a:ea typeface="Consolas" pitchFamily="34" charset="-122"/>
                <a:cs typeface="Consolas" pitchFamily="34" charset="-120"/>
              </a:rPr>
              <a:t>05 · QUY TRÌNH TEST</a:t>
            </a:r>
            <a:endParaRPr lang="en-US" sz="1300" dirty="0"/>
          </a:p>
        </p:txBody>
      </p:sp>
      <p:sp>
        <p:nvSpPr>
          <p:cNvPr id="3" name="Text 0"/>
          <p:cNvSpPr/>
          <p:nvPr>
            <p:ph idx="100" type="title" hasCustomPrompt="1"/>
          </p:nvPr>
        </p:nvSpPr>
        <p:spPr>
          <a:xfrm>
            <a:off x="640080" y="640080"/>
            <a:ext cx="10908792" cy="868680"/>
          </a:xfrm>
          <a:prstGeom prst="rect">
            <a:avLst/>
          </a:prstGeom>
          <a:noFill/>
          <a:ln/>
        </p:spPr>
        <p:txBody>
          <a:bodyPr wrap="square" lIns="0" tIns="0" rIns="0" bIns="0" rtlCol="0" anchor="t"/>
          <a:lstStyle/>
          <a:p>
            <a:pPr indent="0" marL="0">
              <a:buNone/>
            </a:pPr>
            <a:r>
              <a:rPr lang="en-US" sz="3400" b="1" dirty="0">
                <a:solidFill>
                  <a:srgbClr val="12202B"/>
                </a:solidFill>
                <a:latin typeface="Calibri" pitchFamily="34" charset="0"/>
                <a:ea typeface="Calibri" pitchFamily="34" charset="-122"/>
                <a:cs typeface="Calibri" pitchFamily="34" charset="-120"/>
              </a:rPr>
              <a:t>Từ đọc code đến báo cáo: 7 bước, có nhóm đối chứng</a:t>
            </a:r>
            <a:endParaRPr lang="en-US" sz="3400" dirty="0"/>
          </a:p>
        </p:txBody>
      </p:sp>
      <p:sp>
        <p:nvSpPr>
          <p:cNvPr id="4" name="Shape 2"/>
          <p:cNvSpPr/>
          <p:nvPr/>
        </p:nvSpPr>
        <p:spPr>
          <a:xfrm>
            <a:off x="640080" y="1783080"/>
            <a:ext cx="1417320" cy="2103120"/>
          </a:xfrm>
          <a:prstGeom prst="roundRect">
            <a:avLst>
              <a:gd name="adj" fmla="val 7742"/>
            </a:avLst>
          </a:prstGeom>
          <a:solidFill>
            <a:srgbClr val="FBFAF6"/>
          </a:solidFill>
          <a:ln w="12700">
            <a:solidFill>
              <a:srgbClr val="DAD6CC"/>
            </a:solidFill>
            <a:prstDash val="solid"/>
          </a:ln>
        </p:spPr>
      </p:sp>
      <p:sp>
        <p:nvSpPr>
          <p:cNvPr id="5" name="Text 3"/>
          <p:cNvSpPr txBox="1"/>
          <p:nvPr/>
        </p:nvSpPr>
        <p:spPr>
          <a:xfrm>
            <a:off x="777240" y="1874520"/>
            <a:ext cx="457200" cy="457200"/>
          </a:xfrm>
          <a:prstGeom prst="rect">
            <a:avLst/>
          </a:prstGeom>
          <a:noFill/>
          <a:ln/>
        </p:spPr>
        <p:txBody>
          <a:bodyPr wrap="square" lIns="0" tIns="0" rIns="0" bIns="0" rtlCol="0" anchor="ctr"/>
          <a:lstStyle/>
          <a:p>
            <a:pPr indent="0" marL="0">
              <a:buNone/>
            </a:pPr>
            <a:r>
              <a:rPr lang="en-US" sz="2400" b="1" dirty="0">
                <a:solidFill>
                  <a:srgbClr val="2558B8"/>
                </a:solidFill>
                <a:latin typeface="Calibri" pitchFamily="34" charset="0"/>
                <a:ea typeface="Calibri" pitchFamily="34" charset="-122"/>
                <a:cs typeface="Calibri" pitchFamily="34" charset="-120"/>
              </a:rPr>
              <a:t>1</a:t>
            </a:r>
            <a:endParaRPr lang="en-US" sz="2400" dirty="0"/>
          </a:p>
        </p:txBody>
      </p:sp>
      <p:sp>
        <p:nvSpPr>
          <p:cNvPr id="6" name="Text 4"/>
          <p:cNvSpPr txBox="1"/>
          <p:nvPr/>
        </p:nvSpPr>
        <p:spPr>
          <a:xfrm>
            <a:off x="777240" y="2377440"/>
            <a:ext cx="1143000" cy="548640"/>
          </a:xfrm>
          <a:prstGeom prst="rect">
            <a:avLst/>
          </a:prstGeom>
          <a:noFill/>
          <a:ln/>
        </p:spPr>
        <p:txBody>
          <a:bodyPr wrap="square" lIns="0" tIns="0" rIns="0" bIns="0" rtlCol="0" anchor="t"/>
          <a:lstStyle/>
          <a:p>
            <a:pPr indent="0" marL="0">
              <a:buNone/>
            </a:pPr>
            <a:r>
              <a:rPr lang="en-US" sz="1500" b="1" dirty="0">
                <a:solidFill>
                  <a:srgbClr val="12202B"/>
                </a:solidFill>
                <a:latin typeface="Calibri" pitchFamily="34" charset="0"/>
                <a:ea typeface="Calibri" pitchFamily="34" charset="-122"/>
                <a:cs typeface="Calibri" pitchFamily="34" charset="-120"/>
              </a:rPr>
              <a:t>Đọc code</a:t>
            </a:r>
            <a:endParaRPr lang="en-US" sz="1500" dirty="0"/>
          </a:p>
        </p:txBody>
      </p:sp>
      <p:sp>
        <p:nvSpPr>
          <p:cNvPr id="7" name="Text 5"/>
          <p:cNvSpPr txBox="1"/>
          <p:nvPr/>
        </p:nvSpPr>
        <p:spPr>
          <a:xfrm>
            <a:off x="777240" y="2971800"/>
            <a:ext cx="1143000" cy="822960"/>
          </a:xfrm>
          <a:prstGeom prst="rect">
            <a:avLst/>
          </a:prstGeom>
          <a:noFill/>
          <a:ln/>
        </p:spPr>
        <p:txBody>
          <a:bodyPr wrap="square" lIns="0" tIns="0" rIns="0" bIns="0" rtlCol="0" anchor="t"/>
          <a:lstStyle/>
          <a:p>
            <a:pPr indent="0" marL="0">
              <a:buNone/>
            </a:pPr>
            <a:r>
              <a:rPr lang="en-US" sz="1300" dirty="0">
                <a:solidFill>
                  <a:srgbClr val="4A5866"/>
                </a:solidFill>
                <a:latin typeface="Calibri" pitchFamily="34" charset="0"/>
                <a:ea typeface="Calibri" pitchFamily="34" charset="-122"/>
                <a:cs typeface="Calibri" pitchFamily="34" charset="-120"/>
              </a:rPr>
              <a:t>Tìm chỗ kiểm tra rồi mới ghi</a:t>
            </a:r>
            <a:endParaRPr lang="en-US" sz="1300" dirty="0"/>
          </a:p>
        </p:txBody>
      </p:sp>
      <p:sp>
        <p:nvSpPr>
          <p:cNvPr id="8" name="Shape 6"/>
          <p:cNvSpPr/>
          <p:nvPr/>
        </p:nvSpPr>
        <p:spPr>
          <a:xfrm>
            <a:off x="2075688" y="2834640"/>
            <a:ext cx="128016" cy="0"/>
          </a:xfrm>
          <a:prstGeom prst="line">
            <a:avLst/>
          </a:prstGeom>
          <a:noFill/>
          <a:ln w="19050">
            <a:solidFill>
              <a:srgbClr val="7A8592"/>
            </a:solidFill>
            <a:prstDash val="solid"/>
            <a:tailEnd type="triangle"/>
          </a:ln>
        </p:spPr>
      </p:sp>
      <p:sp>
        <p:nvSpPr>
          <p:cNvPr id="9" name="Shape 7"/>
          <p:cNvSpPr/>
          <p:nvPr/>
        </p:nvSpPr>
        <p:spPr>
          <a:xfrm>
            <a:off x="2221992" y="1783080"/>
            <a:ext cx="1417320" cy="2103120"/>
          </a:xfrm>
          <a:prstGeom prst="roundRect">
            <a:avLst>
              <a:gd name="adj" fmla="val 7742"/>
            </a:avLst>
          </a:prstGeom>
          <a:solidFill>
            <a:srgbClr val="FBFAF6"/>
          </a:solidFill>
          <a:ln w="12700">
            <a:solidFill>
              <a:srgbClr val="DAD6CC"/>
            </a:solidFill>
            <a:prstDash val="solid"/>
          </a:ln>
        </p:spPr>
      </p:sp>
      <p:sp>
        <p:nvSpPr>
          <p:cNvPr id="10" name="Text 8"/>
          <p:cNvSpPr txBox="1"/>
          <p:nvPr/>
        </p:nvSpPr>
        <p:spPr>
          <a:xfrm>
            <a:off x="2359152" y="1874520"/>
            <a:ext cx="457200" cy="457200"/>
          </a:xfrm>
          <a:prstGeom prst="rect">
            <a:avLst/>
          </a:prstGeom>
          <a:noFill/>
          <a:ln/>
        </p:spPr>
        <p:txBody>
          <a:bodyPr wrap="square" lIns="0" tIns="0" rIns="0" bIns="0" rtlCol="0" anchor="ctr"/>
          <a:lstStyle/>
          <a:p>
            <a:pPr indent="0" marL="0">
              <a:buNone/>
            </a:pPr>
            <a:r>
              <a:rPr lang="en-US" sz="2400" b="1" dirty="0">
                <a:solidFill>
                  <a:srgbClr val="2558B8"/>
                </a:solidFill>
                <a:latin typeface="Calibri" pitchFamily="34" charset="0"/>
                <a:ea typeface="Calibri" pitchFamily="34" charset="-122"/>
                <a:cs typeface="Calibri" pitchFamily="34" charset="-120"/>
              </a:rPr>
              <a:t>2</a:t>
            </a:r>
            <a:endParaRPr lang="en-US" sz="2400" dirty="0"/>
          </a:p>
        </p:txBody>
      </p:sp>
      <p:sp>
        <p:nvSpPr>
          <p:cNvPr id="11" name="Text 9"/>
          <p:cNvSpPr txBox="1"/>
          <p:nvPr/>
        </p:nvSpPr>
        <p:spPr>
          <a:xfrm>
            <a:off x="2359152" y="2377440"/>
            <a:ext cx="1143000" cy="548640"/>
          </a:xfrm>
          <a:prstGeom prst="rect">
            <a:avLst/>
          </a:prstGeom>
          <a:noFill/>
          <a:ln/>
        </p:spPr>
        <p:txBody>
          <a:bodyPr wrap="square" lIns="0" tIns="0" rIns="0" bIns="0" rtlCol="0" anchor="t"/>
          <a:lstStyle/>
          <a:p>
            <a:pPr indent="0" marL="0">
              <a:buNone/>
            </a:pPr>
            <a:r>
              <a:rPr lang="en-US" sz="1500" b="1" dirty="0">
                <a:solidFill>
                  <a:srgbClr val="12202B"/>
                </a:solidFill>
                <a:latin typeface="Calibri" pitchFamily="34" charset="0"/>
                <a:ea typeface="Calibri" pitchFamily="34" charset="-122"/>
                <a:cs typeface="Calibri" pitchFamily="34" charset="-120"/>
              </a:rPr>
              <a:t>Chọn invariant</a:t>
            </a:r>
            <a:endParaRPr lang="en-US" sz="1500" dirty="0"/>
          </a:p>
        </p:txBody>
      </p:sp>
      <p:sp>
        <p:nvSpPr>
          <p:cNvPr id="12" name="Text 10"/>
          <p:cNvSpPr txBox="1"/>
          <p:nvPr/>
        </p:nvSpPr>
        <p:spPr>
          <a:xfrm>
            <a:off x="2359152" y="2971800"/>
            <a:ext cx="1143000" cy="822960"/>
          </a:xfrm>
          <a:prstGeom prst="rect">
            <a:avLst/>
          </a:prstGeom>
          <a:noFill/>
          <a:ln/>
        </p:spPr>
        <p:txBody>
          <a:bodyPr wrap="square" lIns="0" tIns="0" rIns="0" bIns="0" rtlCol="0" anchor="t"/>
          <a:lstStyle/>
          <a:p>
            <a:pPr indent="0" marL="0">
              <a:buNone/>
            </a:pPr>
            <a:r>
              <a:rPr lang="en-US" sz="1300" dirty="0">
                <a:solidFill>
                  <a:srgbClr val="4A5866"/>
                </a:solidFill>
                <a:latin typeface="Calibri" pitchFamily="34" charset="0"/>
                <a:ea typeface="Calibri" pitchFamily="34" charset="-122"/>
                <a:cs typeface="Calibri" pitchFamily="34" charset="-120"/>
              </a:rPr>
              <a:t>7 tính chất dữ liệu phải đúng</a:t>
            </a:r>
            <a:endParaRPr lang="en-US" sz="1300" dirty="0"/>
          </a:p>
        </p:txBody>
      </p:sp>
      <p:sp>
        <p:nvSpPr>
          <p:cNvPr id="13" name="Shape 11"/>
          <p:cNvSpPr/>
          <p:nvPr/>
        </p:nvSpPr>
        <p:spPr>
          <a:xfrm>
            <a:off x="3657600" y="2834640"/>
            <a:ext cx="128016" cy="0"/>
          </a:xfrm>
          <a:prstGeom prst="line">
            <a:avLst/>
          </a:prstGeom>
          <a:noFill/>
          <a:ln w="19050">
            <a:solidFill>
              <a:srgbClr val="7A8592"/>
            </a:solidFill>
            <a:prstDash val="solid"/>
            <a:tailEnd type="triangle"/>
          </a:ln>
        </p:spPr>
      </p:sp>
      <p:sp>
        <p:nvSpPr>
          <p:cNvPr id="14" name="Shape 12"/>
          <p:cNvSpPr/>
          <p:nvPr/>
        </p:nvSpPr>
        <p:spPr>
          <a:xfrm>
            <a:off x="3803904" y="1783080"/>
            <a:ext cx="1417320" cy="2103120"/>
          </a:xfrm>
          <a:prstGeom prst="roundRect">
            <a:avLst>
              <a:gd name="adj" fmla="val 7742"/>
            </a:avLst>
          </a:prstGeom>
          <a:solidFill>
            <a:srgbClr val="FBFAF6"/>
          </a:solidFill>
          <a:ln w="12700">
            <a:solidFill>
              <a:srgbClr val="DAD6CC"/>
            </a:solidFill>
            <a:prstDash val="solid"/>
          </a:ln>
        </p:spPr>
      </p:sp>
      <p:sp>
        <p:nvSpPr>
          <p:cNvPr id="15" name="Text 13"/>
          <p:cNvSpPr txBox="1"/>
          <p:nvPr/>
        </p:nvSpPr>
        <p:spPr>
          <a:xfrm>
            <a:off x="3941064" y="1874520"/>
            <a:ext cx="457200" cy="457200"/>
          </a:xfrm>
          <a:prstGeom prst="rect">
            <a:avLst/>
          </a:prstGeom>
          <a:noFill/>
          <a:ln/>
        </p:spPr>
        <p:txBody>
          <a:bodyPr wrap="square" lIns="0" tIns="0" rIns="0" bIns="0" rtlCol="0" anchor="ctr"/>
          <a:lstStyle/>
          <a:p>
            <a:pPr indent="0" marL="0">
              <a:buNone/>
            </a:pPr>
            <a:r>
              <a:rPr lang="en-US" sz="2400" b="1" dirty="0">
                <a:solidFill>
                  <a:srgbClr val="2558B8"/>
                </a:solidFill>
                <a:latin typeface="Calibri" pitchFamily="34" charset="0"/>
                <a:ea typeface="Calibri" pitchFamily="34" charset="-122"/>
                <a:cs typeface="Calibri" pitchFamily="34" charset="-120"/>
              </a:rPr>
              <a:t>3</a:t>
            </a:r>
            <a:endParaRPr lang="en-US" sz="2400" dirty="0"/>
          </a:p>
        </p:txBody>
      </p:sp>
      <p:sp>
        <p:nvSpPr>
          <p:cNvPr id="16" name="Text 14"/>
          <p:cNvSpPr txBox="1"/>
          <p:nvPr/>
        </p:nvSpPr>
        <p:spPr>
          <a:xfrm>
            <a:off x="3941064" y="2377440"/>
            <a:ext cx="1143000" cy="548640"/>
          </a:xfrm>
          <a:prstGeom prst="rect">
            <a:avLst/>
          </a:prstGeom>
          <a:noFill/>
          <a:ln/>
        </p:spPr>
        <p:txBody>
          <a:bodyPr wrap="square" lIns="0" tIns="0" rIns="0" bIns="0" rtlCol="0" anchor="t"/>
          <a:lstStyle/>
          <a:p>
            <a:pPr indent="0" marL="0">
              <a:buNone/>
            </a:pPr>
            <a:r>
              <a:rPr lang="en-US" sz="1500" b="1" dirty="0">
                <a:solidFill>
                  <a:srgbClr val="12202B"/>
                </a:solidFill>
                <a:latin typeface="Calibri" pitchFamily="34" charset="0"/>
                <a:ea typeface="Calibri" pitchFamily="34" charset="-122"/>
                <a:cs typeface="Calibri" pitchFamily="34" charset="-120"/>
              </a:rPr>
              <a:t>Thiết kế test case</a:t>
            </a:r>
            <a:endParaRPr lang="en-US" sz="1500" dirty="0"/>
          </a:p>
        </p:txBody>
      </p:sp>
      <p:sp>
        <p:nvSpPr>
          <p:cNvPr id="17" name="Text 15"/>
          <p:cNvSpPr txBox="1"/>
          <p:nvPr/>
        </p:nvSpPr>
        <p:spPr>
          <a:xfrm>
            <a:off x="3941064" y="2971800"/>
            <a:ext cx="1143000" cy="822960"/>
          </a:xfrm>
          <a:prstGeom prst="rect">
            <a:avLst/>
          </a:prstGeom>
          <a:noFill/>
          <a:ln/>
        </p:spPr>
        <p:txBody>
          <a:bodyPr wrap="square" lIns="0" tIns="0" rIns="0" bIns="0" rtlCol="0" anchor="t"/>
          <a:lstStyle/>
          <a:p>
            <a:pPr indent="0" marL="0">
              <a:buNone/>
            </a:pPr>
            <a:r>
              <a:rPr lang="en-US" sz="1300" dirty="0">
                <a:solidFill>
                  <a:srgbClr val="4A5866"/>
                </a:solidFill>
                <a:latin typeface="Calibri" pitchFamily="34" charset="0"/>
                <a:ea typeface="Calibri" pitchFamily="34" charset="-122"/>
                <a:cs typeface="Calibri" pitchFamily="34" charset="-120"/>
              </a:rPr>
              <a:t>8 test case TC-01 đến TC-08</a:t>
            </a:r>
            <a:endParaRPr lang="en-US" sz="1300" dirty="0"/>
          </a:p>
        </p:txBody>
      </p:sp>
      <p:sp>
        <p:nvSpPr>
          <p:cNvPr id="18" name="Shape 16"/>
          <p:cNvSpPr/>
          <p:nvPr/>
        </p:nvSpPr>
        <p:spPr>
          <a:xfrm>
            <a:off x="5239512" y="2834640"/>
            <a:ext cx="128016" cy="0"/>
          </a:xfrm>
          <a:prstGeom prst="line">
            <a:avLst/>
          </a:prstGeom>
          <a:noFill/>
          <a:ln w="19050">
            <a:solidFill>
              <a:srgbClr val="7A8592"/>
            </a:solidFill>
            <a:prstDash val="solid"/>
            <a:tailEnd type="triangle"/>
          </a:ln>
        </p:spPr>
      </p:sp>
      <p:sp>
        <p:nvSpPr>
          <p:cNvPr id="19" name="Shape 17"/>
          <p:cNvSpPr/>
          <p:nvPr/>
        </p:nvSpPr>
        <p:spPr>
          <a:xfrm>
            <a:off x="5385816" y="1783080"/>
            <a:ext cx="1417320" cy="2103120"/>
          </a:xfrm>
          <a:prstGeom prst="roundRect">
            <a:avLst>
              <a:gd name="adj" fmla="val 7742"/>
            </a:avLst>
          </a:prstGeom>
          <a:solidFill>
            <a:srgbClr val="FBFAF6"/>
          </a:solidFill>
          <a:ln w="12700">
            <a:solidFill>
              <a:srgbClr val="DAD6CC"/>
            </a:solidFill>
            <a:prstDash val="solid"/>
          </a:ln>
        </p:spPr>
      </p:sp>
      <p:sp>
        <p:nvSpPr>
          <p:cNvPr id="20" name="Text 18"/>
          <p:cNvSpPr txBox="1"/>
          <p:nvPr/>
        </p:nvSpPr>
        <p:spPr>
          <a:xfrm>
            <a:off x="5522976" y="1874520"/>
            <a:ext cx="457200" cy="457200"/>
          </a:xfrm>
          <a:prstGeom prst="rect">
            <a:avLst/>
          </a:prstGeom>
          <a:noFill/>
          <a:ln/>
        </p:spPr>
        <p:txBody>
          <a:bodyPr wrap="square" lIns="0" tIns="0" rIns="0" bIns="0" rtlCol="0" anchor="ctr"/>
          <a:lstStyle/>
          <a:p>
            <a:pPr indent="0" marL="0">
              <a:buNone/>
            </a:pPr>
            <a:r>
              <a:rPr lang="en-US" sz="2400" b="1" dirty="0">
                <a:solidFill>
                  <a:srgbClr val="2558B8"/>
                </a:solidFill>
                <a:latin typeface="Calibri" pitchFamily="34" charset="0"/>
                <a:ea typeface="Calibri" pitchFamily="34" charset="-122"/>
                <a:cs typeface="Calibri" pitchFamily="34" charset="-120"/>
              </a:rPr>
              <a:t>4</a:t>
            </a:r>
            <a:endParaRPr lang="en-US" sz="2400" dirty="0"/>
          </a:p>
        </p:txBody>
      </p:sp>
      <p:sp>
        <p:nvSpPr>
          <p:cNvPr id="21" name="Text 19"/>
          <p:cNvSpPr txBox="1"/>
          <p:nvPr/>
        </p:nvSpPr>
        <p:spPr>
          <a:xfrm>
            <a:off x="5522976" y="2377440"/>
            <a:ext cx="1143000" cy="548640"/>
          </a:xfrm>
          <a:prstGeom prst="rect">
            <a:avLst/>
          </a:prstGeom>
          <a:noFill/>
          <a:ln/>
        </p:spPr>
        <p:txBody>
          <a:bodyPr wrap="square" lIns="0" tIns="0" rIns="0" bIns="0" rtlCol="0" anchor="t"/>
          <a:lstStyle/>
          <a:p>
            <a:pPr indent="0" marL="0">
              <a:buNone/>
            </a:pPr>
            <a:r>
              <a:rPr lang="en-US" sz="1500" b="1" dirty="0">
                <a:solidFill>
                  <a:srgbClr val="12202B"/>
                </a:solidFill>
                <a:latin typeface="Calibri" pitchFamily="34" charset="0"/>
                <a:ea typeface="Calibri" pitchFamily="34" charset="-122"/>
                <a:cs typeface="Calibri" pitchFamily="34" charset="-120"/>
              </a:rPr>
              <a:t>Chuẩn bị dữ liệu</a:t>
            </a:r>
            <a:endParaRPr lang="en-US" sz="1500" dirty="0"/>
          </a:p>
        </p:txBody>
      </p:sp>
      <p:sp>
        <p:nvSpPr>
          <p:cNvPr id="22" name="Text 20"/>
          <p:cNvSpPr txBox="1"/>
          <p:nvPr/>
        </p:nvSpPr>
        <p:spPr>
          <a:xfrm>
            <a:off x="5522976" y="2971800"/>
            <a:ext cx="1143000" cy="822960"/>
          </a:xfrm>
          <a:prstGeom prst="rect">
            <a:avLst/>
          </a:prstGeom>
          <a:noFill/>
          <a:ln/>
        </p:spPr>
        <p:txBody>
          <a:bodyPr wrap="square" lIns="0" tIns="0" rIns="0" bIns="0" rtlCol="0" anchor="t"/>
          <a:lstStyle/>
          <a:p>
            <a:pPr indent="0" marL="0">
              <a:buNone/>
            </a:pPr>
            <a:r>
              <a:rPr lang="en-US" sz="1300" dirty="0">
                <a:solidFill>
                  <a:srgbClr val="4A5866"/>
                </a:solidFill>
                <a:latin typeface="Calibri" pitchFamily="34" charset="0"/>
                <a:ea typeface="Calibri" pitchFamily="34" charset="-122"/>
                <a:cs typeface="Calibri" pitchFamily="34" charset="-120"/>
              </a:rPr>
              <a:t>Host test, 5 loại cuộc hẹn</a:t>
            </a:r>
            <a:endParaRPr lang="en-US" sz="1300" dirty="0"/>
          </a:p>
        </p:txBody>
      </p:sp>
      <p:sp>
        <p:nvSpPr>
          <p:cNvPr id="23" name="Shape 21"/>
          <p:cNvSpPr/>
          <p:nvPr/>
        </p:nvSpPr>
        <p:spPr>
          <a:xfrm>
            <a:off x="6821424" y="2834640"/>
            <a:ext cx="128016" cy="0"/>
          </a:xfrm>
          <a:prstGeom prst="line">
            <a:avLst/>
          </a:prstGeom>
          <a:noFill/>
          <a:ln w="19050">
            <a:solidFill>
              <a:srgbClr val="7A8592"/>
            </a:solidFill>
            <a:prstDash val="solid"/>
            <a:tailEnd type="triangle"/>
          </a:ln>
        </p:spPr>
      </p:sp>
      <p:sp>
        <p:nvSpPr>
          <p:cNvPr id="24" name="Shape 22"/>
          <p:cNvSpPr/>
          <p:nvPr/>
        </p:nvSpPr>
        <p:spPr>
          <a:xfrm>
            <a:off x="6967728" y="1783080"/>
            <a:ext cx="1417320" cy="2103120"/>
          </a:xfrm>
          <a:prstGeom prst="roundRect">
            <a:avLst>
              <a:gd name="adj" fmla="val 7742"/>
            </a:avLst>
          </a:prstGeom>
          <a:solidFill>
            <a:srgbClr val="12202B"/>
          </a:solidFill>
          <a:ln w="12700">
            <a:solidFill>
              <a:srgbClr val="12202B"/>
            </a:solidFill>
            <a:prstDash val="solid"/>
          </a:ln>
        </p:spPr>
      </p:sp>
      <p:sp>
        <p:nvSpPr>
          <p:cNvPr id="25" name="Text 23"/>
          <p:cNvSpPr txBox="1"/>
          <p:nvPr/>
        </p:nvSpPr>
        <p:spPr>
          <a:xfrm>
            <a:off x="7104888" y="1874520"/>
            <a:ext cx="457200" cy="457200"/>
          </a:xfrm>
          <a:prstGeom prst="rect">
            <a:avLst/>
          </a:prstGeom>
          <a:noFill/>
          <a:ln/>
        </p:spPr>
        <p:txBody>
          <a:bodyPr wrap="square" lIns="0" tIns="0" rIns="0" bIns="0" rtlCol="0" anchor="ctr"/>
          <a:lstStyle/>
          <a:p>
            <a:pPr indent="0" marL="0">
              <a:buNone/>
            </a:pPr>
            <a:r>
              <a:rPr lang="en-US" sz="2400" b="1" dirty="0">
                <a:solidFill>
                  <a:srgbClr val="E07B39"/>
                </a:solidFill>
                <a:latin typeface="Calibri" pitchFamily="34" charset="0"/>
                <a:ea typeface="Calibri" pitchFamily="34" charset="-122"/>
                <a:cs typeface="Calibri" pitchFamily="34" charset="-120"/>
              </a:rPr>
              <a:t>5</a:t>
            </a:r>
            <a:endParaRPr lang="en-US" sz="2400" dirty="0"/>
          </a:p>
        </p:txBody>
      </p:sp>
      <p:sp>
        <p:nvSpPr>
          <p:cNvPr id="26" name="Text 24"/>
          <p:cNvSpPr txBox="1"/>
          <p:nvPr/>
        </p:nvSpPr>
        <p:spPr>
          <a:xfrm>
            <a:off x="7104888" y="2377440"/>
            <a:ext cx="1143000" cy="548640"/>
          </a:xfrm>
          <a:prstGeom prst="rect">
            <a:avLst/>
          </a:prstGeom>
          <a:noFill/>
          <a:ln/>
        </p:spPr>
        <p:txBody>
          <a:bodyPr wrap="square" lIns="0" tIns="0" rIns="0" bIns="0" rtlCol="0" anchor="t"/>
          <a:lstStyle/>
          <a:p>
            <a:pPr indent="0" marL="0">
              <a:buNone/>
            </a:pPr>
            <a:r>
              <a:rPr lang="en-US" sz="1500" b="1" dirty="0">
                <a:solidFill>
                  <a:srgbClr val="F4F2EC"/>
                </a:solidFill>
                <a:latin typeface="Calibri" pitchFamily="34" charset="0"/>
                <a:ea typeface="Calibri" pitchFamily="34" charset="-122"/>
                <a:cs typeface="Calibri" pitchFamily="34" charset="-120"/>
              </a:rPr>
              <a:t>Chạy</a:t>
            </a:r>
            <a:endParaRPr lang="en-US" sz="1500" dirty="0"/>
          </a:p>
        </p:txBody>
      </p:sp>
      <p:sp>
        <p:nvSpPr>
          <p:cNvPr id="27" name="Text 25"/>
          <p:cNvSpPr txBox="1"/>
          <p:nvPr/>
        </p:nvSpPr>
        <p:spPr>
          <a:xfrm>
            <a:off x="7104888" y="2971800"/>
            <a:ext cx="1143000" cy="822960"/>
          </a:xfrm>
          <a:prstGeom prst="rect">
            <a:avLst/>
          </a:prstGeom>
          <a:noFill/>
          <a:ln/>
        </p:spPr>
        <p:txBody>
          <a:bodyPr wrap="square" lIns="0" tIns="0" rIns="0" bIns="0" rtlCol="0" anchor="t"/>
          <a:lstStyle/>
          <a:p>
            <a:pPr indent="0" marL="0">
              <a:buNone/>
            </a:pPr>
            <a:r>
              <a:rPr lang="en-US" sz="1300" dirty="0">
                <a:solidFill>
                  <a:srgbClr val="B8C6D2"/>
                </a:solidFill>
                <a:latin typeface="Calibri" pitchFamily="34" charset="0"/>
                <a:ea typeface="Calibri" pitchFamily="34" charset="-122"/>
                <a:cs typeface="Calibri" pitchFamily="34" charset="-120"/>
              </a:rPr>
              <a:t>Đồng thời (k6) và tuần tự</a:t>
            </a:r>
            <a:endParaRPr lang="en-US" sz="1300" dirty="0"/>
          </a:p>
        </p:txBody>
      </p:sp>
      <p:sp>
        <p:nvSpPr>
          <p:cNvPr id="28" name="Shape 26"/>
          <p:cNvSpPr/>
          <p:nvPr/>
        </p:nvSpPr>
        <p:spPr>
          <a:xfrm>
            <a:off x="8403336" y="2834640"/>
            <a:ext cx="128016" cy="0"/>
          </a:xfrm>
          <a:prstGeom prst="line">
            <a:avLst/>
          </a:prstGeom>
          <a:noFill/>
          <a:ln w="19050">
            <a:solidFill>
              <a:srgbClr val="7A8592"/>
            </a:solidFill>
            <a:prstDash val="solid"/>
            <a:tailEnd type="triangle"/>
          </a:ln>
        </p:spPr>
      </p:sp>
      <p:sp>
        <p:nvSpPr>
          <p:cNvPr id="29" name="Shape 27"/>
          <p:cNvSpPr/>
          <p:nvPr/>
        </p:nvSpPr>
        <p:spPr>
          <a:xfrm>
            <a:off x="8549640" y="1783080"/>
            <a:ext cx="1417320" cy="2103120"/>
          </a:xfrm>
          <a:prstGeom prst="roundRect">
            <a:avLst>
              <a:gd name="adj" fmla="val 7742"/>
            </a:avLst>
          </a:prstGeom>
          <a:solidFill>
            <a:srgbClr val="FBFAF6"/>
          </a:solidFill>
          <a:ln w="12700">
            <a:solidFill>
              <a:srgbClr val="DAD6CC"/>
            </a:solidFill>
            <a:prstDash val="solid"/>
          </a:ln>
        </p:spPr>
      </p:sp>
      <p:sp>
        <p:nvSpPr>
          <p:cNvPr id="30" name="Text 28"/>
          <p:cNvSpPr txBox="1"/>
          <p:nvPr/>
        </p:nvSpPr>
        <p:spPr>
          <a:xfrm>
            <a:off x="8686800" y="1874520"/>
            <a:ext cx="457200" cy="457200"/>
          </a:xfrm>
          <a:prstGeom prst="rect">
            <a:avLst/>
          </a:prstGeom>
          <a:noFill/>
          <a:ln/>
        </p:spPr>
        <p:txBody>
          <a:bodyPr wrap="square" lIns="0" tIns="0" rIns="0" bIns="0" rtlCol="0" anchor="ctr"/>
          <a:lstStyle/>
          <a:p>
            <a:pPr indent="0" marL="0">
              <a:buNone/>
            </a:pPr>
            <a:r>
              <a:rPr lang="en-US" sz="2400" b="1" dirty="0">
                <a:solidFill>
                  <a:srgbClr val="2558B8"/>
                </a:solidFill>
                <a:latin typeface="Calibri" pitchFamily="34" charset="0"/>
                <a:ea typeface="Calibri" pitchFamily="34" charset="-122"/>
                <a:cs typeface="Calibri" pitchFamily="34" charset="-120"/>
              </a:rPr>
              <a:t>6</a:t>
            </a:r>
            <a:endParaRPr lang="en-US" sz="2400" dirty="0"/>
          </a:p>
        </p:txBody>
      </p:sp>
      <p:sp>
        <p:nvSpPr>
          <p:cNvPr id="31" name="Text 29"/>
          <p:cNvSpPr txBox="1"/>
          <p:nvPr/>
        </p:nvSpPr>
        <p:spPr>
          <a:xfrm>
            <a:off x="8686800" y="2377440"/>
            <a:ext cx="1143000" cy="548640"/>
          </a:xfrm>
          <a:prstGeom prst="rect">
            <a:avLst/>
          </a:prstGeom>
          <a:noFill/>
          <a:ln/>
        </p:spPr>
        <p:txBody>
          <a:bodyPr wrap="square" lIns="0" tIns="0" rIns="0" bIns="0" rtlCol="0" anchor="t"/>
          <a:lstStyle/>
          <a:p>
            <a:pPr indent="0" marL="0">
              <a:buNone/>
            </a:pPr>
            <a:r>
              <a:rPr lang="en-US" sz="1500" b="1" dirty="0">
                <a:solidFill>
                  <a:srgbClr val="12202B"/>
                </a:solidFill>
                <a:latin typeface="Calibri" pitchFamily="34" charset="0"/>
                <a:ea typeface="Calibri" pitchFamily="34" charset="-122"/>
                <a:cs typeface="Calibri" pitchFamily="34" charset="-120"/>
              </a:rPr>
              <a:t>Kiểm trong CSDL</a:t>
            </a:r>
            <a:endParaRPr lang="en-US" sz="1500" dirty="0"/>
          </a:p>
        </p:txBody>
      </p:sp>
      <p:sp>
        <p:nvSpPr>
          <p:cNvPr id="32" name="Text 30"/>
          <p:cNvSpPr txBox="1"/>
          <p:nvPr/>
        </p:nvSpPr>
        <p:spPr>
          <a:xfrm>
            <a:off x="8686800" y="2971800"/>
            <a:ext cx="1143000" cy="822960"/>
          </a:xfrm>
          <a:prstGeom prst="rect">
            <a:avLst/>
          </a:prstGeom>
          <a:noFill/>
          <a:ln/>
        </p:spPr>
        <p:txBody>
          <a:bodyPr wrap="square" lIns="0" tIns="0" rIns="0" bIns="0" rtlCol="0" anchor="t"/>
          <a:lstStyle/>
          <a:p>
            <a:pPr indent="0" marL="0">
              <a:buNone/>
            </a:pPr>
            <a:r>
              <a:rPr lang="en-US" sz="1300" dirty="0">
                <a:solidFill>
                  <a:srgbClr val="4A5866"/>
                </a:solidFill>
                <a:latin typeface="Calibri" pitchFamily="34" charset="0"/>
                <a:ea typeface="Calibri" pitchFamily="34" charset="-122"/>
                <a:cs typeface="Calibri" pitchFamily="34" charset="-120"/>
              </a:rPr>
              <a:t>SQL kiểm từng invariant</a:t>
            </a:r>
            <a:endParaRPr lang="en-US" sz="1300" dirty="0"/>
          </a:p>
        </p:txBody>
      </p:sp>
      <p:sp>
        <p:nvSpPr>
          <p:cNvPr id="33" name="Shape 31"/>
          <p:cNvSpPr/>
          <p:nvPr/>
        </p:nvSpPr>
        <p:spPr>
          <a:xfrm>
            <a:off x="9985248" y="2834640"/>
            <a:ext cx="128016" cy="0"/>
          </a:xfrm>
          <a:prstGeom prst="line">
            <a:avLst/>
          </a:prstGeom>
          <a:noFill/>
          <a:ln w="19050">
            <a:solidFill>
              <a:srgbClr val="7A8592"/>
            </a:solidFill>
            <a:prstDash val="solid"/>
            <a:tailEnd type="triangle"/>
          </a:ln>
        </p:spPr>
      </p:sp>
      <p:sp>
        <p:nvSpPr>
          <p:cNvPr id="34" name="Shape 32"/>
          <p:cNvSpPr/>
          <p:nvPr/>
        </p:nvSpPr>
        <p:spPr>
          <a:xfrm>
            <a:off x="10131552" y="1783080"/>
            <a:ext cx="1417320" cy="2103120"/>
          </a:xfrm>
          <a:prstGeom prst="roundRect">
            <a:avLst>
              <a:gd name="adj" fmla="val 7742"/>
            </a:avLst>
          </a:prstGeom>
          <a:solidFill>
            <a:srgbClr val="FBFAF6"/>
          </a:solidFill>
          <a:ln w="12700">
            <a:solidFill>
              <a:srgbClr val="DAD6CC"/>
            </a:solidFill>
            <a:prstDash val="solid"/>
          </a:ln>
        </p:spPr>
      </p:sp>
      <p:sp>
        <p:nvSpPr>
          <p:cNvPr id="35" name="Text 33"/>
          <p:cNvSpPr txBox="1"/>
          <p:nvPr/>
        </p:nvSpPr>
        <p:spPr>
          <a:xfrm>
            <a:off x="10268712" y="1874520"/>
            <a:ext cx="457200" cy="457200"/>
          </a:xfrm>
          <a:prstGeom prst="rect">
            <a:avLst/>
          </a:prstGeom>
          <a:noFill/>
          <a:ln/>
        </p:spPr>
        <p:txBody>
          <a:bodyPr wrap="square" lIns="0" tIns="0" rIns="0" bIns="0" rtlCol="0" anchor="ctr"/>
          <a:lstStyle/>
          <a:p>
            <a:pPr indent="0" marL="0">
              <a:buNone/>
            </a:pPr>
            <a:r>
              <a:rPr lang="en-US" sz="2400" b="1" dirty="0">
                <a:solidFill>
                  <a:srgbClr val="2558B8"/>
                </a:solidFill>
                <a:latin typeface="Calibri" pitchFamily="34" charset="0"/>
                <a:ea typeface="Calibri" pitchFamily="34" charset="-122"/>
                <a:cs typeface="Calibri" pitchFamily="34" charset="-120"/>
              </a:rPr>
              <a:t>7</a:t>
            </a:r>
            <a:endParaRPr lang="en-US" sz="2400" dirty="0"/>
          </a:p>
        </p:txBody>
      </p:sp>
      <p:sp>
        <p:nvSpPr>
          <p:cNvPr id="36" name="Text 34"/>
          <p:cNvSpPr txBox="1"/>
          <p:nvPr/>
        </p:nvSpPr>
        <p:spPr>
          <a:xfrm>
            <a:off x="10268712" y="2377440"/>
            <a:ext cx="1143000" cy="548640"/>
          </a:xfrm>
          <a:prstGeom prst="rect">
            <a:avLst/>
          </a:prstGeom>
          <a:noFill/>
          <a:ln/>
        </p:spPr>
        <p:txBody>
          <a:bodyPr wrap="square" lIns="0" tIns="0" rIns="0" bIns="0" rtlCol="0" anchor="t"/>
          <a:lstStyle/>
          <a:p>
            <a:pPr indent="0" marL="0">
              <a:buNone/>
            </a:pPr>
            <a:r>
              <a:rPr lang="en-US" sz="1500" b="1" dirty="0">
                <a:solidFill>
                  <a:srgbClr val="12202B"/>
                </a:solidFill>
                <a:latin typeface="Calibri" pitchFamily="34" charset="0"/>
                <a:ea typeface="Calibri" pitchFamily="34" charset="-122"/>
                <a:cs typeface="Calibri" pitchFamily="34" charset="-120"/>
              </a:rPr>
              <a:t>Nguyên nhân gốc</a:t>
            </a:r>
            <a:endParaRPr lang="en-US" sz="1500" dirty="0"/>
          </a:p>
        </p:txBody>
      </p:sp>
      <p:sp>
        <p:nvSpPr>
          <p:cNvPr id="37" name="Text 35"/>
          <p:cNvSpPr txBox="1"/>
          <p:nvPr/>
        </p:nvSpPr>
        <p:spPr>
          <a:xfrm>
            <a:off x="10268712" y="2971800"/>
            <a:ext cx="1143000" cy="822960"/>
          </a:xfrm>
          <a:prstGeom prst="rect">
            <a:avLst/>
          </a:prstGeom>
          <a:noFill/>
          <a:ln/>
        </p:spPr>
        <p:txBody>
          <a:bodyPr wrap="square" lIns="0" tIns="0" rIns="0" bIns="0" rtlCol="0" anchor="t"/>
          <a:lstStyle/>
          <a:p>
            <a:pPr indent="0" marL="0">
              <a:buNone/>
            </a:pPr>
            <a:r>
              <a:rPr lang="en-US" sz="1300" dirty="0">
                <a:solidFill>
                  <a:srgbClr val="4A5866"/>
                </a:solidFill>
                <a:latin typeface="Calibri" pitchFamily="34" charset="0"/>
                <a:ea typeface="Calibri" pitchFamily="34" charset="-122"/>
                <a:cs typeface="Calibri" pitchFamily="34" charset="-120"/>
              </a:rPr>
              <a:t>Đọc code, thử khắc phục</a:t>
            </a:r>
            <a:endParaRPr lang="en-US" sz="1300" dirty="0"/>
          </a:p>
        </p:txBody>
      </p:sp>
      <p:sp>
        <p:nvSpPr>
          <p:cNvPr id="38" name="Text 36"/>
          <p:cNvSpPr txBox="1"/>
          <p:nvPr/>
        </p:nvSpPr>
        <p:spPr>
          <a:xfrm>
            <a:off x="640080" y="4206240"/>
            <a:ext cx="10908792" cy="365760"/>
          </a:xfrm>
          <a:prstGeom prst="rect">
            <a:avLst/>
          </a:prstGeom>
          <a:noFill/>
          <a:ln/>
        </p:spPr>
        <p:txBody>
          <a:bodyPr wrap="square" lIns="0" tIns="0" rIns="0" bIns="0" rtlCol="0" anchor="ctr"/>
          <a:lstStyle/>
          <a:p>
            <a:pPr indent="0" marL="0">
              <a:buNone/>
            </a:pPr>
            <a:r>
              <a:rPr lang="en-US" sz="2000" b="1" dirty="0">
                <a:solidFill>
                  <a:srgbClr val="12202B"/>
                </a:solidFill>
                <a:latin typeface="Calibri" pitchFamily="34" charset="0"/>
                <a:ea typeface="Calibri" pitchFamily="34" charset="-122"/>
                <a:cs typeface="Calibri" pitchFamily="34" charset="-120"/>
              </a:rPr>
              <a:t>Tiêu chí pass / fail</a:t>
            </a:r>
            <a:endParaRPr lang="en-US" sz="2000" dirty="0"/>
          </a:p>
        </p:txBody>
      </p:sp>
      <p:sp>
        <p:nvSpPr>
          <p:cNvPr id="39" name="Text 37"/>
          <p:cNvSpPr txBox="1"/>
          <p:nvPr/>
        </p:nvSpPr>
        <p:spPr>
          <a:xfrm>
            <a:off x="640080" y="4617720"/>
            <a:ext cx="10908792" cy="1554480"/>
          </a:xfrm>
          <a:prstGeom prst="rect">
            <a:avLst/>
          </a:prstGeom>
          <a:noFill/>
          <a:ln/>
        </p:spPr>
        <p:txBody>
          <a:bodyPr wrap="square" lIns="0" tIns="0" rIns="0" bIns="0" rtlCol="0" anchor="t"/>
          <a:lstStyle/>
          <a:p>
            <a:pPr marL="342900" indent="-342900">
              <a:spcAft>
                <a:spcPts val="600"/>
              </a:spcAft>
              <a:buSzPct val="100000"/>
              <a:buChar char="•"/>
            </a:pPr>
            <a:r>
              <a:rPr lang="en-US" sz="1600" dirty="0">
                <a:solidFill>
                  <a:srgbClr val="4A5866"/>
                </a:solidFill>
                <a:latin typeface="Calibri" pitchFamily="34" charset="0"/>
                <a:ea typeface="Calibri" pitchFamily="34" charset="-122"/>
                <a:cs typeface="Calibri" pitchFamily="34" charset="-120"/>
              </a:rPr>
              <a:t>Một vòng PASS khi mọi invariant đúng và không có phản hồi 5xx hay lỗi kết nối.</a:t>
            </a:r>
            <a:endParaRPr lang="en-US" sz="1600" dirty="0"/>
          </a:p>
          <a:p>
            <a:pPr marL="342900" indent="-342900">
              <a:spcAft>
                <a:spcPts val="600"/>
              </a:spcAft>
              <a:buSzPct val="100000"/>
              <a:buChar char="•"/>
            </a:pPr>
            <a:r>
              <a:rPr lang="en-US" sz="1600" dirty="0">
                <a:solidFill>
                  <a:srgbClr val="4A5866"/>
                </a:solidFill>
                <a:latin typeface="Calibri" pitchFamily="34" charset="0"/>
                <a:ea typeface="Calibri" pitchFamily="34" charset="-122"/>
                <a:cs typeface="Calibri" pitchFamily="34" charset="-120"/>
              </a:rPr>
              <a:t>Test case PASS khi cả 10 vòng PASS; một vòng vi phạm là FAIL.</a:t>
            </a:r>
            <a:endParaRPr lang="en-US" sz="1600" dirty="0"/>
          </a:p>
          <a:p>
            <a:pPr marL="342900" indent="-342900">
              <a:buSzPct val="100000"/>
              <a:buChar char="•"/>
            </a:pPr>
            <a:r>
              <a:rPr lang="en-US" sz="1600" dirty="0">
                <a:solidFill>
                  <a:srgbClr val="4A5866"/>
                </a:solidFill>
                <a:latin typeface="Calibri" pitchFamily="34" charset="0"/>
                <a:ea typeface="Calibri" pitchFamily="34" charset="-122"/>
                <a:cs typeface="Calibri" pitchFamily="34" charset="-120"/>
              </a:rPr>
              <a:t>Là lỗi race khi gửi đồng thời FAIL nhưng gửi tuần tự PASS; nếu tuần tự cũng FAIL thì là lỗi logic.</a:t>
            </a:r>
            <a:endParaRPr lang="en-US" sz="1600" dirty="0"/>
          </a:p>
        </p:txBody>
      </p:sp>
      <p:sp>
        <p:nvSpPr>
          <p:cNvPr id="40" name="Text 38"/>
          <p:cNvSpPr txBox="1"/>
          <p:nvPr/>
        </p:nvSpPr>
        <p:spPr>
          <a:xfrm>
            <a:off x="640080" y="6355080"/>
            <a:ext cx="10332720" cy="274320"/>
          </a:xfrm>
          <a:prstGeom prst="rect">
            <a:avLst/>
          </a:prstGeom>
          <a:noFill/>
          <a:ln/>
        </p:spPr>
        <p:txBody>
          <a:bodyPr wrap="square" lIns="0" tIns="0" rIns="0" bIns="0" rtlCol="0" anchor="ctr"/>
          <a:lstStyle/>
          <a:p>
            <a:pPr indent="0" marL="0">
              <a:buNone/>
            </a:pPr>
            <a:r>
              <a:rPr lang="en-US" sz="1200" dirty="0">
                <a:solidFill>
                  <a:srgbClr val="7A8592"/>
                </a:solidFill>
                <a:latin typeface="Calibri" pitchFamily="34" charset="0"/>
                <a:ea typeface="Calibri" pitchFamily="34" charset="-122"/>
                <a:cs typeface="Calibri" pitchFamily="34" charset="-120"/>
              </a:rPr>
              <a:t>Chi tiết: docs/QUY_TRINH_TEST.md mục 1</a:t>
            </a:r>
            <a:endParaRPr lang="en-US" sz="12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7A8592"/>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640080" y="292608"/>
            <a:ext cx="10908792" cy="274320"/>
          </a:xfrm>
          <a:prstGeom prst="rect">
            <a:avLst/>
          </a:prstGeom>
          <a:noFill/>
          <a:ln/>
        </p:spPr>
        <p:txBody>
          <a:bodyPr wrap="square" lIns="0" tIns="0" rIns="0" bIns="0" rtlCol="0" anchor="ctr"/>
          <a:lstStyle/>
          <a:p>
            <a:pPr indent="0" marL="0">
              <a:buNone/>
            </a:pPr>
            <a:r>
              <a:rPr lang="en-US" sz="1300" b="1" spc="200" kern="0" dirty="0">
                <a:solidFill>
                  <a:srgbClr val="B4531A"/>
                </a:solidFill>
                <a:latin typeface="Consolas" pitchFamily="34" charset="0"/>
                <a:ea typeface="Consolas" pitchFamily="34" charset="-122"/>
                <a:cs typeface="Consolas" pitchFamily="34" charset="-120"/>
              </a:rPr>
              <a:t>06 · DANH SÁCH TEST CASE</a:t>
            </a:r>
            <a:endParaRPr lang="en-US" sz="1300" dirty="0"/>
          </a:p>
        </p:txBody>
      </p:sp>
      <p:sp>
        <p:nvSpPr>
          <p:cNvPr id="3" name="Text 0"/>
          <p:cNvSpPr/>
          <p:nvPr>
            <p:ph idx="100" type="title" hasCustomPrompt="1"/>
          </p:nvPr>
        </p:nvSpPr>
        <p:spPr>
          <a:xfrm>
            <a:off x="640080" y="640080"/>
            <a:ext cx="10908792" cy="868680"/>
          </a:xfrm>
          <a:prstGeom prst="rect">
            <a:avLst/>
          </a:prstGeom>
          <a:noFill/>
          <a:ln/>
        </p:spPr>
        <p:txBody>
          <a:bodyPr wrap="square" lIns="0" tIns="0" rIns="0" bIns="0" rtlCol="0" anchor="t"/>
          <a:lstStyle/>
          <a:p>
            <a:pPr indent="0" marL="0">
              <a:buNone/>
            </a:pPr>
            <a:r>
              <a:rPr lang="en-US" sz="3400" b="1" dirty="0">
                <a:solidFill>
                  <a:srgbClr val="12202B"/>
                </a:solidFill>
                <a:latin typeface="Calibri" pitchFamily="34" charset="0"/>
                <a:ea typeface="Calibri" pitchFamily="34" charset="-122"/>
                <a:cs typeface="Calibri" pitchFamily="34" charset="-120"/>
              </a:rPr>
              <a:t>8 test case, mỗi cái chạy 10 vòng</a:t>
            </a:r>
            <a:endParaRPr lang="en-US" sz="34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640080" y="1600200"/>
          <a:ext cx="10908792" cy="914400"/>
        </p:xfrm>
        <a:graphic>
          <a:graphicData uri="http://schemas.openxmlformats.org/drawingml/2006/table">
            <a:tbl>
              <a:tblPr/>
              <a:tblGrid>
                <a:gridCol w="914400"/>
                <a:gridCol w="4754880"/>
                <a:gridCol w="3931920"/>
                <a:gridCol w="1307592"/>
              </a:tblGrid>
              <a:tr h="429768">
                <a:tc>
                  <a:txBody>
                    <a:bodyPr/>
                    <a:lstStyle/>
                    <a:p>
                      <a:pPr indent="0" marL="0">
                        <a:buNone/>
                      </a:pPr>
                      <a:r>
                        <a:rPr lang="en-US" sz="1400" b="1" dirty="0">
                          <a:solidFill>
                            <a:srgbClr val="12202B"/>
                          </a:solidFill>
                          <a:latin typeface="Calibri" pitchFamily="34" charset="0"/>
                          <a:ea typeface="Calibri" pitchFamily="34" charset="-122"/>
                          <a:cs typeface="Calibri" pitchFamily="34" charset="-120"/>
                        </a:rPr>
                        <a:t>TC</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E6E2D6"/>
                    </a:solidFill>
                  </a:tcPr>
                </a:tc>
                <a:tc>
                  <a:txBody>
                    <a:bodyPr/>
                    <a:lstStyle/>
                    <a:p>
                      <a:pPr indent="0" marL="0">
                        <a:buNone/>
                      </a:pPr>
                      <a:r>
                        <a:rPr lang="en-US" sz="1400" b="1" dirty="0">
                          <a:solidFill>
                            <a:srgbClr val="12202B"/>
                          </a:solidFill>
                          <a:latin typeface="Calibri" pitchFamily="34" charset="0"/>
                          <a:ea typeface="Calibri" pitchFamily="34" charset="-122"/>
                          <a:cs typeface="Calibri" pitchFamily="34" charset="-120"/>
                        </a:rPr>
                        <a:t>Input (gửi đồng thời)</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E6E2D6"/>
                    </a:solidFill>
                  </a:tcPr>
                </a:tc>
                <a:tc>
                  <a:txBody>
                    <a:bodyPr/>
                    <a:lstStyle/>
                    <a:p>
                      <a:pPr indent="0" marL="0">
                        <a:buNone/>
                      </a:pPr>
                      <a:r>
                        <a:rPr lang="en-US" sz="1400" b="1" dirty="0">
                          <a:solidFill>
                            <a:srgbClr val="12202B"/>
                          </a:solidFill>
                          <a:latin typeface="Calibri" pitchFamily="34" charset="0"/>
                          <a:ea typeface="Calibri" pitchFamily="34" charset="-122"/>
                          <a:cs typeface="Calibri" pitchFamily="34" charset="-120"/>
                        </a:rPr>
                        <a:t>Kết quả mong đợi</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E6E2D6"/>
                    </a:solidFill>
                  </a:tcPr>
                </a:tc>
                <a:tc>
                  <a:txBody>
                    <a:bodyPr/>
                    <a:lstStyle/>
                    <a:p>
                      <a:pPr indent="0" marL="0">
                        <a:buNone/>
                      </a:pPr>
                      <a:r>
                        <a:rPr lang="en-US" sz="1400" b="1" dirty="0">
                          <a:solidFill>
                            <a:srgbClr val="12202B"/>
                          </a:solidFill>
                          <a:latin typeface="Calibri" pitchFamily="34" charset="0"/>
                          <a:ea typeface="Calibri" pitchFamily="34" charset="-122"/>
                          <a:cs typeface="Calibri" pitchFamily="34" charset="-120"/>
                        </a:rPr>
                        <a:t>Invariant</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E6E2D6"/>
                    </a:solidFill>
                  </a:tcPr>
                </a:tc>
              </a:tr>
              <a:tr h="429768">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TC-01</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10 người đặt cùng một giờ 09:00</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1 người 200, 9 người 409</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I1</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r>
              <a:tr h="429768">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TC-02</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10 giờ lệch 3 phút, event 30 và 60 phút, chồng lấn</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Chỉ 1 booking hiệu lực</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I1</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r>
              <a:tr h="429768">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TC-03</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6 người đặt event 3 ghế, giờ trống</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3 người 200, 3 người 409; 3 ghế</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I2, I2b</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r>
              <a:tr h="429768">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TC-04</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6 người tranh 2 ghế còn lại</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2 người 200, 4 người 409</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I2, I2b</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r>
              <a:tr h="429768">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TC-05</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10 người đặt event cần xác nhận</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Chỉ 1 booking chờ xác nhận</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I3</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r>
              <a:tr h="429768">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TC-06</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5 lệnh đổi lịch cùng một booking</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1 lệnh thành công, booking gốc bị hủy</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I4</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r>
              <a:tr h="429768">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TC-07</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1 lệnh hủy + 1 lệnh đổi lịch cùng booking</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Không thể cả hai cùng thành công</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I5</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r>
              <a:tr h="429768">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TC-08</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8 người đặt 8 giờ khác nhau, giới hạn 1/ngày</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Chỉ 1 người thành công</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I6</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r>
            </a:tbl>
          </a:graphicData>
        </a:graphic>
      </p:graphicFrame>
      <p:sp>
        <p:nvSpPr>
          <p:cNvPr id="5" name="Text 2"/>
          <p:cNvSpPr txBox="1"/>
          <p:nvPr/>
        </p:nvSpPr>
        <p:spPr>
          <a:xfrm>
            <a:off x="640080" y="5486400"/>
            <a:ext cx="10908792" cy="640080"/>
          </a:xfrm>
          <a:prstGeom prst="rect">
            <a:avLst/>
          </a:prstGeom>
          <a:noFill/>
          <a:ln/>
        </p:spPr>
        <p:txBody>
          <a:bodyPr wrap="square" lIns="0" tIns="0" rIns="0" bIns="0" rtlCol="0" anchor="t"/>
          <a:lstStyle/>
          <a:p>
            <a:pPr indent="0" marL="0">
              <a:buNone/>
            </a:pPr>
            <a:r>
              <a:rPr lang="en-US" sz="1500" dirty="0">
                <a:solidFill>
                  <a:srgbClr val="4A5866"/>
                </a:solidFill>
                <a:latin typeface="Calibri" pitchFamily="34" charset="0"/>
                <a:ea typeface="Calibri" pitchFamily="34" charset="-122"/>
                <a:cs typeface="Calibri" pitchFamily="34" charset="-120"/>
              </a:rPr>
              <a:t>Dữ liệu: host k15host (UTC, rảnh 24/7); 5 loại cuộc hẹn; mỗi request dùng một email người đặt khác nhau. I7 (không có 5xx) áp dụng cho mọi test case.</a:t>
            </a:r>
            <a:endParaRPr lang="en-US" sz="1500" dirty="0"/>
          </a:p>
        </p:txBody>
      </p:sp>
      <p:sp>
        <p:nvSpPr>
          <p:cNvPr id="6" name="Text 3"/>
          <p:cNvSpPr txBox="1"/>
          <p:nvPr/>
        </p:nvSpPr>
        <p:spPr>
          <a:xfrm>
            <a:off x="640080" y="6355080"/>
            <a:ext cx="10332720" cy="274320"/>
          </a:xfrm>
          <a:prstGeom prst="rect">
            <a:avLst/>
          </a:prstGeom>
          <a:noFill/>
          <a:ln/>
        </p:spPr>
        <p:txBody>
          <a:bodyPr wrap="square" lIns="0" tIns="0" rIns="0" bIns="0" rtlCol="0" anchor="ctr"/>
          <a:lstStyle/>
          <a:p>
            <a:pPr indent="0" marL="0">
              <a:buNone/>
            </a:pPr>
            <a:r>
              <a:rPr lang="en-US" sz="1200" dirty="0">
                <a:solidFill>
                  <a:srgbClr val="7A8592"/>
                </a:solidFill>
                <a:latin typeface="Calibri" pitchFamily="34" charset="0"/>
                <a:ea typeface="Calibri" pitchFamily="34" charset="-122"/>
                <a:cs typeface="Calibri" pitchFamily="34" charset="-120"/>
              </a:rPr>
              <a:t>Đầy đủ tiền điều kiện và invariant: docs/QUY_TRINH_TEST.md mục 2</a:t>
            </a:r>
            <a:endParaRPr lang="en-US" sz="12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7A8592"/>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640080" y="292608"/>
            <a:ext cx="10908792" cy="274320"/>
          </a:xfrm>
          <a:prstGeom prst="rect">
            <a:avLst/>
          </a:prstGeom>
          <a:noFill/>
          <a:ln/>
        </p:spPr>
        <p:txBody>
          <a:bodyPr wrap="square" lIns="0" tIns="0" rIns="0" bIns="0" rtlCol="0" anchor="ctr"/>
          <a:lstStyle/>
          <a:p>
            <a:pPr indent="0" marL="0">
              <a:buNone/>
            </a:pPr>
            <a:r>
              <a:rPr lang="en-US" sz="1300" b="1" spc="200" kern="0" dirty="0">
                <a:solidFill>
                  <a:srgbClr val="E07B39"/>
                </a:solidFill>
                <a:latin typeface="Consolas" pitchFamily="34" charset="0"/>
                <a:ea typeface="Consolas" pitchFamily="34" charset="-122"/>
                <a:cs typeface="Consolas" pitchFamily="34" charset="-120"/>
              </a:rPr>
              <a:t>07 · KẾ HOẠCH ÁP DỤNG K15</a:t>
            </a:r>
            <a:endParaRPr lang="en-US" sz="1300" dirty="0"/>
          </a:p>
        </p:txBody>
      </p:sp>
      <p:sp>
        <p:nvSpPr>
          <p:cNvPr id="3" name="Text 0"/>
          <p:cNvSpPr/>
          <p:nvPr>
            <p:ph idx="100" type="title" hasCustomPrompt="1"/>
          </p:nvPr>
        </p:nvSpPr>
        <p:spPr>
          <a:xfrm>
            <a:off x="640080" y="640080"/>
            <a:ext cx="10908792" cy="868680"/>
          </a:xfrm>
          <a:prstGeom prst="rect">
            <a:avLst/>
          </a:prstGeom>
          <a:noFill/>
          <a:ln/>
        </p:spPr>
        <p:txBody>
          <a:bodyPr wrap="square" lIns="0" tIns="0" rIns="0" bIns="0" rtlCol="0" anchor="t"/>
          <a:lstStyle/>
          <a:p>
            <a:pPr indent="0" marL="0">
              <a:buNone/>
            </a:pPr>
            <a:r>
              <a:rPr lang="en-US" sz="3400" b="1" dirty="0">
                <a:solidFill>
                  <a:srgbClr val="F4F2EC"/>
                </a:solidFill>
                <a:latin typeface="Calibri" pitchFamily="34" charset="0"/>
                <a:ea typeface="Calibri" pitchFamily="34" charset="-122"/>
                <a:cs typeface="Calibri" pitchFamily="34" charset="-120"/>
              </a:rPr>
              <a:t>Phạm vi, giả định và tiêu chí đánh giá</a:t>
            </a:r>
            <a:endParaRPr lang="en-US" sz="3400" dirty="0"/>
          </a:p>
        </p:txBody>
      </p:sp>
      <p:sp>
        <p:nvSpPr>
          <p:cNvPr id="4" name="Shape 2"/>
          <p:cNvSpPr/>
          <p:nvPr/>
        </p:nvSpPr>
        <p:spPr>
          <a:xfrm>
            <a:off x="640080" y="1691640"/>
            <a:ext cx="3422904" cy="4297680"/>
          </a:xfrm>
          <a:prstGeom prst="roundRect">
            <a:avLst>
              <a:gd name="adj" fmla="val 3206"/>
            </a:avLst>
          </a:prstGeom>
          <a:solidFill>
            <a:srgbClr val="1D3142"/>
          </a:solidFill>
          <a:ln w="12700">
            <a:solidFill>
              <a:srgbClr val="1D3142"/>
            </a:solidFill>
            <a:prstDash val="solid"/>
          </a:ln>
        </p:spPr>
      </p:sp>
      <p:sp>
        <p:nvSpPr>
          <p:cNvPr id="5" name="Text 3"/>
          <p:cNvSpPr txBox="1"/>
          <p:nvPr/>
        </p:nvSpPr>
        <p:spPr>
          <a:xfrm>
            <a:off x="914400" y="1874520"/>
            <a:ext cx="2874264" cy="365760"/>
          </a:xfrm>
          <a:prstGeom prst="rect">
            <a:avLst/>
          </a:prstGeom>
          <a:noFill/>
          <a:ln/>
        </p:spPr>
        <p:txBody>
          <a:bodyPr wrap="square" lIns="0" tIns="0" rIns="0" bIns="0" rtlCol="0" anchor="ctr"/>
          <a:lstStyle/>
          <a:p>
            <a:pPr indent="0" marL="0">
              <a:buNone/>
            </a:pPr>
            <a:r>
              <a:rPr lang="en-US" sz="1400" b="1" dirty="0">
                <a:solidFill>
                  <a:srgbClr val="E07B39"/>
                </a:solidFill>
                <a:latin typeface="Consolas" pitchFamily="34" charset="0"/>
                <a:ea typeface="Consolas" pitchFamily="34" charset="-122"/>
                <a:cs typeface="Consolas" pitchFamily="34" charset="-120"/>
              </a:rPr>
              <a:t>PHẠM VI</a:t>
            </a:r>
            <a:endParaRPr lang="en-US" sz="1400" dirty="0"/>
          </a:p>
        </p:txBody>
      </p:sp>
      <p:sp>
        <p:nvSpPr>
          <p:cNvPr id="6" name="Text 4"/>
          <p:cNvSpPr txBox="1"/>
          <p:nvPr/>
        </p:nvSpPr>
        <p:spPr>
          <a:xfrm>
            <a:off x="914400" y="2377440"/>
            <a:ext cx="2874264" cy="347472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rgbClr val="B8C6D2"/>
                </a:solidFill>
                <a:latin typeface="Calibri" pitchFamily="34" charset="0"/>
                <a:ea typeface="Calibri" pitchFamily="34" charset="-122"/>
                <a:cs typeface="Calibri" pitchFamily="34" charset="-120"/>
              </a:rPr>
              <a:t>Đặt lịch 1-1 và event có ghế</a:t>
            </a:r>
            <a:endParaRPr lang="en-US" sz="1500" dirty="0"/>
          </a:p>
          <a:p>
            <a:pPr marL="342900" indent="-342900">
              <a:spcAft>
                <a:spcPts val="800"/>
              </a:spcAft>
              <a:buSzPct val="100000"/>
              <a:buChar char="•"/>
            </a:pPr>
            <a:r>
              <a:rPr lang="en-US" sz="1500" dirty="0">
                <a:solidFill>
                  <a:srgbClr val="B8C6D2"/>
                </a:solidFill>
                <a:latin typeface="Calibri" pitchFamily="34" charset="0"/>
                <a:ea typeface="Calibri" pitchFamily="34" charset="-122"/>
                <a:cs typeface="Calibri" pitchFamily="34" charset="-120"/>
              </a:rPr>
              <a:t>Event cần xác nhận (PENDING)</a:t>
            </a:r>
            <a:endParaRPr lang="en-US" sz="1500" dirty="0"/>
          </a:p>
          <a:p>
            <a:pPr marL="342900" indent="-342900">
              <a:spcAft>
                <a:spcPts val="800"/>
              </a:spcAft>
              <a:buSzPct val="100000"/>
              <a:buChar char="•"/>
            </a:pPr>
            <a:r>
              <a:rPr lang="en-US" sz="1500" dirty="0">
                <a:solidFill>
                  <a:srgbClr val="B8C6D2"/>
                </a:solidFill>
                <a:latin typeface="Calibri" pitchFamily="34" charset="0"/>
                <a:ea typeface="Calibri" pitchFamily="34" charset="-122"/>
                <a:cs typeface="Calibri" pitchFamily="34" charset="-120"/>
              </a:rPr>
              <a:t>Đổi lịch, hủy lịch</a:t>
            </a:r>
            <a:endParaRPr lang="en-US" sz="1500" dirty="0"/>
          </a:p>
          <a:p>
            <a:pPr marL="342900" indent="-342900">
              <a:spcAft>
                <a:spcPts val="800"/>
              </a:spcAft>
              <a:buSzPct val="100000"/>
              <a:buChar char="•"/>
            </a:pPr>
            <a:r>
              <a:rPr lang="en-US" sz="1500" dirty="0">
                <a:solidFill>
                  <a:srgbClr val="B8C6D2"/>
                </a:solidFill>
                <a:latin typeface="Calibri" pitchFamily="34" charset="0"/>
                <a:ea typeface="Calibri" pitchFamily="34" charset="-122"/>
                <a:cs typeface="Calibri" pitchFamily="34" charset="-120"/>
              </a:rPr>
              <a:t>Giới hạn số booking/ngày</a:t>
            </a:r>
            <a:endParaRPr lang="en-US" sz="1500" dirty="0"/>
          </a:p>
          <a:p>
            <a:pPr marL="342900" indent="-342900">
              <a:spcAft>
                <a:spcPts val="800"/>
              </a:spcAft>
              <a:buSzPct val="100000"/>
              <a:buChar char="•"/>
            </a:pPr>
            <a:r>
              <a:rPr lang="en-US" sz="1500" dirty="0">
                <a:solidFill>
                  <a:srgbClr val="B8C6D2"/>
                </a:solidFill>
                <a:latin typeface="Calibri" pitchFamily="34" charset="0"/>
                <a:ea typeface="Calibri" pitchFamily="34" charset="-122"/>
                <a:cs typeface="Calibri" pitchFamily="34" charset="-120"/>
              </a:rPr>
              <a:t>Ngoài phạm vi: lịch ngoài, thanh toán, team, API v2</a:t>
            </a:r>
            <a:endParaRPr lang="en-US" sz="1500" dirty="0"/>
          </a:p>
        </p:txBody>
      </p:sp>
      <p:sp>
        <p:nvSpPr>
          <p:cNvPr id="7" name="Shape 5"/>
          <p:cNvSpPr/>
          <p:nvPr/>
        </p:nvSpPr>
        <p:spPr>
          <a:xfrm>
            <a:off x="4383024" y="1691640"/>
            <a:ext cx="3422904" cy="4297680"/>
          </a:xfrm>
          <a:prstGeom prst="roundRect">
            <a:avLst>
              <a:gd name="adj" fmla="val 3206"/>
            </a:avLst>
          </a:prstGeom>
          <a:solidFill>
            <a:srgbClr val="1D3142"/>
          </a:solidFill>
          <a:ln w="12700">
            <a:solidFill>
              <a:srgbClr val="1D3142"/>
            </a:solidFill>
            <a:prstDash val="solid"/>
          </a:ln>
        </p:spPr>
      </p:sp>
      <p:sp>
        <p:nvSpPr>
          <p:cNvPr id="8" name="Text 6"/>
          <p:cNvSpPr txBox="1"/>
          <p:nvPr/>
        </p:nvSpPr>
        <p:spPr>
          <a:xfrm>
            <a:off x="4657344" y="1874520"/>
            <a:ext cx="2874264" cy="365760"/>
          </a:xfrm>
          <a:prstGeom prst="rect">
            <a:avLst/>
          </a:prstGeom>
          <a:noFill/>
          <a:ln/>
        </p:spPr>
        <p:txBody>
          <a:bodyPr wrap="square" lIns="0" tIns="0" rIns="0" bIns="0" rtlCol="0" anchor="ctr"/>
          <a:lstStyle/>
          <a:p>
            <a:pPr indent="0" marL="0">
              <a:buNone/>
            </a:pPr>
            <a:r>
              <a:rPr lang="en-US" sz="1400" b="1" dirty="0">
                <a:solidFill>
                  <a:srgbClr val="7FB0FF"/>
                </a:solidFill>
                <a:latin typeface="Consolas" pitchFamily="34" charset="0"/>
                <a:ea typeface="Consolas" pitchFamily="34" charset="-122"/>
                <a:cs typeface="Consolas" pitchFamily="34" charset="-120"/>
              </a:rPr>
              <a:t>GIẢ ĐỊNH</a:t>
            </a:r>
            <a:endParaRPr lang="en-US" sz="1400" dirty="0"/>
          </a:p>
        </p:txBody>
      </p:sp>
      <p:sp>
        <p:nvSpPr>
          <p:cNvPr id="9" name="Text 7"/>
          <p:cNvSpPr txBox="1"/>
          <p:nvPr/>
        </p:nvSpPr>
        <p:spPr>
          <a:xfrm>
            <a:off x="4657344" y="2377440"/>
            <a:ext cx="2874264" cy="347472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rgbClr val="B8C6D2"/>
                </a:solidFill>
                <a:latin typeface="Calibri" pitchFamily="34" charset="0"/>
                <a:ea typeface="Calibri" pitchFamily="34" charset="-122"/>
                <a:cs typeface="Calibri" pitchFamily="34" charset="-120"/>
              </a:rPr>
              <a:t>Một instance, một PostgreSQL, chạy local</a:t>
            </a:r>
            <a:endParaRPr lang="en-US" sz="1500" dirty="0"/>
          </a:p>
          <a:p>
            <a:pPr marL="342900" indent="-342900">
              <a:spcAft>
                <a:spcPts val="800"/>
              </a:spcAft>
              <a:buSzPct val="100000"/>
              <a:buChar char="•"/>
            </a:pPr>
            <a:r>
              <a:rPr lang="en-US" sz="1500" dirty="0">
                <a:solidFill>
                  <a:srgbClr val="B8C6D2"/>
                </a:solidFill>
                <a:latin typeface="Calibri" pitchFamily="34" charset="0"/>
                <a:ea typeface="Calibri" pitchFamily="34" charset="-122"/>
                <a:cs typeface="Calibri" pitchFamily="34" charset="-120"/>
              </a:rPr>
              <a:t>Chạy yarn dev; production có thể rộng cửa sổ hơn</a:t>
            </a:r>
            <a:endParaRPr lang="en-US" sz="1500" dirty="0"/>
          </a:p>
          <a:p>
            <a:pPr marL="342900" indent="-342900">
              <a:spcAft>
                <a:spcPts val="800"/>
              </a:spcAft>
              <a:buSzPct val="100000"/>
              <a:buChar char="•"/>
            </a:pPr>
            <a:r>
              <a:rPr lang="en-US" sz="1500" dirty="0">
                <a:solidFill>
                  <a:srgbClr val="B8C6D2"/>
                </a:solidFill>
                <a:latin typeface="Calibri" pitchFamily="34" charset="0"/>
                <a:ea typeface="Calibri" pitchFamily="34" charset="-122"/>
                <a:cs typeface="Calibri" pitchFamily="34" charset="-120"/>
              </a:rPr>
              <a:t>Host không nối lịch ngoài</a:t>
            </a:r>
            <a:endParaRPr lang="en-US" sz="1500" dirty="0"/>
          </a:p>
          <a:p>
            <a:pPr marL="342900" indent="-342900">
              <a:spcAft>
                <a:spcPts val="800"/>
              </a:spcAft>
              <a:buSzPct val="100000"/>
              <a:buChar char="•"/>
            </a:pPr>
            <a:r>
              <a:rPr lang="en-US" sz="1500" dirty="0">
                <a:solidFill>
                  <a:srgbClr val="B8C6D2"/>
                </a:solidFill>
                <a:latin typeface="Calibri" pitchFamily="34" charset="0"/>
                <a:ea typeface="Calibri" pitchFamily="34" charset="-122"/>
                <a:cs typeface="Calibri" pitchFamily="34" charset="-120"/>
              </a:rPr>
              <a:t>Rate limit tắt</a:t>
            </a:r>
            <a:endParaRPr lang="en-US" sz="1500" dirty="0"/>
          </a:p>
          <a:p>
            <a:pPr marL="342900" indent="-342900">
              <a:spcAft>
                <a:spcPts val="800"/>
              </a:spcAft>
              <a:buSzPct val="100000"/>
              <a:buChar char="•"/>
            </a:pPr>
            <a:r>
              <a:rPr lang="en-US" sz="1500" dirty="0">
                <a:solidFill>
                  <a:srgbClr val="B8C6D2"/>
                </a:solidFill>
                <a:latin typeface="Calibri" pitchFamily="34" charset="0"/>
                <a:ea typeface="Calibri" pitchFamily="34" charset="-122"/>
                <a:cs typeface="Calibri" pitchFamily="34" charset="-120"/>
              </a:rPr>
              <a:t>Mỗi vòng dùng một ngày riêng</a:t>
            </a:r>
            <a:endParaRPr lang="en-US" sz="1500" dirty="0"/>
          </a:p>
        </p:txBody>
      </p:sp>
      <p:sp>
        <p:nvSpPr>
          <p:cNvPr id="10" name="Shape 8"/>
          <p:cNvSpPr/>
          <p:nvPr/>
        </p:nvSpPr>
        <p:spPr>
          <a:xfrm>
            <a:off x="8125968" y="1691640"/>
            <a:ext cx="3422904" cy="4297680"/>
          </a:xfrm>
          <a:prstGeom prst="roundRect">
            <a:avLst>
              <a:gd name="adj" fmla="val 3206"/>
            </a:avLst>
          </a:prstGeom>
          <a:solidFill>
            <a:srgbClr val="1D3142"/>
          </a:solidFill>
          <a:ln w="12700">
            <a:solidFill>
              <a:srgbClr val="1D3142"/>
            </a:solidFill>
            <a:prstDash val="solid"/>
          </a:ln>
        </p:spPr>
      </p:sp>
      <p:sp>
        <p:nvSpPr>
          <p:cNvPr id="11" name="Text 9"/>
          <p:cNvSpPr txBox="1"/>
          <p:nvPr/>
        </p:nvSpPr>
        <p:spPr>
          <a:xfrm>
            <a:off x="8400288" y="1874520"/>
            <a:ext cx="2874264" cy="365760"/>
          </a:xfrm>
          <a:prstGeom prst="rect">
            <a:avLst/>
          </a:prstGeom>
          <a:noFill/>
          <a:ln/>
        </p:spPr>
        <p:txBody>
          <a:bodyPr wrap="square" lIns="0" tIns="0" rIns="0" bIns="0" rtlCol="0" anchor="ctr"/>
          <a:lstStyle/>
          <a:p>
            <a:pPr indent="0" marL="0">
              <a:buNone/>
            </a:pPr>
            <a:r>
              <a:rPr lang="en-US" sz="1400" b="1" dirty="0">
                <a:solidFill>
                  <a:srgbClr val="E07B39"/>
                </a:solidFill>
                <a:latin typeface="Consolas" pitchFamily="34" charset="0"/>
                <a:ea typeface="Consolas" pitchFamily="34" charset="-122"/>
                <a:cs typeface="Consolas" pitchFamily="34" charset="-120"/>
              </a:rPr>
              <a:t>TIÊU CHÍ PASS / FAIL</a:t>
            </a:r>
            <a:endParaRPr lang="en-US" sz="1400" dirty="0"/>
          </a:p>
        </p:txBody>
      </p:sp>
      <p:sp>
        <p:nvSpPr>
          <p:cNvPr id="12" name="Text 10"/>
          <p:cNvSpPr txBox="1"/>
          <p:nvPr/>
        </p:nvSpPr>
        <p:spPr>
          <a:xfrm>
            <a:off x="8400288" y="2377440"/>
            <a:ext cx="2874264" cy="347472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rgbClr val="B8C6D2"/>
                </a:solidFill>
                <a:latin typeface="Calibri" pitchFamily="34" charset="0"/>
                <a:ea typeface="Calibri" pitchFamily="34" charset="-122"/>
                <a:cs typeface="Calibri" pitchFamily="34" charset="-120"/>
              </a:rPr>
              <a:t>Oracle là invariant trong CSDL, không phải mã HTTP</a:t>
            </a:r>
            <a:endParaRPr lang="en-US" sz="1500" dirty="0"/>
          </a:p>
          <a:p>
            <a:pPr marL="342900" indent="-342900">
              <a:spcAft>
                <a:spcPts val="800"/>
              </a:spcAft>
              <a:buSzPct val="100000"/>
              <a:buChar char="•"/>
            </a:pPr>
            <a:r>
              <a:rPr lang="en-US" sz="1500" dirty="0">
                <a:solidFill>
                  <a:srgbClr val="B8C6D2"/>
                </a:solidFill>
                <a:latin typeface="Calibri" pitchFamily="34" charset="0"/>
                <a:ea typeface="Calibri" pitchFamily="34" charset="-122"/>
                <a:cs typeface="Calibri" pitchFamily="34" charset="-120"/>
              </a:rPr>
              <a:t>I1: host không có 2 booking chồng giờ</a:t>
            </a:r>
            <a:endParaRPr lang="en-US" sz="1500" dirty="0"/>
          </a:p>
          <a:p>
            <a:pPr marL="342900" indent="-342900">
              <a:spcAft>
                <a:spcPts val="800"/>
              </a:spcAft>
              <a:buSzPct val="100000"/>
              <a:buChar char="•"/>
            </a:pPr>
            <a:r>
              <a:rPr lang="en-US" sz="1500" dirty="0">
                <a:solidFill>
                  <a:srgbClr val="B8C6D2"/>
                </a:solidFill>
                <a:latin typeface="Calibri" pitchFamily="34" charset="0"/>
                <a:ea typeface="Calibri" pitchFamily="34" charset="-122"/>
                <a:cs typeface="Calibri" pitchFamily="34" charset="-120"/>
              </a:rPr>
              <a:t>I2: không vượt số ghế</a:t>
            </a:r>
            <a:endParaRPr lang="en-US" sz="1500" dirty="0"/>
          </a:p>
          <a:p>
            <a:pPr marL="342900" indent="-342900">
              <a:spcAft>
                <a:spcPts val="800"/>
              </a:spcAft>
              <a:buSzPct val="100000"/>
              <a:buChar char="•"/>
            </a:pPr>
            <a:r>
              <a:rPr lang="en-US" sz="1500" dirty="0">
                <a:solidFill>
                  <a:srgbClr val="B8C6D2"/>
                </a:solidFill>
                <a:latin typeface="Calibri" pitchFamily="34" charset="0"/>
                <a:ea typeface="Calibri" pitchFamily="34" charset="-122"/>
                <a:cs typeface="Calibri" pitchFamily="34" charset="-120"/>
              </a:rPr>
              <a:t>I4–I6: đổi lịch, hủy, giới hạn</a:t>
            </a:r>
            <a:endParaRPr lang="en-US" sz="1500" dirty="0"/>
          </a:p>
          <a:p>
            <a:pPr marL="342900" indent="-342900">
              <a:spcAft>
                <a:spcPts val="800"/>
              </a:spcAft>
              <a:buSzPct val="100000"/>
              <a:buChar char="•"/>
            </a:pPr>
            <a:r>
              <a:rPr lang="en-US" sz="1500" dirty="0">
                <a:solidFill>
                  <a:srgbClr val="B8C6D2"/>
                </a:solidFill>
                <a:latin typeface="Calibri" pitchFamily="34" charset="0"/>
                <a:ea typeface="Calibri" pitchFamily="34" charset="-122"/>
                <a:cs typeface="Calibri" pitchFamily="34" charset="-120"/>
              </a:rPr>
              <a:t>FAIL khi 1 vòng vi phạm; so với nhóm đối chứng tuần tự</a:t>
            </a:r>
            <a:endParaRPr lang="en-US" sz="1500" dirty="0"/>
          </a:p>
        </p:txBody>
      </p:sp>
      <p:sp>
        <p:nvSpPr>
          <p:cNvPr id="13" name="Text 11"/>
          <p:cNvSpPr txBox="1"/>
          <p:nvPr/>
        </p:nvSpPr>
        <p:spPr>
          <a:xfrm>
            <a:off x="640080" y="6355080"/>
            <a:ext cx="10332720" cy="274320"/>
          </a:xfrm>
          <a:prstGeom prst="rect">
            <a:avLst/>
          </a:prstGeom>
          <a:noFill/>
          <a:ln/>
        </p:spPr>
        <p:txBody>
          <a:bodyPr wrap="square" lIns="0" tIns="0" rIns="0" bIns="0" rtlCol="0" anchor="ctr"/>
          <a:lstStyle/>
          <a:p>
            <a:pPr indent="0" marL="0">
              <a:buNone/>
            </a:pPr>
            <a:r>
              <a:rPr lang="en-US" sz="1200" dirty="0">
                <a:solidFill>
                  <a:srgbClr val="8C9AA8"/>
                </a:solidFill>
                <a:latin typeface="Calibri" pitchFamily="34" charset="0"/>
                <a:ea typeface="Calibri" pitchFamily="34" charset="-122"/>
                <a:cs typeface="Calibri" pitchFamily="34" charset="-120"/>
              </a:rPr>
              <a:t>Chi tiết: BAO_CAO.md phần D, E</a:t>
            </a:r>
            <a:endParaRPr lang="en-US" sz="12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8C9AA8"/>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640080" y="292608"/>
            <a:ext cx="10908792" cy="274320"/>
          </a:xfrm>
          <a:prstGeom prst="rect">
            <a:avLst/>
          </a:prstGeom>
          <a:noFill/>
          <a:ln/>
        </p:spPr>
        <p:txBody>
          <a:bodyPr wrap="square" lIns="0" tIns="0" rIns="0" bIns="0" rtlCol="0" anchor="ctr"/>
          <a:lstStyle/>
          <a:p>
            <a:pPr indent="0" marL="0">
              <a:buNone/>
            </a:pPr>
            <a:r>
              <a:rPr lang="en-US" sz="1300" b="1" spc="200" kern="0" dirty="0">
                <a:solidFill>
                  <a:srgbClr val="B4531A"/>
                </a:solidFill>
                <a:latin typeface="Consolas" pitchFamily="34" charset="0"/>
                <a:ea typeface="Consolas" pitchFamily="34" charset="-122"/>
                <a:cs typeface="Consolas" pitchFamily="34" charset="-120"/>
              </a:rPr>
              <a:t>08 · CHI PHÍ TEST</a:t>
            </a:r>
            <a:endParaRPr lang="en-US" sz="1300" dirty="0"/>
          </a:p>
        </p:txBody>
      </p:sp>
      <p:sp>
        <p:nvSpPr>
          <p:cNvPr id="3" name="Text 0"/>
          <p:cNvSpPr/>
          <p:nvPr>
            <p:ph idx="100" type="title" hasCustomPrompt="1"/>
          </p:nvPr>
        </p:nvSpPr>
        <p:spPr>
          <a:xfrm>
            <a:off x="640080" y="640080"/>
            <a:ext cx="10908792" cy="868680"/>
          </a:xfrm>
          <a:prstGeom prst="rect">
            <a:avLst/>
          </a:prstGeom>
          <a:noFill/>
          <a:ln/>
        </p:spPr>
        <p:txBody>
          <a:bodyPr wrap="square" lIns="0" tIns="0" rIns="0" bIns="0" rtlCol="0" anchor="t"/>
          <a:lstStyle/>
          <a:p>
            <a:pPr indent="0" marL="0">
              <a:buNone/>
            </a:pPr>
            <a:r>
              <a:rPr lang="en-US" sz="3400" b="1" dirty="0">
                <a:solidFill>
                  <a:srgbClr val="12202B"/>
                </a:solidFill>
                <a:latin typeface="Calibri" pitchFamily="34" charset="0"/>
                <a:ea typeface="Calibri" pitchFamily="34" charset="-122"/>
                <a:cs typeface="Calibri" pitchFamily="34" charset="-120"/>
              </a:rPr>
              <a:t>Chi phí đo thật: 0 đồng, khoảng 12 phút máy</a:t>
            </a:r>
            <a:endParaRPr lang="en-US" sz="3400" dirty="0"/>
          </a:p>
        </p:txBody>
      </p:sp>
      <p:sp>
        <p:nvSpPr>
          <p:cNvPr id="4" name="Shape 2"/>
          <p:cNvSpPr/>
          <p:nvPr/>
        </p:nvSpPr>
        <p:spPr>
          <a:xfrm>
            <a:off x="640080" y="1691640"/>
            <a:ext cx="2521458" cy="1554480"/>
          </a:xfrm>
          <a:prstGeom prst="roundRect">
            <a:avLst>
              <a:gd name="adj" fmla="val 7059"/>
            </a:avLst>
          </a:prstGeom>
          <a:solidFill>
            <a:srgbClr val="FBFAF6"/>
          </a:solidFill>
          <a:ln w="12700">
            <a:solidFill>
              <a:srgbClr val="DAD6CC"/>
            </a:solidFill>
            <a:prstDash val="solid"/>
          </a:ln>
        </p:spPr>
      </p:sp>
      <p:sp>
        <p:nvSpPr>
          <p:cNvPr id="5" name="Text 3"/>
          <p:cNvSpPr txBox="1"/>
          <p:nvPr/>
        </p:nvSpPr>
        <p:spPr>
          <a:xfrm>
            <a:off x="822960" y="1783080"/>
            <a:ext cx="2155698" cy="731520"/>
          </a:xfrm>
          <a:prstGeom prst="rect">
            <a:avLst/>
          </a:prstGeom>
          <a:noFill/>
          <a:ln/>
        </p:spPr>
        <p:txBody>
          <a:bodyPr wrap="square" lIns="0" tIns="0" rIns="0" bIns="0" rtlCol="0" anchor="ctr"/>
          <a:lstStyle/>
          <a:p>
            <a:pPr indent="0" marL="0">
              <a:buNone/>
            </a:pPr>
            <a:r>
              <a:rPr lang="en-US" sz="3200" b="1" dirty="0">
                <a:solidFill>
                  <a:srgbClr val="2558B8"/>
                </a:solidFill>
                <a:latin typeface="Calibri" pitchFamily="34" charset="0"/>
                <a:ea typeface="Calibri" pitchFamily="34" charset="-122"/>
                <a:cs typeface="Calibri" pitchFamily="34" charset="-120"/>
              </a:rPr>
              <a:t>0 đồng</a:t>
            </a:r>
            <a:endParaRPr lang="en-US" sz="3200" dirty="0"/>
          </a:p>
        </p:txBody>
      </p:sp>
      <p:sp>
        <p:nvSpPr>
          <p:cNvPr id="6" name="Text 4"/>
          <p:cNvSpPr txBox="1"/>
          <p:nvPr/>
        </p:nvSpPr>
        <p:spPr>
          <a:xfrm>
            <a:off x="822960" y="2560320"/>
            <a:ext cx="2155698" cy="640080"/>
          </a:xfrm>
          <a:prstGeom prst="rect">
            <a:avLst/>
          </a:prstGeom>
          <a:noFill/>
          <a:ln/>
        </p:spPr>
        <p:txBody>
          <a:bodyPr wrap="square" lIns="0" tIns="0" rIns="0" bIns="0" rtlCol="0" anchor="t"/>
          <a:lstStyle/>
          <a:p>
            <a:pPr indent="0" marL="0">
              <a:buNone/>
            </a:pPr>
            <a:r>
              <a:rPr lang="en-US" sz="1400" dirty="0">
                <a:solidFill>
                  <a:srgbClr val="4A5866"/>
                </a:solidFill>
                <a:latin typeface="Calibri" pitchFamily="34" charset="0"/>
                <a:ea typeface="Calibri" pitchFamily="34" charset="-122"/>
                <a:cs typeface="Calibri" pitchFamily="34" charset="-120"/>
              </a:rPr>
              <a:t>Công cụ miễn phí, chạy trên máy cá nhân</a:t>
            </a:r>
            <a:endParaRPr lang="en-US" sz="1400" dirty="0"/>
          </a:p>
        </p:txBody>
      </p:sp>
      <p:sp>
        <p:nvSpPr>
          <p:cNvPr id="7" name="Shape 5"/>
          <p:cNvSpPr/>
          <p:nvPr/>
        </p:nvSpPr>
        <p:spPr>
          <a:xfrm>
            <a:off x="3435858" y="1691640"/>
            <a:ext cx="2521458" cy="1554480"/>
          </a:xfrm>
          <a:prstGeom prst="roundRect">
            <a:avLst>
              <a:gd name="adj" fmla="val 7059"/>
            </a:avLst>
          </a:prstGeom>
          <a:solidFill>
            <a:srgbClr val="FBFAF6"/>
          </a:solidFill>
          <a:ln w="12700">
            <a:solidFill>
              <a:srgbClr val="DAD6CC"/>
            </a:solidFill>
            <a:prstDash val="solid"/>
          </a:ln>
        </p:spPr>
      </p:sp>
      <p:sp>
        <p:nvSpPr>
          <p:cNvPr id="8" name="Text 6"/>
          <p:cNvSpPr txBox="1"/>
          <p:nvPr/>
        </p:nvSpPr>
        <p:spPr>
          <a:xfrm>
            <a:off x="3618738" y="1783080"/>
            <a:ext cx="2155698" cy="731520"/>
          </a:xfrm>
          <a:prstGeom prst="rect">
            <a:avLst/>
          </a:prstGeom>
          <a:noFill/>
          <a:ln/>
        </p:spPr>
        <p:txBody>
          <a:bodyPr wrap="square" lIns="0" tIns="0" rIns="0" bIns="0" rtlCol="0" anchor="ctr"/>
          <a:lstStyle/>
          <a:p>
            <a:pPr indent="0" marL="0">
              <a:buNone/>
            </a:pPr>
            <a:r>
              <a:rPr lang="en-US" sz="3200" b="1" dirty="0">
                <a:solidFill>
                  <a:srgbClr val="2558B8"/>
                </a:solidFill>
                <a:latin typeface="Calibri" pitchFamily="34" charset="0"/>
                <a:ea typeface="Calibri" pitchFamily="34" charset="-122"/>
                <a:cs typeface="Calibri" pitchFamily="34" charset="-120"/>
              </a:rPr>
              <a:t>2 080</a:t>
            </a:r>
            <a:endParaRPr lang="en-US" sz="3200" dirty="0"/>
          </a:p>
        </p:txBody>
      </p:sp>
      <p:sp>
        <p:nvSpPr>
          <p:cNvPr id="9" name="Text 7"/>
          <p:cNvSpPr txBox="1"/>
          <p:nvPr/>
        </p:nvSpPr>
        <p:spPr>
          <a:xfrm>
            <a:off x="3618738" y="2560320"/>
            <a:ext cx="2155698" cy="640080"/>
          </a:xfrm>
          <a:prstGeom prst="rect">
            <a:avLst/>
          </a:prstGeom>
          <a:noFill/>
          <a:ln/>
        </p:spPr>
        <p:txBody>
          <a:bodyPr wrap="square" lIns="0" tIns="0" rIns="0" bIns="0" rtlCol="0" anchor="t"/>
          <a:lstStyle/>
          <a:p>
            <a:pPr indent="0" marL="0">
              <a:buNone/>
            </a:pPr>
            <a:r>
              <a:rPr lang="en-US" sz="1400" dirty="0">
                <a:solidFill>
                  <a:srgbClr val="4A5866"/>
                </a:solidFill>
                <a:latin typeface="Calibri" pitchFamily="34" charset="0"/>
                <a:ea typeface="Calibri" pitchFamily="34" charset="-122"/>
                <a:cs typeface="Calibri" pitchFamily="34" charset="-120"/>
              </a:rPr>
              <a:t>Request đã gửi trong mọi lần chạy</a:t>
            </a:r>
            <a:endParaRPr lang="en-US" sz="1400" dirty="0"/>
          </a:p>
        </p:txBody>
      </p:sp>
      <p:sp>
        <p:nvSpPr>
          <p:cNvPr id="10" name="Shape 8"/>
          <p:cNvSpPr/>
          <p:nvPr/>
        </p:nvSpPr>
        <p:spPr>
          <a:xfrm>
            <a:off x="6231636" y="1691640"/>
            <a:ext cx="2521458" cy="1554480"/>
          </a:xfrm>
          <a:prstGeom prst="roundRect">
            <a:avLst>
              <a:gd name="adj" fmla="val 7059"/>
            </a:avLst>
          </a:prstGeom>
          <a:solidFill>
            <a:srgbClr val="FBFAF6"/>
          </a:solidFill>
          <a:ln w="12700">
            <a:solidFill>
              <a:srgbClr val="DAD6CC"/>
            </a:solidFill>
            <a:prstDash val="solid"/>
          </a:ln>
        </p:spPr>
      </p:sp>
      <p:sp>
        <p:nvSpPr>
          <p:cNvPr id="11" name="Text 9"/>
          <p:cNvSpPr txBox="1"/>
          <p:nvPr/>
        </p:nvSpPr>
        <p:spPr>
          <a:xfrm>
            <a:off x="6414516" y="1783080"/>
            <a:ext cx="2155698" cy="731520"/>
          </a:xfrm>
          <a:prstGeom prst="rect">
            <a:avLst/>
          </a:prstGeom>
          <a:noFill/>
          <a:ln/>
        </p:spPr>
        <p:txBody>
          <a:bodyPr wrap="square" lIns="0" tIns="0" rIns="0" bIns="0" rtlCol="0" anchor="ctr"/>
          <a:lstStyle/>
          <a:p>
            <a:pPr indent="0" marL="0">
              <a:buNone/>
            </a:pPr>
            <a:r>
              <a:rPr lang="en-US" sz="3200" b="1" dirty="0">
                <a:solidFill>
                  <a:srgbClr val="2558B8"/>
                </a:solidFill>
                <a:latin typeface="Calibri" pitchFamily="34" charset="0"/>
                <a:ea typeface="Calibri" pitchFamily="34" charset="-122"/>
                <a:cs typeface="Calibri" pitchFamily="34" charset="-120"/>
              </a:rPr>
              <a:t>≈ 12 phút</a:t>
            </a:r>
            <a:endParaRPr lang="en-US" sz="3200" dirty="0"/>
          </a:p>
        </p:txBody>
      </p:sp>
      <p:sp>
        <p:nvSpPr>
          <p:cNvPr id="12" name="Text 10"/>
          <p:cNvSpPr txBox="1"/>
          <p:nvPr/>
        </p:nvSpPr>
        <p:spPr>
          <a:xfrm>
            <a:off x="6414516" y="2560320"/>
            <a:ext cx="2155698" cy="640080"/>
          </a:xfrm>
          <a:prstGeom prst="rect">
            <a:avLst/>
          </a:prstGeom>
          <a:noFill/>
          <a:ln/>
        </p:spPr>
        <p:txBody>
          <a:bodyPr wrap="square" lIns="0" tIns="0" rIns="0" bIns="0" rtlCol="0" anchor="t"/>
          <a:lstStyle/>
          <a:p>
            <a:pPr indent="0" marL="0">
              <a:buNone/>
            </a:pPr>
            <a:r>
              <a:rPr lang="en-US" sz="1400" dirty="0">
                <a:solidFill>
                  <a:srgbClr val="4A5866"/>
                </a:solidFill>
                <a:latin typeface="Calibri" pitchFamily="34" charset="0"/>
                <a:ea typeface="Calibri" pitchFamily="34" charset="-122"/>
                <a:cs typeface="Calibri" pitchFamily="34" charset="-120"/>
              </a:rPr>
              <a:t>Tổng thời gian máy chạy test</a:t>
            </a:r>
            <a:endParaRPr lang="en-US" sz="1400" dirty="0"/>
          </a:p>
        </p:txBody>
      </p:sp>
      <p:sp>
        <p:nvSpPr>
          <p:cNvPr id="13" name="Shape 11"/>
          <p:cNvSpPr/>
          <p:nvPr/>
        </p:nvSpPr>
        <p:spPr>
          <a:xfrm>
            <a:off x="9027414" y="1691640"/>
            <a:ext cx="2521458" cy="1554480"/>
          </a:xfrm>
          <a:prstGeom prst="roundRect">
            <a:avLst>
              <a:gd name="adj" fmla="val 7059"/>
            </a:avLst>
          </a:prstGeom>
          <a:solidFill>
            <a:srgbClr val="FBFAF6"/>
          </a:solidFill>
          <a:ln w="12700">
            <a:solidFill>
              <a:srgbClr val="DAD6CC"/>
            </a:solidFill>
            <a:prstDash val="solid"/>
          </a:ln>
        </p:spPr>
      </p:sp>
      <p:sp>
        <p:nvSpPr>
          <p:cNvPr id="14" name="Text 12"/>
          <p:cNvSpPr txBox="1"/>
          <p:nvPr/>
        </p:nvSpPr>
        <p:spPr>
          <a:xfrm>
            <a:off x="9210294" y="1783080"/>
            <a:ext cx="2155698" cy="731520"/>
          </a:xfrm>
          <a:prstGeom prst="rect">
            <a:avLst/>
          </a:prstGeom>
          <a:noFill/>
          <a:ln/>
        </p:spPr>
        <p:txBody>
          <a:bodyPr wrap="square" lIns="0" tIns="0" rIns="0" bIns="0" rtlCol="0" anchor="ctr"/>
          <a:lstStyle/>
          <a:p>
            <a:pPr indent="0" marL="0">
              <a:buNone/>
            </a:pPr>
            <a:r>
              <a:rPr lang="en-US" sz="3200" b="1" dirty="0">
                <a:solidFill>
                  <a:srgbClr val="2558B8"/>
                </a:solidFill>
                <a:latin typeface="Calibri" pitchFamily="34" charset="0"/>
                <a:ea typeface="Calibri" pitchFamily="34" charset="-122"/>
                <a:cs typeface="Calibri" pitchFamily="34" charset="-120"/>
              </a:rPr>
              <a:t>≈ 970</a:t>
            </a:r>
            <a:endParaRPr lang="en-US" sz="3200" dirty="0"/>
          </a:p>
        </p:txBody>
      </p:sp>
      <p:sp>
        <p:nvSpPr>
          <p:cNvPr id="15" name="Text 13"/>
          <p:cNvSpPr txBox="1"/>
          <p:nvPr/>
        </p:nvSpPr>
        <p:spPr>
          <a:xfrm>
            <a:off x="9210294" y="2560320"/>
            <a:ext cx="2155698" cy="640080"/>
          </a:xfrm>
          <a:prstGeom prst="rect">
            <a:avLst/>
          </a:prstGeom>
          <a:noFill/>
          <a:ln/>
        </p:spPr>
        <p:txBody>
          <a:bodyPr wrap="square" lIns="0" tIns="0" rIns="0" bIns="0" rtlCol="0" anchor="t"/>
          <a:lstStyle/>
          <a:p>
            <a:pPr indent="0" marL="0">
              <a:buNone/>
            </a:pPr>
            <a:r>
              <a:rPr lang="en-US" sz="1400" dirty="0">
                <a:solidFill>
                  <a:srgbClr val="4A5866"/>
                </a:solidFill>
                <a:latin typeface="Calibri" pitchFamily="34" charset="0"/>
                <a:ea typeface="Calibri" pitchFamily="34" charset="-122"/>
                <a:cs typeface="Calibri" pitchFamily="34" charset="-120"/>
              </a:rPr>
              <a:t>Dòng mã bộ test (Node.js, k6, SQL)</a:t>
            </a:r>
            <a:endParaRPr lang="en-US" sz="14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640080" y="3520440"/>
          <a:ext cx="10908792" cy="914400"/>
        </p:xfrm>
        <a:graphic>
          <a:graphicData uri="http://schemas.openxmlformats.org/drawingml/2006/table">
            <a:tbl>
              <a:tblPr/>
              <a:tblGrid>
                <a:gridCol w="6583680"/>
                <a:gridCol w="2011680"/>
                <a:gridCol w="2313432"/>
              </a:tblGrid>
              <a:tr h="384048">
                <a:tc>
                  <a:txBody>
                    <a:bodyPr/>
                    <a:lstStyle/>
                    <a:p>
                      <a:pPr indent="0" marL="0">
                        <a:buNone/>
                      </a:pPr>
                      <a:r>
                        <a:rPr lang="en-US" sz="1400" b="1" dirty="0">
                          <a:solidFill>
                            <a:srgbClr val="12202B"/>
                          </a:solidFill>
                          <a:latin typeface="Calibri" pitchFamily="34" charset="0"/>
                          <a:ea typeface="Calibri" pitchFamily="34" charset="-122"/>
                          <a:cs typeface="Calibri" pitchFamily="34" charset="-120"/>
                        </a:rPr>
                        <a:t>Lần chạy</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E6E2D6"/>
                    </a:solidFill>
                  </a:tcPr>
                </a:tc>
                <a:tc>
                  <a:txBody>
                    <a:bodyPr/>
                    <a:lstStyle/>
                    <a:p>
                      <a:pPr indent="0" marL="0">
                        <a:buNone/>
                      </a:pPr>
                      <a:r>
                        <a:rPr lang="en-US" sz="1400" b="1" dirty="0">
                          <a:solidFill>
                            <a:srgbClr val="12202B"/>
                          </a:solidFill>
                          <a:latin typeface="Calibri" pitchFamily="34" charset="0"/>
                          <a:ea typeface="Calibri" pitchFamily="34" charset="-122"/>
                          <a:cs typeface="Calibri" pitchFamily="34" charset="-120"/>
                        </a:rPr>
                        <a:t>Request</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E6E2D6"/>
                    </a:solidFill>
                  </a:tcPr>
                </a:tc>
                <a:tc>
                  <a:txBody>
                    <a:bodyPr/>
                    <a:lstStyle/>
                    <a:p>
                      <a:pPr indent="0" marL="0">
                        <a:buNone/>
                      </a:pPr>
                      <a:r>
                        <a:rPr lang="en-US" sz="1400" b="1" dirty="0">
                          <a:solidFill>
                            <a:srgbClr val="12202B"/>
                          </a:solidFill>
                          <a:latin typeface="Calibri" pitchFamily="34" charset="0"/>
                          <a:ea typeface="Calibri" pitchFamily="34" charset="-122"/>
                          <a:cs typeface="Calibri" pitchFamily="34" charset="-120"/>
                        </a:rPr>
                        <a:t>Thời gian máy</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E6E2D6"/>
                    </a:solidFill>
                  </a:tcPr>
                </a:tc>
              </a:tr>
              <a:tr h="384048">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Đồng thời chính (8 test case × 10 vòng)</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570</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150 giây</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r>
              <a:tr h="384048">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Tuần tự đối chứng</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570</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22 giây</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r>
              <a:tr h="384048">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Độ nhạy: chỉ 2 request, 20 vòng</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200</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164 giây</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r>
              <a:tr h="384048">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Thí nghiệm khắc phục</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380</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85 giây</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r>
              <a:tr h="384048">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Đo cửa sổ race (18 mốc độ trễ)</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360</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300 giây</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r>
            </a:tbl>
          </a:graphicData>
        </a:graphic>
      </p:graphicFrame>
      <p:sp>
        <p:nvSpPr>
          <p:cNvPr id="17" name="Text 14"/>
          <p:cNvSpPr txBox="1"/>
          <p:nvPr/>
        </p:nvSpPr>
        <p:spPr>
          <a:xfrm>
            <a:off x="640080" y="5943600"/>
            <a:ext cx="10908792" cy="365760"/>
          </a:xfrm>
          <a:prstGeom prst="rect">
            <a:avLst/>
          </a:prstGeom>
          <a:noFill/>
          <a:ln/>
        </p:spPr>
        <p:txBody>
          <a:bodyPr wrap="square" lIns="0" tIns="0" rIns="0" bIns="0" rtlCol="0" anchor="ctr"/>
          <a:lstStyle/>
          <a:p>
            <a:pPr indent="0" marL="0">
              <a:buNone/>
            </a:pPr>
            <a:r>
              <a:rPr lang="en-US" sz="1400" dirty="0">
                <a:solidFill>
                  <a:srgbClr val="4A5866"/>
                </a:solidFill>
                <a:latin typeface="Calibri" pitchFamily="34" charset="0"/>
                <a:ea typeface="Calibri" pitchFamily="34" charset="-122"/>
                <a:cs typeface="Calibri" pitchFamily="34" charset="-120"/>
              </a:rPr>
              <a:t>Công sức nhóm: ước lượng 34–46 người-giờ (chưa theo dõi giờ thực tế). Máy: MacBook Apple Silicon 10 nhân, 32 GB RAM.</a:t>
            </a:r>
            <a:endParaRPr lang="en-US" sz="1400" dirty="0"/>
          </a:p>
        </p:txBody>
      </p:sp>
      <p:sp>
        <p:nvSpPr>
          <p:cNvPr id="18" name="Text 15"/>
          <p:cNvSpPr txBox="1"/>
          <p:nvPr/>
        </p:nvSpPr>
        <p:spPr>
          <a:xfrm>
            <a:off x="640080" y="6355080"/>
            <a:ext cx="10332720" cy="274320"/>
          </a:xfrm>
          <a:prstGeom prst="rect">
            <a:avLst/>
          </a:prstGeom>
          <a:noFill/>
          <a:ln/>
        </p:spPr>
        <p:txBody>
          <a:bodyPr wrap="square" lIns="0" tIns="0" rIns="0" bIns="0" rtlCol="0" anchor="ctr"/>
          <a:lstStyle/>
          <a:p>
            <a:pPr indent="0" marL="0">
              <a:buNone/>
            </a:pPr>
            <a:r>
              <a:rPr lang="en-US" sz="1200" dirty="0">
                <a:solidFill>
                  <a:srgbClr val="7A8592"/>
                </a:solidFill>
                <a:latin typeface="Calibri" pitchFamily="34" charset="0"/>
                <a:ea typeface="Calibri" pitchFamily="34" charset="-122"/>
                <a:cs typeface="Calibri" pitchFamily="34" charset="-120"/>
              </a:rPr>
              <a:t>Số liệu lấy từ summary.json của từng lần chạy: docs/QUY_TRINH_TEST.md mục 3</a:t>
            </a:r>
            <a:endParaRPr lang="en-US" sz="12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7A8592"/>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640080" y="292608"/>
            <a:ext cx="10908792" cy="274320"/>
          </a:xfrm>
          <a:prstGeom prst="rect">
            <a:avLst/>
          </a:prstGeom>
          <a:noFill/>
          <a:ln/>
        </p:spPr>
        <p:txBody>
          <a:bodyPr wrap="square" lIns="0" tIns="0" rIns="0" bIns="0" rtlCol="0" anchor="ctr"/>
          <a:lstStyle/>
          <a:p>
            <a:pPr indent="0" marL="0">
              <a:buNone/>
            </a:pPr>
            <a:r>
              <a:rPr lang="en-US" sz="1300" b="1" spc="200" kern="0" dirty="0">
                <a:solidFill>
                  <a:srgbClr val="B4531A"/>
                </a:solidFill>
                <a:latin typeface="Consolas" pitchFamily="34" charset="0"/>
                <a:ea typeface="Consolas" pitchFamily="34" charset="-122"/>
                <a:cs typeface="Consolas" pitchFamily="34" charset="-120"/>
              </a:rPr>
              <a:t>09 · KẾT QUẢ TEST</a:t>
            </a:r>
            <a:endParaRPr lang="en-US" sz="1300" dirty="0"/>
          </a:p>
        </p:txBody>
      </p:sp>
      <p:sp>
        <p:nvSpPr>
          <p:cNvPr id="3" name="Text 0"/>
          <p:cNvSpPr/>
          <p:nvPr>
            <p:ph idx="100" type="title" hasCustomPrompt="1"/>
          </p:nvPr>
        </p:nvSpPr>
        <p:spPr>
          <a:xfrm>
            <a:off x="640080" y="640080"/>
            <a:ext cx="10908792" cy="868680"/>
          </a:xfrm>
          <a:prstGeom prst="rect">
            <a:avLst/>
          </a:prstGeom>
          <a:noFill/>
          <a:ln/>
        </p:spPr>
        <p:txBody>
          <a:bodyPr wrap="square" lIns="0" tIns="0" rIns="0" bIns="0" rtlCol="0" anchor="t"/>
          <a:lstStyle/>
          <a:p>
            <a:pPr indent="0" marL="0">
              <a:buNone/>
            </a:pPr>
            <a:r>
              <a:rPr lang="en-US" sz="3400" b="1" dirty="0">
                <a:solidFill>
                  <a:srgbClr val="12202B"/>
                </a:solidFill>
                <a:latin typeface="Calibri" pitchFamily="34" charset="0"/>
                <a:ea typeface="Calibri" pitchFamily="34" charset="-122"/>
                <a:cs typeface="Calibri" pitchFamily="34" charset="-120"/>
              </a:rPr>
              <a:t>6 trên 8 test case phát hiện lỗi</a:t>
            </a:r>
            <a:endParaRPr lang="en-US" sz="34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640080" y="1600200"/>
          <a:ext cx="10908792" cy="914400"/>
        </p:xfrm>
        <a:graphic>
          <a:graphicData uri="http://schemas.openxmlformats.org/drawingml/2006/table">
            <a:tbl>
              <a:tblPr/>
              <a:tblGrid>
                <a:gridCol w="4023360"/>
                <a:gridCol w="1828800"/>
                <a:gridCol w="1828800"/>
                <a:gridCol w="2194560"/>
                <a:gridCol w="1033272"/>
              </a:tblGrid>
              <a:tr h="420624">
                <a:tc>
                  <a:txBody>
                    <a:bodyPr/>
                    <a:lstStyle/>
                    <a:p>
                      <a:pPr indent="0" marL="0">
                        <a:buNone/>
                      </a:pPr>
                      <a:r>
                        <a:rPr lang="en-US" sz="1400" b="1" dirty="0">
                          <a:solidFill>
                            <a:srgbClr val="12202B"/>
                          </a:solidFill>
                          <a:latin typeface="Calibri" pitchFamily="34" charset="0"/>
                          <a:ea typeface="Calibri" pitchFamily="34" charset="-122"/>
                          <a:cs typeface="Calibri" pitchFamily="34" charset="-120"/>
                        </a:rPr>
                        <a:t>Test case</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E6E2D6"/>
                    </a:solidFill>
                  </a:tcPr>
                </a:tc>
                <a:tc>
                  <a:txBody>
                    <a:bodyPr/>
                    <a:lstStyle/>
                    <a:p>
                      <a:pPr indent="0" marL="0">
                        <a:buNone/>
                      </a:pPr>
                      <a:r>
                        <a:rPr lang="en-US" sz="1400" b="1" dirty="0">
                          <a:solidFill>
                            <a:srgbClr val="12202B"/>
                          </a:solidFill>
                          <a:latin typeface="Calibri" pitchFamily="34" charset="0"/>
                          <a:ea typeface="Calibri" pitchFamily="34" charset="-122"/>
                          <a:cs typeface="Calibri" pitchFamily="34" charset="-120"/>
                        </a:rPr>
                        <a:t>Đồng thời</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E6E2D6"/>
                    </a:solidFill>
                  </a:tcPr>
                </a:tc>
                <a:tc>
                  <a:txBody>
                    <a:bodyPr/>
                    <a:lstStyle/>
                    <a:p>
                      <a:pPr indent="0" marL="0">
                        <a:buNone/>
                      </a:pPr>
                      <a:r>
                        <a:rPr lang="en-US" sz="1400" b="1" dirty="0">
                          <a:solidFill>
                            <a:srgbClr val="12202B"/>
                          </a:solidFill>
                          <a:latin typeface="Calibri" pitchFamily="34" charset="0"/>
                          <a:ea typeface="Calibri" pitchFamily="34" charset="-122"/>
                          <a:cs typeface="Calibri" pitchFamily="34" charset="-120"/>
                        </a:rPr>
                        <a:t>Tuần tự</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E6E2D6"/>
                    </a:solidFill>
                  </a:tcPr>
                </a:tc>
                <a:tc>
                  <a:txBody>
                    <a:bodyPr/>
                    <a:lstStyle/>
                    <a:p>
                      <a:pPr indent="0" marL="0">
                        <a:buNone/>
                      </a:pPr>
                      <a:r>
                        <a:rPr lang="en-US" sz="1400" b="1" dirty="0">
                          <a:solidFill>
                            <a:srgbClr val="12202B"/>
                          </a:solidFill>
                          <a:latin typeface="Calibri" pitchFamily="34" charset="0"/>
                          <a:ea typeface="Calibri" pitchFamily="34" charset="-122"/>
                          <a:cs typeface="Calibri" pitchFamily="34" charset="-120"/>
                        </a:rPr>
                        <a:t>Kết luận</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E6E2D6"/>
                    </a:solidFill>
                  </a:tcPr>
                </a:tc>
                <a:tc>
                  <a:txBody>
                    <a:bodyPr/>
                    <a:lstStyle/>
                    <a:p>
                      <a:pPr indent="0" marL="0">
                        <a:buNone/>
                      </a:pPr>
                      <a:r>
                        <a:rPr lang="en-US" sz="1400" b="1" dirty="0">
                          <a:solidFill>
                            <a:srgbClr val="12202B"/>
                          </a:solidFill>
                          <a:latin typeface="Calibri" pitchFamily="34" charset="0"/>
                          <a:ea typeface="Calibri" pitchFamily="34" charset="-122"/>
                          <a:cs typeface="Calibri" pitchFamily="34" charset="-120"/>
                        </a:rPr>
                        <a:t>Lỗi</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E6E2D6"/>
                    </a:solidFill>
                  </a:tcPr>
                </a:tc>
              </a:tr>
              <a:tr h="420624">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TC-01 cùng một giờ</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0/10</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0/10</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Đúng</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r>
              <a:tr h="420624">
                <a:tc>
                  <a:txBody>
                    <a:bodyPr/>
                    <a:lstStyle/>
                    <a:p>
                      <a:pPr indent="0" marL="0">
                        <a:buNone/>
                      </a:pPr>
                      <a:r>
                        <a:rPr lang="en-US" sz="1400" b="1" dirty="0">
                          <a:solidFill>
                            <a:srgbClr val="12202B"/>
                          </a:solidFill>
                          <a:latin typeface="Calibri" pitchFamily="34" charset="0"/>
                          <a:ea typeface="Calibri" pitchFamily="34" charset="-122"/>
                          <a:cs typeface="Calibri" pitchFamily="34" charset="-120"/>
                        </a:rPr>
                        <a:t>TC-02 giờ chồng lấn</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6E2D3"/>
                    </a:solidFill>
                  </a:tcPr>
                </a:tc>
                <a:tc>
                  <a:txBody>
                    <a:bodyPr/>
                    <a:lstStyle/>
                    <a:p>
                      <a:pPr indent="0" marL="0">
                        <a:buNone/>
                      </a:pPr>
                      <a:r>
                        <a:rPr lang="en-US" sz="1400" b="1" dirty="0">
                          <a:solidFill>
                            <a:srgbClr val="12202B"/>
                          </a:solidFill>
                          <a:latin typeface="Calibri" pitchFamily="34" charset="0"/>
                          <a:ea typeface="Calibri" pitchFamily="34" charset="-122"/>
                          <a:cs typeface="Calibri" pitchFamily="34" charset="-120"/>
                        </a:rPr>
                        <a:t>10/10</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6E2D3"/>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0/10</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6E2D3"/>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Lỗi race</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6E2D3"/>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D1</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6E2D3"/>
                    </a:solidFill>
                  </a:tcPr>
                </a:tc>
              </a:tr>
              <a:tr h="420624">
                <a:tc>
                  <a:txBody>
                    <a:bodyPr/>
                    <a:lstStyle/>
                    <a:p>
                      <a:pPr indent="0" marL="0">
                        <a:buNone/>
                      </a:pPr>
                      <a:r>
                        <a:rPr lang="en-US" sz="1400" b="1" dirty="0">
                          <a:solidFill>
                            <a:srgbClr val="12202B"/>
                          </a:solidFill>
                          <a:latin typeface="Calibri" pitchFamily="34" charset="0"/>
                          <a:ea typeface="Calibri" pitchFamily="34" charset="-122"/>
                          <a:cs typeface="Calibri" pitchFamily="34" charset="-120"/>
                        </a:rPr>
                        <a:t>TC-03 ghế đầu tiên</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6E2D3"/>
                    </a:solidFill>
                  </a:tcPr>
                </a:tc>
                <a:tc>
                  <a:txBody>
                    <a:bodyPr/>
                    <a:lstStyle/>
                    <a:p>
                      <a:pPr indent="0" marL="0">
                        <a:buNone/>
                      </a:pPr>
                      <a:r>
                        <a:rPr lang="en-US" sz="1400" b="1" dirty="0">
                          <a:solidFill>
                            <a:srgbClr val="12202B"/>
                          </a:solidFill>
                          <a:latin typeface="Calibri" pitchFamily="34" charset="0"/>
                          <a:ea typeface="Calibri" pitchFamily="34" charset="-122"/>
                          <a:cs typeface="Calibri" pitchFamily="34" charset="-120"/>
                        </a:rPr>
                        <a:t>10/10</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6E2D3"/>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0/10</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6E2D3"/>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Lỗi race</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6E2D3"/>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D2</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6E2D3"/>
                    </a:solidFill>
                  </a:tcPr>
                </a:tc>
              </a:tr>
              <a:tr h="420624">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TC-04 ghế còn lại</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0/10</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0/10</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Đúng</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r>
              <a:tr h="420624">
                <a:tc>
                  <a:txBody>
                    <a:bodyPr/>
                    <a:lstStyle/>
                    <a:p>
                      <a:pPr indent="0" marL="0">
                        <a:buNone/>
                      </a:pPr>
                      <a:r>
                        <a:rPr lang="en-US" sz="1400" b="1" dirty="0">
                          <a:solidFill>
                            <a:srgbClr val="12202B"/>
                          </a:solidFill>
                          <a:latin typeface="Calibri" pitchFamily="34" charset="0"/>
                          <a:ea typeface="Calibri" pitchFamily="34" charset="-122"/>
                          <a:cs typeface="Calibri" pitchFamily="34" charset="-120"/>
                        </a:rPr>
                        <a:t>TC-05 chờ xác nhận</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6E2D3"/>
                    </a:solidFill>
                  </a:tcPr>
                </a:tc>
                <a:tc>
                  <a:txBody>
                    <a:bodyPr/>
                    <a:lstStyle/>
                    <a:p>
                      <a:pPr indent="0" marL="0">
                        <a:buNone/>
                      </a:pPr>
                      <a:r>
                        <a:rPr lang="en-US" sz="1400" b="1" dirty="0">
                          <a:solidFill>
                            <a:srgbClr val="12202B"/>
                          </a:solidFill>
                          <a:latin typeface="Calibri" pitchFamily="34" charset="0"/>
                          <a:ea typeface="Calibri" pitchFamily="34" charset="-122"/>
                          <a:cs typeface="Calibri" pitchFamily="34" charset="-120"/>
                        </a:rPr>
                        <a:t>10/10</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6E2D3"/>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0/10</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6E2D3"/>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Lỗi race</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6E2D3"/>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D3</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6E2D3"/>
                    </a:solidFill>
                  </a:tcPr>
                </a:tc>
              </a:tr>
              <a:tr h="420624">
                <a:tc>
                  <a:txBody>
                    <a:bodyPr/>
                    <a:lstStyle/>
                    <a:p>
                      <a:pPr indent="0" marL="0">
                        <a:buNone/>
                      </a:pPr>
                      <a:r>
                        <a:rPr lang="en-US" sz="1400" b="1" dirty="0">
                          <a:solidFill>
                            <a:srgbClr val="12202B"/>
                          </a:solidFill>
                          <a:latin typeface="Calibri" pitchFamily="34" charset="0"/>
                          <a:ea typeface="Calibri" pitchFamily="34" charset="-122"/>
                          <a:cs typeface="Calibri" pitchFamily="34" charset="-120"/>
                        </a:rPr>
                        <a:t>TC-06 đổi lịch lặp</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DCE5F4"/>
                    </a:solidFill>
                  </a:tcPr>
                </a:tc>
                <a:tc>
                  <a:txBody>
                    <a:bodyPr/>
                    <a:lstStyle/>
                    <a:p>
                      <a:pPr indent="0" marL="0">
                        <a:buNone/>
                      </a:pPr>
                      <a:r>
                        <a:rPr lang="en-US" sz="1400" b="1" dirty="0">
                          <a:solidFill>
                            <a:srgbClr val="12202B"/>
                          </a:solidFill>
                          <a:latin typeface="Calibri" pitchFamily="34" charset="0"/>
                          <a:ea typeface="Calibri" pitchFamily="34" charset="-122"/>
                          <a:cs typeface="Calibri" pitchFamily="34" charset="-120"/>
                        </a:rPr>
                        <a:t>10/10</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DCE5F4"/>
                    </a:solidFill>
                  </a:tcPr>
                </a:tc>
                <a:tc>
                  <a:txBody>
                    <a:bodyPr/>
                    <a:lstStyle/>
                    <a:p>
                      <a:pPr indent="0" marL="0">
                        <a:buNone/>
                      </a:pPr>
                      <a:r>
                        <a:rPr lang="en-US" sz="1400" b="1" dirty="0">
                          <a:solidFill>
                            <a:srgbClr val="12202B"/>
                          </a:solidFill>
                          <a:latin typeface="Calibri" pitchFamily="34" charset="0"/>
                          <a:ea typeface="Calibri" pitchFamily="34" charset="-122"/>
                          <a:cs typeface="Calibri" pitchFamily="34" charset="-120"/>
                        </a:rPr>
                        <a:t>10/10</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DCE5F4"/>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Lỗi logic</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DCE5F4"/>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D4</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DCE5F4"/>
                    </a:solidFill>
                  </a:tcPr>
                </a:tc>
              </a:tr>
              <a:tr h="420624">
                <a:tc>
                  <a:txBody>
                    <a:bodyPr/>
                    <a:lstStyle/>
                    <a:p>
                      <a:pPr indent="0" marL="0">
                        <a:buNone/>
                      </a:pPr>
                      <a:r>
                        <a:rPr lang="en-US" sz="1400" b="1" dirty="0">
                          <a:solidFill>
                            <a:srgbClr val="12202B"/>
                          </a:solidFill>
                          <a:latin typeface="Calibri" pitchFamily="34" charset="0"/>
                          <a:ea typeface="Calibri" pitchFamily="34" charset="-122"/>
                          <a:cs typeface="Calibri" pitchFamily="34" charset="-120"/>
                        </a:rPr>
                        <a:t>TC-07 hủy và đổi lịch</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6E2D3"/>
                    </a:solidFill>
                  </a:tcPr>
                </a:tc>
                <a:tc>
                  <a:txBody>
                    <a:bodyPr/>
                    <a:lstStyle/>
                    <a:p>
                      <a:pPr indent="0" marL="0">
                        <a:buNone/>
                      </a:pPr>
                      <a:r>
                        <a:rPr lang="en-US" sz="1400" b="1" dirty="0">
                          <a:solidFill>
                            <a:srgbClr val="12202B"/>
                          </a:solidFill>
                          <a:latin typeface="Calibri" pitchFamily="34" charset="0"/>
                          <a:ea typeface="Calibri" pitchFamily="34" charset="-122"/>
                          <a:cs typeface="Calibri" pitchFamily="34" charset="-120"/>
                        </a:rPr>
                        <a:t>10/10</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6E2D3"/>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0/10</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6E2D3"/>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Lỗi race</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6E2D3"/>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D5</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6E2D3"/>
                    </a:solidFill>
                  </a:tcPr>
                </a:tc>
              </a:tr>
              <a:tr h="420624">
                <a:tc>
                  <a:txBody>
                    <a:bodyPr/>
                    <a:lstStyle/>
                    <a:p>
                      <a:pPr indent="0" marL="0">
                        <a:buNone/>
                      </a:pPr>
                      <a:r>
                        <a:rPr lang="en-US" sz="1400" b="1" dirty="0">
                          <a:solidFill>
                            <a:srgbClr val="12202B"/>
                          </a:solidFill>
                          <a:latin typeface="Calibri" pitchFamily="34" charset="0"/>
                          <a:ea typeface="Calibri" pitchFamily="34" charset="-122"/>
                          <a:cs typeface="Calibri" pitchFamily="34" charset="-120"/>
                        </a:rPr>
                        <a:t>TC-08 giới hạn 1/ngày</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6E2D3"/>
                    </a:solidFill>
                  </a:tcPr>
                </a:tc>
                <a:tc>
                  <a:txBody>
                    <a:bodyPr/>
                    <a:lstStyle/>
                    <a:p>
                      <a:pPr indent="0" marL="0">
                        <a:buNone/>
                      </a:pPr>
                      <a:r>
                        <a:rPr lang="en-US" sz="1400" b="1" dirty="0">
                          <a:solidFill>
                            <a:srgbClr val="12202B"/>
                          </a:solidFill>
                          <a:latin typeface="Calibri" pitchFamily="34" charset="0"/>
                          <a:ea typeface="Calibri" pitchFamily="34" charset="-122"/>
                          <a:cs typeface="Calibri" pitchFamily="34" charset="-120"/>
                        </a:rPr>
                        <a:t>10/10</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6E2D3"/>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0/10</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6E2D3"/>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Lỗi race</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6E2D3"/>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D6</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6E2D3"/>
                    </a:solidFill>
                  </a:tcPr>
                </a:tc>
              </a:tr>
            </a:tbl>
          </a:graphicData>
        </a:graphic>
      </p:graphicFrame>
      <p:sp>
        <p:nvSpPr>
          <p:cNvPr id="5" name="Text 2"/>
          <p:cNvSpPr txBox="1"/>
          <p:nvPr/>
        </p:nvSpPr>
        <p:spPr>
          <a:xfrm>
            <a:off x="640080" y="5577840"/>
            <a:ext cx="10908792" cy="640080"/>
          </a:xfrm>
          <a:prstGeom prst="rect">
            <a:avLst/>
          </a:prstGeom>
          <a:noFill/>
          <a:ln/>
        </p:spPr>
        <p:txBody>
          <a:bodyPr wrap="square" lIns="0" tIns="0" rIns="0" bIns="0" rtlCol="0" anchor="t"/>
          <a:lstStyle/>
          <a:p>
            <a:pPr indent="0" marL="0">
              <a:buNone/>
            </a:pPr>
            <a:r>
              <a:rPr lang="en-US" sz="1500" dirty="0">
                <a:solidFill>
                  <a:srgbClr val="4A5866"/>
                </a:solidFill>
                <a:latin typeface="Calibri" pitchFamily="34" charset="0"/>
                <a:ea typeface="Calibri" pitchFamily="34" charset="-122"/>
                <a:cs typeface="Calibri" pitchFamily="34" charset="-120"/>
              </a:rPr>
              <a:t>Vòng vi phạm trên 10 vòng. Mã HTTP đều là 200 nhưng dữ liệu trong CSDL sai. Chỉ cần 2 request đồng thời, TC-02 vi phạm ở 20/20 vòng.</a:t>
            </a:r>
            <a:endParaRPr lang="en-US" sz="1500" dirty="0"/>
          </a:p>
        </p:txBody>
      </p:sp>
      <p:sp>
        <p:nvSpPr>
          <p:cNvPr id="6" name="Text 3"/>
          <p:cNvSpPr txBox="1"/>
          <p:nvPr/>
        </p:nvSpPr>
        <p:spPr>
          <a:xfrm>
            <a:off x="640080" y="6355080"/>
            <a:ext cx="10332720" cy="274320"/>
          </a:xfrm>
          <a:prstGeom prst="rect">
            <a:avLst/>
          </a:prstGeom>
          <a:noFill/>
          <a:ln/>
        </p:spPr>
        <p:txBody>
          <a:bodyPr wrap="square" lIns="0" tIns="0" rIns="0" bIns="0" rtlCol="0" anchor="ctr"/>
          <a:lstStyle/>
          <a:p>
            <a:pPr indent="0" marL="0">
              <a:buNone/>
            </a:pPr>
            <a:r>
              <a:rPr lang="en-US" sz="1200" dirty="0">
                <a:solidFill>
                  <a:srgbClr val="7A8592"/>
                </a:solidFill>
                <a:latin typeface="Calibri" pitchFamily="34" charset="0"/>
                <a:ea typeface="Calibri" pitchFamily="34" charset="-122"/>
                <a:cs typeface="Calibri" pitchFamily="34" charset="-120"/>
              </a:rPr>
              <a:t>Lượt chạy chính thức 18/10/2026 · docs/KET_QUA_TEST_GIUA_KY.md · race-tests/results/giua-ky-race</a:t>
            </a:r>
            <a:endParaRPr lang="en-US" sz="12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7A8592"/>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640080" y="292608"/>
            <a:ext cx="10908792" cy="274320"/>
          </a:xfrm>
          <a:prstGeom prst="rect">
            <a:avLst/>
          </a:prstGeom>
          <a:noFill/>
          <a:ln/>
        </p:spPr>
        <p:txBody>
          <a:bodyPr wrap="square" lIns="0" tIns="0" rIns="0" bIns="0" rtlCol="0" anchor="ctr"/>
          <a:lstStyle/>
          <a:p>
            <a:pPr indent="0" marL="0">
              <a:buNone/>
            </a:pPr>
            <a:r>
              <a:rPr lang="en-US" sz="1300" b="1" spc="200" kern="0" dirty="0">
                <a:solidFill>
                  <a:srgbClr val="B4531A"/>
                </a:solidFill>
                <a:latin typeface="Consolas" pitchFamily="34" charset="0"/>
                <a:ea typeface="Consolas" pitchFamily="34" charset="-122"/>
                <a:cs typeface="Consolas" pitchFamily="34" charset="-120"/>
              </a:rPr>
              <a:t>10 · CHẠY LẠI TRÊN MÁY THỨ HAI</a:t>
            </a:r>
            <a:endParaRPr lang="en-US" sz="1300" dirty="0"/>
          </a:p>
        </p:txBody>
      </p:sp>
      <p:sp>
        <p:nvSpPr>
          <p:cNvPr id="3" name="Text 0"/>
          <p:cNvSpPr/>
          <p:nvPr>
            <p:ph idx="100" type="title" hasCustomPrompt="1"/>
          </p:nvPr>
        </p:nvSpPr>
        <p:spPr>
          <a:xfrm>
            <a:off x="640080" y="640080"/>
            <a:ext cx="10908792" cy="868680"/>
          </a:xfrm>
          <a:prstGeom prst="rect">
            <a:avLst/>
          </a:prstGeom>
          <a:noFill/>
          <a:ln/>
        </p:spPr>
        <p:txBody>
          <a:bodyPr wrap="square" lIns="0" tIns="0" rIns="0" bIns="0" rtlCol="0" anchor="t"/>
          <a:lstStyle/>
          <a:p>
            <a:pPr indent="0" marL="0">
              <a:buNone/>
            </a:pPr>
            <a:r>
              <a:rPr lang="en-US" sz="3400" b="1" dirty="0">
                <a:solidFill>
                  <a:srgbClr val="12202B"/>
                </a:solidFill>
                <a:latin typeface="Calibri" pitchFamily="34" charset="0"/>
                <a:ea typeface="Calibri" pitchFamily="34" charset="-122"/>
                <a:cs typeface="Calibri" pitchFamily="34" charset="-120"/>
              </a:rPr>
              <a:t>Máy Windows cho cùng kết quả: khớp 8/8</a:t>
            </a:r>
            <a:endParaRPr lang="en-US" sz="34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640080" y="1600200"/>
          <a:ext cx="10908792" cy="914400"/>
        </p:xfrm>
        <a:graphic>
          <a:graphicData uri="http://schemas.openxmlformats.org/drawingml/2006/table">
            <a:tbl>
              <a:tblPr/>
              <a:tblGrid>
                <a:gridCol w="3291840"/>
                <a:gridCol w="2103120"/>
                <a:gridCol w="2377440"/>
                <a:gridCol w="2194560"/>
                <a:gridCol w="941832"/>
              </a:tblGrid>
              <a:tr h="502920">
                <a:tc>
                  <a:txBody>
                    <a:bodyPr/>
                    <a:lstStyle/>
                    <a:p>
                      <a:pPr indent="0" marL="0">
                        <a:buNone/>
                      </a:pPr>
                      <a:r>
                        <a:rPr lang="en-US" sz="1500" b="1" dirty="0">
                          <a:solidFill>
                            <a:srgbClr val="12202B"/>
                          </a:solidFill>
                          <a:latin typeface="Calibri" pitchFamily="34" charset="0"/>
                          <a:ea typeface="Calibri" pitchFamily="34" charset="-122"/>
                          <a:cs typeface="Calibri" pitchFamily="34" charset="-120"/>
                        </a:rPr>
                        <a:t>Test case</a:t>
                      </a:r>
                      <a:endParaRPr lang="en-US" sz="15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E6E2D6"/>
                    </a:solidFill>
                  </a:tcPr>
                </a:tc>
                <a:tc>
                  <a:txBody>
                    <a:bodyPr/>
                    <a:lstStyle/>
                    <a:p>
                      <a:pPr indent="0" marL="0">
                        <a:buNone/>
                      </a:pPr>
                      <a:r>
                        <a:rPr lang="en-US" sz="1500" b="1" dirty="0">
                          <a:solidFill>
                            <a:srgbClr val="12202B"/>
                          </a:solidFill>
                          <a:latin typeface="Calibri" pitchFamily="34" charset="0"/>
                          <a:ea typeface="Calibri" pitchFamily="34" charset="-122"/>
                          <a:cs typeface="Calibri" pitchFamily="34" charset="-120"/>
                        </a:rPr>
                        <a:t>Mac: đồng thời</a:t>
                      </a:r>
                      <a:endParaRPr lang="en-US" sz="15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E6E2D6"/>
                    </a:solidFill>
                  </a:tcPr>
                </a:tc>
                <a:tc>
                  <a:txBody>
                    <a:bodyPr/>
                    <a:lstStyle/>
                    <a:p>
                      <a:pPr indent="0" marL="0">
                        <a:buNone/>
                      </a:pPr>
                      <a:r>
                        <a:rPr lang="en-US" sz="1500" b="1" dirty="0">
                          <a:solidFill>
                            <a:srgbClr val="12202B"/>
                          </a:solidFill>
                          <a:latin typeface="Calibri" pitchFamily="34" charset="0"/>
                          <a:ea typeface="Calibri" pitchFamily="34" charset="-122"/>
                          <a:cs typeface="Calibri" pitchFamily="34" charset="-120"/>
                        </a:rPr>
                        <a:t>Windows: đồng thời</a:t>
                      </a:r>
                      <a:endParaRPr lang="en-US" sz="15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E6E2D6"/>
                    </a:solidFill>
                  </a:tcPr>
                </a:tc>
                <a:tc>
                  <a:txBody>
                    <a:bodyPr/>
                    <a:lstStyle/>
                    <a:p>
                      <a:pPr indent="0" marL="0">
                        <a:buNone/>
                      </a:pPr>
                      <a:r>
                        <a:rPr lang="en-US" sz="1500" b="1" dirty="0">
                          <a:solidFill>
                            <a:srgbClr val="12202B"/>
                          </a:solidFill>
                          <a:latin typeface="Calibri" pitchFamily="34" charset="0"/>
                          <a:ea typeface="Calibri" pitchFamily="34" charset="-122"/>
                          <a:cs typeface="Calibri" pitchFamily="34" charset="-120"/>
                        </a:rPr>
                        <a:t>Windows: tuần tự</a:t>
                      </a:r>
                      <a:endParaRPr lang="en-US" sz="15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E6E2D6"/>
                    </a:solidFill>
                  </a:tcPr>
                </a:tc>
                <a:tc>
                  <a:txBody>
                    <a:bodyPr/>
                    <a:lstStyle/>
                    <a:p>
                      <a:pPr indent="0" marL="0">
                        <a:buNone/>
                      </a:pPr>
                      <a:r>
                        <a:rPr lang="en-US" sz="1500" b="1" dirty="0">
                          <a:solidFill>
                            <a:srgbClr val="12202B"/>
                          </a:solidFill>
                          <a:latin typeface="Calibri" pitchFamily="34" charset="0"/>
                          <a:ea typeface="Calibri" pitchFamily="34" charset="-122"/>
                          <a:cs typeface="Calibri" pitchFamily="34" charset="-120"/>
                        </a:rPr>
                        <a:t>Khớp</a:t>
                      </a:r>
                      <a:endParaRPr lang="en-US" sz="15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E6E2D6"/>
                    </a:solidFill>
                  </a:tcPr>
                </a:tc>
              </a:tr>
              <a:tr h="502920">
                <a:tc>
                  <a:txBody>
                    <a:bodyPr/>
                    <a:lstStyle/>
                    <a:p>
                      <a:pPr indent="0" marL="0">
                        <a:buNone/>
                      </a:pPr>
                      <a:r>
                        <a:rPr lang="en-US" sz="1500" dirty="0">
                          <a:solidFill>
                            <a:srgbClr val="12202B"/>
                          </a:solidFill>
                          <a:latin typeface="Calibri" pitchFamily="34" charset="0"/>
                          <a:ea typeface="Calibri" pitchFamily="34" charset="-122"/>
                          <a:cs typeface="Calibri" pitchFamily="34" charset="-120"/>
                        </a:rPr>
                        <a:t>TC-01, TC-04</a:t>
                      </a:r>
                      <a:endParaRPr lang="en-US" sz="15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500" dirty="0">
                          <a:solidFill>
                            <a:srgbClr val="12202B"/>
                          </a:solidFill>
                          <a:latin typeface="Calibri" pitchFamily="34" charset="0"/>
                          <a:ea typeface="Calibri" pitchFamily="34" charset="-122"/>
                          <a:cs typeface="Calibri" pitchFamily="34" charset="-120"/>
                        </a:rPr>
                        <a:t>0/10</a:t>
                      </a:r>
                      <a:endParaRPr lang="en-US" sz="15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500" dirty="0">
                          <a:solidFill>
                            <a:srgbClr val="12202B"/>
                          </a:solidFill>
                          <a:latin typeface="Calibri" pitchFamily="34" charset="0"/>
                          <a:ea typeface="Calibri" pitchFamily="34" charset="-122"/>
                          <a:cs typeface="Calibri" pitchFamily="34" charset="-120"/>
                        </a:rPr>
                        <a:t>0/10</a:t>
                      </a:r>
                      <a:endParaRPr lang="en-US" sz="15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500" dirty="0">
                          <a:solidFill>
                            <a:srgbClr val="12202B"/>
                          </a:solidFill>
                          <a:latin typeface="Calibri" pitchFamily="34" charset="0"/>
                          <a:ea typeface="Calibri" pitchFamily="34" charset="-122"/>
                          <a:cs typeface="Calibri" pitchFamily="34" charset="-120"/>
                        </a:rPr>
                        <a:t>0/10</a:t>
                      </a:r>
                      <a:endParaRPr lang="en-US" sz="15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500" dirty="0">
                          <a:solidFill>
                            <a:srgbClr val="12202B"/>
                          </a:solidFill>
                          <a:latin typeface="Calibri" pitchFamily="34" charset="0"/>
                          <a:ea typeface="Calibri" pitchFamily="34" charset="-122"/>
                          <a:cs typeface="Calibri" pitchFamily="34" charset="-120"/>
                        </a:rPr>
                        <a:t>Có</a:t>
                      </a:r>
                      <a:endParaRPr lang="en-US" sz="15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r>
              <a:tr h="502920">
                <a:tc>
                  <a:txBody>
                    <a:bodyPr/>
                    <a:lstStyle/>
                    <a:p>
                      <a:pPr indent="0" marL="0">
                        <a:buNone/>
                      </a:pPr>
                      <a:r>
                        <a:rPr lang="en-US" sz="1500" dirty="0">
                          <a:solidFill>
                            <a:srgbClr val="12202B"/>
                          </a:solidFill>
                          <a:latin typeface="Calibri" pitchFamily="34" charset="0"/>
                          <a:ea typeface="Calibri" pitchFamily="34" charset="-122"/>
                          <a:cs typeface="Calibri" pitchFamily="34" charset="-120"/>
                        </a:rPr>
                        <a:t>TC-02, 03, 05, 07, 08</a:t>
                      </a:r>
                      <a:endParaRPr lang="en-US" sz="15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500" dirty="0">
                          <a:solidFill>
                            <a:srgbClr val="12202B"/>
                          </a:solidFill>
                          <a:latin typeface="Calibri" pitchFamily="34" charset="0"/>
                          <a:ea typeface="Calibri" pitchFamily="34" charset="-122"/>
                          <a:cs typeface="Calibri" pitchFamily="34" charset="-120"/>
                        </a:rPr>
                        <a:t>10/10</a:t>
                      </a:r>
                      <a:endParaRPr lang="en-US" sz="15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500" dirty="0">
                          <a:solidFill>
                            <a:srgbClr val="12202B"/>
                          </a:solidFill>
                          <a:latin typeface="Calibri" pitchFamily="34" charset="0"/>
                          <a:ea typeface="Calibri" pitchFamily="34" charset="-122"/>
                          <a:cs typeface="Calibri" pitchFamily="34" charset="-120"/>
                        </a:rPr>
                        <a:t>10/10</a:t>
                      </a:r>
                      <a:endParaRPr lang="en-US" sz="15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500" dirty="0">
                          <a:solidFill>
                            <a:srgbClr val="12202B"/>
                          </a:solidFill>
                          <a:latin typeface="Calibri" pitchFamily="34" charset="0"/>
                          <a:ea typeface="Calibri" pitchFamily="34" charset="-122"/>
                          <a:cs typeface="Calibri" pitchFamily="34" charset="-120"/>
                        </a:rPr>
                        <a:t>0/10</a:t>
                      </a:r>
                      <a:endParaRPr lang="en-US" sz="15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500" dirty="0">
                          <a:solidFill>
                            <a:srgbClr val="12202B"/>
                          </a:solidFill>
                          <a:latin typeface="Calibri" pitchFamily="34" charset="0"/>
                          <a:ea typeface="Calibri" pitchFamily="34" charset="-122"/>
                          <a:cs typeface="Calibri" pitchFamily="34" charset="-120"/>
                        </a:rPr>
                        <a:t>Có</a:t>
                      </a:r>
                      <a:endParaRPr lang="en-US" sz="15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r>
              <a:tr h="502920">
                <a:tc>
                  <a:txBody>
                    <a:bodyPr/>
                    <a:lstStyle/>
                    <a:p>
                      <a:pPr indent="0" marL="0">
                        <a:buNone/>
                      </a:pPr>
                      <a:r>
                        <a:rPr lang="en-US" sz="1500" dirty="0">
                          <a:solidFill>
                            <a:srgbClr val="12202B"/>
                          </a:solidFill>
                          <a:latin typeface="Calibri" pitchFamily="34" charset="0"/>
                          <a:ea typeface="Calibri" pitchFamily="34" charset="-122"/>
                          <a:cs typeface="Calibri" pitchFamily="34" charset="-120"/>
                        </a:rPr>
                        <a:t>TC-06</a:t>
                      </a:r>
                      <a:endParaRPr lang="en-US" sz="15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500" dirty="0">
                          <a:solidFill>
                            <a:srgbClr val="12202B"/>
                          </a:solidFill>
                          <a:latin typeface="Calibri" pitchFamily="34" charset="0"/>
                          <a:ea typeface="Calibri" pitchFamily="34" charset="-122"/>
                          <a:cs typeface="Calibri" pitchFamily="34" charset="-120"/>
                        </a:rPr>
                        <a:t>10/10</a:t>
                      </a:r>
                      <a:endParaRPr lang="en-US" sz="15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500" dirty="0">
                          <a:solidFill>
                            <a:srgbClr val="12202B"/>
                          </a:solidFill>
                          <a:latin typeface="Calibri" pitchFamily="34" charset="0"/>
                          <a:ea typeface="Calibri" pitchFamily="34" charset="-122"/>
                          <a:cs typeface="Calibri" pitchFamily="34" charset="-120"/>
                        </a:rPr>
                        <a:t>10/10</a:t>
                      </a:r>
                      <a:endParaRPr lang="en-US" sz="15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500" dirty="0">
                          <a:solidFill>
                            <a:srgbClr val="12202B"/>
                          </a:solidFill>
                          <a:latin typeface="Calibri" pitchFamily="34" charset="0"/>
                          <a:ea typeface="Calibri" pitchFamily="34" charset="-122"/>
                          <a:cs typeface="Calibri" pitchFamily="34" charset="-120"/>
                        </a:rPr>
                        <a:t>10/10</a:t>
                      </a:r>
                      <a:endParaRPr lang="en-US" sz="15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500" dirty="0">
                          <a:solidFill>
                            <a:srgbClr val="12202B"/>
                          </a:solidFill>
                          <a:latin typeface="Calibri" pitchFamily="34" charset="0"/>
                          <a:ea typeface="Calibri" pitchFamily="34" charset="-122"/>
                          <a:cs typeface="Calibri" pitchFamily="34" charset="-120"/>
                        </a:rPr>
                        <a:t>Có</a:t>
                      </a:r>
                      <a:endParaRPr lang="en-US" sz="15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r>
            </a:tbl>
          </a:graphicData>
        </a:graphic>
      </p:graphicFrame>
      <p:sp>
        <p:nvSpPr>
          <p:cNvPr id="5" name="Shape 2"/>
          <p:cNvSpPr/>
          <p:nvPr/>
        </p:nvSpPr>
        <p:spPr>
          <a:xfrm>
            <a:off x="640080" y="3657600"/>
            <a:ext cx="3422904" cy="2011680"/>
          </a:xfrm>
          <a:prstGeom prst="roundRect">
            <a:avLst>
              <a:gd name="adj" fmla="val 5455"/>
            </a:avLst>
          </a:prstGeom>
          <a:solidFill>
            <a:srgbClr val="FBFAF6"/>
          </a:solidFill>
          <a:ln w="12700">
            <a:solidFill>
              <a:srgbClr val="DAD6CC"/>
            </a:solidFill>
            <a:prstDash val="solid"/>
          </a:ln>
        </p:spPr>
      </p:sp>
      <p:sp>
        <p:nvSpPr>
          <p:cNvPr id="6" name="Text 3"/>
          <p:cNvSpPr txBox="1"/>
          <p:nvPr/>
        </p:nvSpPr>
        <p:spPr>
          <a:xfrm>
            <a:off x="914400" y="3840480"/>
            <a:ext cx="2874264" cy="457200"/>
          </a:xfrm>
          <a:prstGeom prst="rect">
            <a:avLst/>
          </a:prstGeom>
          <a:noFill/>
          <a:ln/>
        </p:spPr>
        <p:txBody>
          <a:bodyPr wrap="square" lIns="0" tIns="0" rIns="0" bIns="0" rtlCol="0" anchor="ctr"/>
          <a:lstStyle/>
          <a:p>
            <a:pPr indent="0" marL="0">
              <a:buNone/>
            </a:pPr>
            <a:r>
              <a:rPr lang="en-US" sz="2000" b="1" dirty="0">
                <a:solidFill>
                  <a:srgbClr val="12202B"/>
                </a:solidFill>
                <a:latin typeface="Calibri" pitchFamily="34" charset="0"/>
                <a:ea typeface="Calibri" pitchFamily="34" charset="-122"/>
                <a:cs typeface="Calibri" pitchFamily="34" charset="-120"/>
              </a:rPr>
              <a:t>Thời gian</a:t>
            </a:r>
            <a:endParaRPr lang="en-US" sz="2000" dirty="0"/>
          </a:p>
        </p:txBody>
      </p:sp>
      <p:sp>
        <p:nvSpPr>
          <p:cNvPr id="7" name="Text 4"/>
          <p:cNvSpPr txBox="1"/>
          <p:nvPr/>
        </p:nvSpPr>
        <p:spPr>
          <a:xfrm>
            <a:off x="914400" y="4389120"/>
            <a:ext cx="2874264" cy="1188720"/>
          </a:xfrm>
          <a:prstGeom prst="rect">
            <a:avLst/>
          </a:prstGeom>
          <a:noFill/>
          <a:ln/>
        </p:spPr>
        <p:txBody>
          <a:bodyPr wrap="square" lIns="0" tIns="0" rIns="0" bIns="0" rtlCol="0" anchor="t"/>
          <a:lstStyle/>
          <a:p>
            <a:pPr indent="0" marL="0">
              <a:buNone/>
            </a:pPr>
            <a:r>
              <a:rPr lang="en-US" sz="1500" dirty="0">
                <a:solidFill>
                  <a:srgbClr val="4A5866"/>
                </a:solidFill>
                <a:latin typeface="Calibri" pitchFamily="34" charset="0"/>
                <a:ea typeface="Calibri" pitchFamily="34" charset="-122"/>
                <a:cs typeface="Calibri" pitchFamily="34" charset="-120"/>
              </a:rPr>
              <a:t>Đồng thời 210 giây (Mac 154 giây); tuần tự 43 giây (Mac 23 giây).</a:t>
            </a:r>
            <a:endParaRPr lang="en-US" sz="1500" dirty="0"/>
          </a:p>
        </p:txBody>
      </p:sp>
      <p:sp>
        <p:nvSpPr>
          <p:cNvPr id="8" name="Shape 5"/>
          <p:cNvSpPr/>
          <p:nvPr/>
        </p:nvSpPr>
        <p:spPr>
          <a:xfrm>
            <a:off x="4383024" y="3657600"/>
            <a:ext cx="3422904" cy="2011680"/>
          </a:xfrm>
          <a:prstGeom prst="roundRect">
            <a:avLst>
              <a:gd name="adj" fmla="val 5455"/>
            </a:avLst>
          </a:prstGeom>
          <a:solidFill>
            <a:srgbClr val="FBFAF6"/>
          </a:solidFill>
          <a:ln w="12700">
            <a:solidFill>
              <a:srgbClr val="DAD6CC"/>
            </a:solidFill>
            <a:prstDash val="solid"/>
          </a:ln>
        </p:spPr>
      </p:sp>
      <p:sp>
        <p:nvSpPr>
          <p:cNvPr id="9" name="Text 6"/>
          <p:cNvSpPr txBox="1"/>
          <p:nvPr/>
        </p:nvSpPr>
        <p:spPr>
          <a:xfrm>
            <a:off x="4657344" y="3840480"/>
            <a:ext cx="2874264" cy="457200"/>
          </a:xfrm>
          <a:prstGeom prst="rect">
            <a:avLst/>
          </a:prstGeom>
          <a:noFill/>
          <a:ln/>
        </p:spPr>
        <p:txBody>
          <a:bodyPr wrap="square" lIns="0" tIns="0" rIns="0" bIns="0" rtlCol="0" anchor="ctr"/>
          <a:lstStyle/>
          <a:p>
            <a:pPr indent="0" marL="0">
              <a:buNone/>
            </a:pPr>
            <a:r>
              <a:rPr lang="en-US" sz="2000" b="1" dirty="0">
                <a:solidFill>
                  <a:srgbClr val="12202B"/>
                </a:solidFill>
                <a:latin typeface="Calibri" pitchFamily="34" charset="0"/>
                <a:ea typeface="Calibri" pitchFamily="34" charset="-122"/>
                <a:cs typeface="Calibri" pitchFamily="34" charset="-120"/>
              </a:rPr>
              <a:t>Hai lượt đầu bị loại</a:t>
            </a:r>
            <a:endParaRPr lang="en-US" sz="2000" dirty="0"/>
          </a:p>
        </p:txBody>
      </p:sp>
      <p:sp>
        <p:nvSpPr>
          <p:cNvPr id="10" name="Text 7"/>
          <p:cNvSpPr txBox="1"/>
          <p:nvPr/>
        </p:nvSpPr>
        <p:spPr>
          <a:xfrm>
            <a:off x="4657344" y="4389120"/>
            <a:ext cx="2874264" cy="1188720"/>
          </a:xfrm>
          <a:prstGeom prst="rect">
            <a:avLst/>
          </a:prstGeom>
          <a:noFill/>
          <a:ln/>
        </p:spPr>
        <p:txBody>
          <a:bodyPr wrap="square" lIns="0" tIns="0" rIns="0" bIns="0" rtlCol="0" anchor="t"/>
          <a:lstStyle/>
          <a:p>
            <a:pPr indent="0" marL="0">
              <a:buNone/>
            </a:pPr>
            <a:r>
              <a:rPr lang="en-US" sz="1500" dirty="0">
                <a:solidFill>
                  <a:srgbClr val="4A5866"/>
                </a:solidFill>
                <a:latin typeface="Calibri" pitchFamily="34" charset="0"/>
                <a:ea typeface="Calibri" pitchFamily="34" charset="-122"/>
                <a:cs typeface="Calibri" pitchFamily="34" charset="-120"/>
              </a:rPr>
              <a:t>Thiếu k6 và Cal.com dừng giữa chừng. Chỉ dùng lượt chạy sạch.</a:t>
            </a:r>
            <a:endParaRPr lang="en-US" sz="1500" dirty="0"/>
          </a:p>
        </p:txBody>
      </p:sp>
      <p:sp>
        <p:nvSpPr>
          <p:cNvPr id="11" name="Shape 8"/>
          <p:cNvSpPr/>
          <p:nvPr/>
        </p:nvSpPr>
        <p:spPr>
          <a:xfrm>
            <a:off x="8125968" y="3657600"/>
            <a:ext cx="3422904" cy="2011680"/>
          </a:xfrm>
          <a:prstGeom prst="roundRect">
            <a:avLst>
              <a:gd name="adj" fmla="val 5455"/>
            </a:avLst>
          </a:prstGeom>
          <a:solidFill>
            <a:srgbClr val="FBFAF6"/>
          </a:solidFill>
          <a:ln w="12700">
            <a:solidFill>
              <a:srgbClr val="DAD6CC"/>
            </a:solidFill>
            <a:prstDash val="solid"/>
          </a:ln>
        </p:spPr>
      </p:sp>
      <p:sp>
        <p:nvSpPr>
          <p:cNvPr id="12" name="Text 9"/>
          <p:cNvSpPr txBox="1"/>
          <p:nvPr/>
        </p:nvSpPr>
        <p:spPr>
          <a:xfrm>
            <a:off x="8400288" y="3840480"/>
            <a:ext cx="2874264" cy="457200"/>
          </a:xfrm>
          <a:prstGeom prst="rect">
            <a:avLst/>
          </a:prstGeom>
          <a:noFill/>
          <a:ln/>
        </p:spPr>
        <p:txBody>
          <a:bodyPr wrap="square" lIns="0" tIns="0" rIns="0" bIns="0" rtlCol="0" anchor="ctr"/>
          <a:lstStyle/>
          <a:p>
            <a:pPr indent="0" marL="0">
              <a:buNone/>
            </a:pPr>
            <a:r>
              <a:rPr lang="en-US" sz="2000" b="1" dirty="0">
                <a:solidFill>
                  <a:srgbClr val="12202B"/>
                </a:solidFill>
                <a:latin typeface="Calibri" pitchFamily="34" charset="0"/>
                <a:ea typeface="Calibri" pitchFamily="34" charset="-122"/>
                <a:cs typeface="Calibri" pitchFamily="34" charset="-120"/>
              </a:rPr>
              <a:t>Máy Windows</a:t>
            </a:r>
            <a:endParaRPr lang="en-US" sz="2000" dirty="0"/>
          </a:p>
        </p:txBody>
      </p:sp>
      <p:sp>
        <p:nvSpPr>
          <p:cNvPr id="13" name="Text 10"/>
          <p:cNvSpPr txBox="1"/>
          <p:nvPr/>
        </p:nvSpPr>
        <p:spPr>
          <a:xfrm>
            <a:off x="8400288" y="4389120"/>
            <a:ext cx="2874264" cy="1188720"/>
          </a:xfrm>
          <a:prstGeom prst="rect">
            <a:avLst/>
          </a:prstGeom>
          <a:noFill/>
          <a:ln/>
        </p:spPr>
        <p:txBody>
          <a:bodyPr wrap="square" lIns="0" tIns="0" rIns="0" bIns="0" rtlCol="0" anchor="t"/>
          <a:lstStyle/>
          <a:p>
            <a:pPr indent="0" marL="0">
              <a:buNone/>
            </a:pPr>
            <a:r>
              <a:rPr lang="en-US" sz="1500" dirty="0">
                <a:solidFill>
                  <a:srgbClr val="4A5866"/>
                </a:solidFill>
                <a:latin typeface="Calibri" pitchFamily="34" charset="0"/>
                <a:ea typeface="Calibri" pitchFamily="34" charset="-122"/>
                <a:cs typeface="Calibri" pitchFamily="34" charset="-120"/>
              </a:rPr>
              <a:t>Người test: Ngô Quốc Trường Vĩ. Máy MSI, Core i7-13620H, RAM 16 GB.</a:t>
            </a:r>
            <a:endParaRPr lang="en-US" sz="1500" dirty="0"/>
          </a:p>
        </p:txBody>
      </p:sp>
      <p:sp>
        <p:nvSpPr>
          <p:cNvPr id="14" name="Text 11"/>
          <p:cNvSpPr txBox="1"/>
          <p:nvPr/>
        </p:nvSpPr>
        <p:spPr>
          <a:xfrm>
            <a:off x="640080" y="6355080"/>
            <a:ext cx="10332720" cy="274320"/>
          </a:xfrm>
          <a:prstGeom prst="rect">
            <a:avLst/>
          </a:prstGeom>
          <a:noFill/>
          <a:ln/>
        </p:spPr>
        <p:txBody>
          <a:bodyPr wrap="square" lIns="0" tIns="0" rIns="0" bIns="0" rtlCol="0" anchor="ctr"/>
          <a:lstStyle/>
          <a:p>
            <a:pPr indent="0" marL="0">
              <a:buNone/>
            </a:pPr>
            <a:r>
              <a:rPr lang="en-US" sz="1200" dirty="0">
                <a:solidFill>
                  <a:srgbClr val="7A8592"/>
                </a:solidFill>
                <a:latin typeface="Calibri" pitchFamily="34" charset="0"/>
                <a:ea typeface="Calibri" pitchFamily="34" charset="-122"/>
                <a:cs typeface="Calibri" pitchFamily="34" charset="-120"/>
              </a:rPr>
              <a:t>race-tests/results/windows-race · race-tests/results/windows-sequential</a:t>
            </a:r>
            <a:endParaRPr lang="en-US" sz="12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7A8592"/>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640080" y="292608"/>
            <a:ext cx="10908792" cy="274320"/>
          </a:xfrm>
          <a:prstGeom prst="rect">
            <a:avLst/>
          </a:prstGeom>
          <a:noFill/>
          <a:ln/>
        </p:spPr>
        <p:txBody>
          <a:bodyPr wrap="square" lIns="0" tIns="0" rIns="0" bIns="0" rtlCol="0" anchor="ctr"/>
          <a:lstStyle/>
          <a:p>
            <a:pPr indent="0" marL="0">
              <a:buNone/>
            </a:pPr>
            <a:r>
              <a:rPr lang="en-US" sz="1300" b="1" spc="200" kern="0" dirty="0">
                <a:solidFill>
                  <a:srgbClr val="B4531A"/>
                </a:solidFill>
                <a:latin typeface="Consolas" pitchFamily="34" charset="0"/>
                <a:ea typeface="Consolas" pitchFamily="34" charset="-122"/>
                <a:cs typeface="Consolas" pitchFamily="34" charset="-120"/>
              </a:rPr>
              <a:t>11 · LỖI THẬT, TÁI HIỆN ĐỘC LẬP</a:t>
            </a:r>
            <a:endParaRPr lang="en-US" sz="1300" dirty="0"/>
          </a:p>
        </p:txBody>
      </p:sp>
      <p:sp>
        <p:nvSpPr>
          <p:cNvPr id="3" name="Text 0"/>
          <p:cNvSpPr/>
          <p:nvPr>
            <p:ph idx="100" type="title" hasCustomPrompt="1"/>
          </p:nvPr>
        </p:nvSpPr>
        <p:spPr>
          <a:xfrm>
            <a:off x="640080" y="640080"/>
            <a:ext cx="10908792" cy="868680"/>
          </a:xfrm>
          <a:prstGeom prst="rect">
            <a:avLst/>
          </a:prstGeom>
          <a:noFill/>
          <a:ln/>
        </p:spPr>
        <p:txBody>
          <a:bodyPr wrap="square" lIns="0" tIns="0" rIns="0" bIns="0" rtlCol="0" anchor="t"/>
          <a:lstStyle/>
          <a:p>
            <a:pPr indent="0" marL="0">
              <a:buNone/>
            </a:pPr>
            <a:r>
              <a:rPr lang="en-US" sz="3400" b="1" dirty="0">
                <a:solidFill>
                  <a:srgbClr val="12202B"/>
                </a:solidFill>
                <a:latin typeface="Calibri" pitchFamily="34" charset="0"/>
                <a:ea typeface="Calibri" pitchFamily="34" charset="-122"/>
                <a:cs typeface="Calibri" pitchFamily="34" charset="-120"/>
              </a:rPr>
              <a:t>6 lỗi, đều tái hiện được bằng curl thuần</a:t>
            </a:r>
            <a:endParaRPr lang="en-US" sz="34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640080" y="1600200"/>
          <a:ext cx="10908792" cy="914400"/>
        </p:xfrm>
        <a:graphic>
          <a:graphicData uri="http://schemas.openxmlformats.org/drawingml/2006/table">
            <a:tbl>
              <a:tblPr/>
              <a:tblGrid>
                <a:gridCol w="822960"/>
                <a:gridCol w="5394960"/>
                <a:gridCol w="4690872"/>
              </a:tblGrid>
              <a:tr h="502920">
                <a:tc>
                  <a:txBody>
                    <a:bodyPr/>
                    <a:lstStyle/>
                    <a:p>
                      <a:pPr indent="0" marL="0">
                        <a:buNone/>
                      </a:pPr>
                      <a:r>
                        <a:rPr lang="en-US" sz="1400" b="1" dirty="0">
                          <a:solidFill>
                            <a:srgbClr val="12202B"/>
                          </a:solidFill>
                          <a:latin typeface="Calibri" pitchFamily="34" charset="0"/>
                          <a:ea typeface="Calibri" pitchFamily="34" charset="-122"/>
                          <a:cs typeface="Calibri" pitchFamily="34" charset="-120"/>
                        </a:rPr>
                        <a:t>Lỗi</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E6E2D6"/>
                    </a:solidFill>
                  </a:tcPr>
                </a:tc>
                <a:tc>
                  <a:txBody>
                    <a:bodyPr/>
                    <a:lstStyle/>
                    <a:p>
                      <a:pPr indent="0" marL="0">
                        <a:buNone/>
                      </a:pPr>
                      <a:r>
                        <a:rPr lang="en-US" sz="1400" b="1" dirty="0">
                          <a:solidFill>
                            <a:srgbClr val="12202B"/>
                          </a:solidFill>
                          <a:latin typeface="Calibri" pitchFamily="34" charset="0"/>
                          <a:ea typeface="Calibri" pitchFamily="34" charset="-122"/>
                          <a:cs typeface="Calibri" pitchFamily="34" charset="-120"/>
                        </a:rPr>
                        <a:t>Tái hiện bằng curl (không dùng harness)</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E6E2D6"/>
                    </a:solidFill>
                  </a:tcPr>
                </a:tc>
                <a:tc>
                  <a:txBody>
                    <a:bodyPr/>
                    <a:lstStyle/>
                    <a:p>
                      <a:pPr indent="0" marL="0">
                        <a:buNone/>
                      </a:pPr>
                      <a:r>
                        <a:rPr lang="en-US" sz="1400" b="1" dirty="0">
                          <a:solidFill>
                            <a:srgbClr val="12202B"/>
                          </a:solidFill>
                          <a:latin typeface="Calibri" pitchFamily="34" charset="0"/>
                          <a:ea typeface="Calibri" pitchFamily="34" charset="-122"/>
                          <a:cs typeface="Calibri" pitchFamily="34" charset="-120"/>
                        </a:rPr>
                        <a:t>Dữ liệu trong CSDL</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E6E2D6"/>
                    </a:solidFill>
                  </a:tcPr>
                </a:tc>
              </a:tr>
              <a:tr h="502920">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D1</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2 khách đặt 2 giờ chồng nhau cùng lúc: cả hai 200</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2 booking accepted chồng giờ 09:00–09:30 và 09:15–09:45</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r>
              <a:tr h="502920">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D2</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6 người đặt event 3 ghế: 1×200, 5×409</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Chỉ bán 1/3 ghế dù còn ghế</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r>
              <a:tr h="502920">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D3</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10 người đặt event cần xác nhận: 8×200</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8 booking chờ xác nhận cùng một giờ</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r>
              <a:tr h="502920">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D4</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Đổi lịch liên tiếp một booking gốc 3 lần: cả 3 đều 200</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3 booking accepted từ cùng một gốc (cả khi tuần tự)</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r>
              <a:tr h="502920">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D5</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Hủy và đổi lịch cùng lúc: cả hai 200</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Booking 09:00 đã hủy nhưng vẫn còn booking 11:00</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r>
              <a:tr h="502920">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D6</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8 người đặt 8 giờ, giới hạn 1/ngày: 8×200</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8 booking hiệu lực trong một ngày</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r>
            </a:tbl>
          </a:graphicData>
        </a:graphic>
      </p:graphicFrame>
      <p:sp>
        <p:nvSpPr>
          <p:cNvPr id="5" name="Text 2"/>
          <p:cNvSpPr txBox="1"/>
          <p:nvPr/>
        </p:nvSpPr>
        <p:spPr>
          <a:xfrm>
            <a:off x="640080" y="5394960"/>
            <a:ext cx="10908792" cy="731520"/>
          </a:xfrm>
          <a:prstGeom prst="rect">
            <a:avLst/>
          </a:prstGeom>
          <a:noFill/>
          <a:ln/>
        </p:spPr>
        <p:txBody>
          <a:bodyPr wrap="square" lIns="0" tIns="0" rIns="0" bIns="0" rtlCol="0" anchor="t"/>
          <a:lstStyle/>
          <a:p>
            <a:pPr indent="0" marL="0">
              <a:buNone/>
            </a:pPr>
            <a:r>
              <a:rPr lang="en-US" sz="1600" dirty="0">
                <a:solidFill>
                  <a:srgbClr val="4A5866"/>
                </a:solidFill>
                <a:latin typeface="Calibri" pitchFamily="34" charset="0"/>
                <a:ea typeface="Calibri" pitchFamily="34" charset="-122"/>
                <a:cs typeface="Calibri" pitchFamily="34" charset="-120"/>
              </a:rPr>
              <a:t>Đối chứng: gửi tuần tự hai request chồng giờ thì request thứ hai bị 409. Nhóm chưa báo lỗi cho Cal.com và chưa sửa mã Cal.com.</a:t>
            </a:r>
            <a:endParaRPr lang="en-US" sz="1600" dirty="0"/>
          </a:p>
        </p:txBody>
      </p:sp>
      <p:sp>
        <p:nvSpPr>
          <p:cNvPr id="6" name="Text 3"/>
          <p:cNvSpPr txBox="1"/>
          <p:nvPr/>
        </p:nvSpPr>
        <p:spPr>
          <a:xfrm>
            <a:off x="640080" y="6355080"/>
            <a:ext cx="10332720" cy="274320"/>
          </a:xfrm>
          <a:prstGeom prst="rect">
            <a:avLst/>
          </a:prstGeom>
          <a:noFill/>
          <a:ln/>
        </p:spPr>
        <p:txBody>
          <a:bodyPr wrap="square" lIns="0" tIns="0" rIns="0" bIns="0" rtlCol="0" anchor="ctr"/>
          <a:lstStyle/>
          <a:p>
            <a:pPr indent="0" marL="0">
              <a:buNone/>
            </a:pPr>
            <a:r>
              <a:rPr lang="en-US" sz="1200" dirty="0">
                <a:solidFill>
                  <a:srgbClr val="7A8592"/>
                </a:solidFill>
                <a:latin typeface="Calibri" pitchFamily="34" charset="0"/>
                <a:ea typeface="Calibri" pitchFamily="34" charset="-122"/>
                <a:cs typeface="Calibri" pitchFamily="34" charset="-120"/>
              </a:rPr>
              <a:t>race-tests/repro/repro-curl.sh · docs/evidence/repro-curl.txt · docs/MINH_CHUNG_LOI.md</a:t>
            </a:r>
            <a:endParaRPr lang="en-US" sz="12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7A8592"/>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640080" y="292608"/>
            <a:ext cx="10908792" cy="274320"/>
          </a:xfrm>
          <a:prstGeom prst="rect">
            <a:avLst/>
          </a:prstGeom>
          <a:noFill/>
          <a:ln/>
        </p:spPr>
        <p:txBody>
          <a:bodyPr wrap="square" lIns="0" tIns="0" rIns="0" bIns="0" rtlCol="0" anchor="ctr"/>
          <a:lstStyle/>
          <a:p>
            <a:pPr indent="0" marL="0">
              <a:buNone/>
            </a:pPr>
            <a:r>
              <a:rPr lang="en-US" sz="1300" b="1" spc="200" kern="0" dirty="0">
                <a:solidFill>
                  <a:srgbClr val="E07B39"/>
                </a:solidFill>
                <a:latin typeface="Consolas" pitchFamily="34" charset="0"/>
                <a:ea typeface="Consolas" pitchFamily="34" charset="-122"/>
                <a:cs typeface="Consolas" pitchFamily="34" charset="-120"/>
              </a:rPr>
              <a:t>12 · KẾ HOẠCH TIẾP THEO</a:t>
            </a:r>
            <a:endParaRPr lang="en-US" sz="1300" dirty="0"/>
          </a:p>
        </p:txBody>
      </p:sp>
      <p:sp>
        <p:nvSpPr>
          <p:cNvPr id="3" name="Text 0"/>
          <p:cNvSpPr/>
          <p:nvPr>
            <p:ph idx="100" type="title" hasCustomPrompt="1"/>
          </p:nvPr>
        </p:nvSpPr>
        <p:spPr>
          <a:xfrm>
            <a:off x="640080" y="640080"/>
            <a:ext cx="10908792" cy="868680"/>
          </a:xfrm>
          <a:prstGeom prst="rect">
            <a:avLst/>
          </a:prstGeom>
          <a:noFill/>
          <a:ln/>
        </p:spPr>
        <p:txBody>
          <a:bodyPr wrap="square" lIns="0" tIns="0" rIns="0" bIns="0" rtlCol="0" anchor="t"/>
          <a:lstStyle/>
          <a:p>
            <a:pPr indent="0" marL="0">
              <a:buNone/>
            </a:pPr>
            <a:r>
              <a:rPr lang="en-US" sz="3400" b="1" dirty="0">
                <a:solidFill>
                  <a:srgbClr val="F4F2EC"/>
                </a:solidFill>
                <a:latin typeface="Calibri" pitchFamily="34" charset="0"/>
                <a:ea typeface="Calibri" pitchFamily="34" charset="-122"/>
                <a:cs typeface="Calibri" pitchFamily="34" charset="-120"/>
              </a:rPr>
              <a:t>Từ giữa kỳ đến bảo vệ</a:t>
            </a:r>
            <a:endParaRPr lang="en-US" sz="3400" dirty="0"/>
          </a:p>
        </p:txBody>
      </p:sp>
      <p:sp>
        <p:nvSpPr>
          <p:cNvPr id="4" name="Shape 2"/>
          <p:cNvSpPr/>
          <p:nvPr/>
        </p:nvSpPr>
        <p:spPr>
          <a:xfrm>
            <a:off x="640080" y="1691640"/>
            <a:ext cx="2194560" cy="685800"/>
          </a:xfrm>
          <a:prstGeom prst="roundRect">
            <a:avLst>
              <a:gd name="adj" fmla="val 13333"/>
            </a:avLst>
          </a:prstGeom>
          <a:solidFill>
            <a:srgbClr val="E07B39"/>
          </a:solidFill>
          <a:ln w="12700">
            <a:solidFill>
              <a:srgbClr val="E07B39"/>
            </a:solidFill>
            <a:prstDash val="solid"/>
          </a:ln>
        </p:spPr>
      </p:sp>
      <p:sp>
        <p:nvSpPr>
          <p:cNvPr id="5" name="Text 3"/>
          <p:cNvSpPr txBox="1"/>
          <p:nvPr/>
        </p:nvSpPr>
        <p:spPr>
          <a:xfrm>
            <a:off x="640080" y="1691640"/>
            <a:ext cx="2194560" cy="685800"/>
          </a:xfrm>
          <a:prstGeom prst="rect">
            <a:avLst/>
          </a:prstGeom>
          <a:noFill/>
          <a:ln/>
        </p:spPr>
        <p:txBody>
          <a:bodyPr wrap="square" lIns="0" tIns="0" rIns="0" bIns="0" rtlCol="0" anchor="ctr"/>
          <a:lstStyle/>
          <a:p>
            <a:pPr algn="ctr" indent="0" marL="0">
              <a:buNone/>
            </a:pPr>
            <a:r>
              <a:rPr lang="en-US" sz="1700" b="1" dirty="0">
                <a:solidFill>
                  <a:srgbClr val="12202B"/>
                </a:solidFill>
                <a:latin typeface="Calibri" pitchFamily="34" charset="0"/>
                <a:ea typeface="Calibri" pitchFamily="34" charset="-122"/>
                <a:cs typeface="Calibri" pitchFamily="34" charset="-120"/>
              </a:rPr>
              <a:t>21/10 – 3/11</a:t>
            </a:r>
            <a:endParaRPr lang="en-US" sz="1700" dirty="0"/>
          </a:p>
        </p:txBody>
      </p:sp>
      <p:sp>
        <p:nvSpPr>
          <p:cNvPr id="6" name="Shape 4"/>
          <p:cNvSpPr/>
          <p:nvPr/>
        </p:nvSpPr>
        <p:spPr>
          <a:xfrm>
            <a:off x="3017520" y="1691640"/>
            <a:ext cx="8531352" cy="685800"/>
          </a:xfrm>
          <a:prstGeom prst="roundRect">
            <a:avLst>
              <a:gd name="adj" fmla="val 13333"/>
            </a:avLst>
          </a:prstGeom>
          <a:solidFill>
            <a:srgbClr val="1D3142"/>
          </a:solidFill>
          <a:ln w="12700">
            <a:solidFill>
              <a:srgbClr val="1D3142"/>
            </a:solidFill>
            <a:prstDash val="solid"/>
          </a:ln>
        </p:spPr>
      </p:sp>
      <p:sp>
        <p:nvSpPr>
          <p:cNvPr id="7" name="Text 5"/>
          <p:cNvSpPr txBox="1"/>
          <p:nvPr/>
        </p:nvSpPr>
        <p:spPr>
          <a:xfrm>
            <a:off x="3246120" y="1691640"/>
            <a:ext cx="8074152" cy="685800"/>
          </a:xfrm>
          <a:prstGeom prst="rect">
            <a:avLst/>
          </a:prstGeom>
          <a:noFill/>
          <a:ln/>
        </p:spPr>
        <p:txBody>
          <a:bodyPr wrap="square" lIns="0" tIns="0" rIns="0" bIns="0" rtlCol="0" anchor="ctr"/>
          <a:lstStyle/>
          <a:p>
            <a:pPr indent="0" marL="0">
              <a:buNone/>
            </a:pPr>
            <a:r>
              <a:rPr lang="en-US" sz="1600" dirty="0">
                <a:solidFill>
                  <a:srgbClr val="F4F2EC"/>
                </a:solidFill>
                <a:latin typeface="Calibri" pitchFamily="34" charset="0"/>
                <a:ea typeface="Calibri" pitchFamily="34" charset="-122"/>
                <a:cs typeface="Calibri" pitchFamily="34" charset="-120"/>
              </a:rPr>
              <a:t>Thêm scenario Playwright qua giao diện, hoàn thiện báo cáo</a:t>
            </a:r>
            <a:endParaRPr lang="en-US" sz="1600" dirty="0"/>
          </a:p>
        </p:txBody>
      </p:sp>
      <p:sp>
        <p:nvSpPr>
          <p:cNvPr id="8" name="Shape 6"/>
          <p:cNvSpPr/>
          <p:nvPr/>
        </p:nvSpPr>
        <p:spPr>
          <a:xfrm>
            <a:off x="640080" y="2560320"/>
            <a:ext cx="2194560" cy="685800"/>
          </a:xfrm>
          <a:prstGeom prst="roundRect">
            <a:avLst>
              <a:gd name="adj" fmla="val 13333"/>
            </a:avLst>
          </a:prstGeom>
          <a:solidFill>
            <a:srgbClr val="E07B39"/>
          </a:solidFill>
          <a:ln w="12700">
            <a:solidFill>
              <a:srgbClr val="E07B39"/>
            </a:solidFill>
            <a:prstDash val="solid"/>
          </a:ln>
        </p:spPr>
      </p:sp>
      <p:sp>
        <p:nvSpPr>
          <p:cNvPr id="9" name="Text 7"/>
          <p:cNvSpPr txBox="1"/>
          <p:nvPr/>
        </p:nvSpPr>
        <p:spPr>
          <a:xfrm>
            <a:off x="640080" y="2560320"/>
            <a:ext cx="2194560" cy="685800"/>
          </a:xfrm>
          <a:prstGeom prst="rect">
            <a:avLst/>
          </a:prstGeom>
          <a:noFill/>
          <a:ln/>
        </p:spPr>
        <p:txBody>
          <a:bodyPr wrap="square" lIns="0" tIns="0" rIns="0" bIns="0" rtlCol="0" anchor="ctr"/>
          <a:lstStyle/>
          <a:p>
            <a:pPr algn="ctr" indent="0" marL="0">
              <a:buNone/>
            </a:pPr>
            <a:r>
              <a:rPr lang="en-US" sz="1700" b="1" dirty="0">
                <a:solidFill>
                  <a:srgbClr val="12202B"/>
                </a:solidFill>
                <a:latin typeface="Calibri" pitchFamily="34" charset="0"/>
                <a:ea typeface="Calibri" pitchFamily="34" charset="-122"/>
                <a:cs typeface="Calibri" pitchFamily="34" charset="-120"/>
              </a:rPr>
              <a:t>4/11 – 17/11</a:t>
            </a:r>
            <a:endParaRPr lang="en-US" sz="1700" dirty="0"/>
          </a:p>
        </p:txBody>
      </p:sp>
      <p:sp>
        <p:nvSpPr>
          <p:cNvPr id="10" name="Shape 8"/>
          <p:cNvSpPr/>
          <p:nvPr/>
        </p:nvSpPr>
        <p:spPr>
          <a:xfrm>
            <a:off x="3017520" y="2560320"/>
            <a:ext cx="8531352" cy="685800"/>
          </a:xfrm>
          <a:prstGeom prst="roundRect">
            <a:avLst>
              <a:gd name="adj" fmla="val 13333"/>
            </a:avLst>
          </a:prstGeom>
          <a:solidFill>
            <a:srgbClr val="1D3142"/>
          </a:solidFill>
          <a:ln w="12700">
            <a:solidFill>
              <a:srgbClr val="1D3142"/>
            </a:solidFill>
            <a:prstDash val="solid"/>
          </a:ln>
        </p:spPr>
      </p:sp>
      <p:sp>
        <p:nvSpPr>
          <p:cNvPr id="11" name="Text 9"/>
          <p:cNvSpPr txBox="1"/>
          <p:nvPr/>
        </p:nvSpPr>
        <p:spPr>
          <a:xfrm>
            <a:off x="3246120" y="2560320"/>
            <a:ext cx="8074152" cy="685800"/>
          </a:xfrm>
          <a:prstGeom prst="rect">
            <a:avLst/>
          </a:prstGeom>
          <a:noFill/>
          <a:ln/>
        </p:spPr>
        <p:txBody>
          <a:bodyPr wrap="square" lIns="0" tIns="0" rIns="0" bIns="0" rtlCol="0" anchor="ctr"/>
          <a:lstStyle/>
          <a:p>
            <a:pPr indent="0" marL="0">
              <a:buNone/>
            </a:pPr>
            <a:r>
              <a:rPr lang="en-US" sz="1600" dirty="0">
                <a:solidFill>
                  <a:srgbClr val="F4F2EC"/>
                </a:solidFill>
                <a:latin typeface="Calibri" pitchFamily="34" charset="0"/>
                <a:ea typeface="Calibri" pitchFamily="34" charset="-122"/>
                <a:cs typeface="Calibri" pitchFamily="34" charset="-120"/>
              </a:rPr>
              <a:t>Rà soát nguyên nhân gốc và đề xuất sửa; chuẩn bị báo cáo lỗi D1, D4 cho Cal.com</a:t>
            </a:r>
            <a:endParaRPr lang="en-US" sz="1600" dirty="0"/>
          </a:p>
        </p:txBody>
      </p:sp>
      <p:sp>
        <p:nvSpPr>
          <p:cNvPr id="12" name="Shape 10"/>
          <p:cNvSpPr/>
          <p:nvPr/>
        </p:nvSpPr>
        <p:spPr>
          <a:xfrm>
            <a:off x="640080" y="3429000"/>
            <a:ext cx="2194560" cy="685800"/>
          </a:xfrm>
          <a:prstGeom prst="roundRect">
            <a:avLst>
              <a:gd name="adj" fmla="val 13333"/>
            </a:avLst>
          </a:prstGeom>
          <a:solidFill>
            <a:srgbClr val="E07B39"/>
          </a:solidFill>
          <a:ln w="12700">
            <a:solidFill>
              <a:srgbClr val="E07B39"/>
            </a:solidFill>
            <a:prstDash val="solid"/>
          </a:ln>
        </p:spPr>
      </p:sp>
      <p:sp>
        <p:nvSpPr>
          <p:cNvPr id="13" name="Text 11"/>
          <p:cNvSpPr txBox="1"/>
          <p:nvPr/>
        </p:nvSpPr>
        <p:spPr>
          <a:xfrm>
            <a:off x="640080" y="3429000"/>
            <a:ext cx="2194560" cy="685800"/>
          </a:xfrm>
          <a:prstGeom prst="rect">
            <a:avLst/>
          </a:prstGeom>
          <a:noFill/>
          <a:ln/>
        </p:spPr>
        <p:txBody>
          <a:bodyPr wrap="square" lIns="0" tIns="0" rIns="0" bIns="0" rtlCol="0" anchor="ctr"/>
          <a:lstStyle/>
          <a:p>
            <a:pPr algn="ctr" indent="0" marL="0">
              <a:buNone/>
            </a:pPr>
            <a:r>
              <a:rPr lang="en-US" sz="1700" b="1" dirty="0">
                <a:solidFill>
                  <a:srgbClr val="12202B"/>
                </a:solidFill>
                <a:latin typeface="Calibri" pitchFamily="34" charset="0"/>
                <a:ea typeface="Calibri" pitchFamily="34" charset="-122"/>
                <a:cs typeface="Calibri" pitchFamily="34" charset="-120"/>
              </a:rPr>
              <a:t>18/11 – 30/11</a:t>
            </a:r>
            <a:endParaRPr lang="en-US" sz="1700" dirty="0"/>
          </a:p>
        </p:txBody>
      </p:sp>
      <p:sp>
        <p:nvSpPr>
          <p:cNvPr id="14" name="Shape 12"/>
          <p:cNvSpPr/>
          <p:nvPr/>
        </p:nvSpPr>
        <p:spPr>
          <a:xfrm>
            <a:off x="3017520" y="3429000"/>
            <a:ext cx="8531352" cy="685800"/>
          </a:xfrm>
          <a:prstGeom prst="roundRect">
            <a:avLst>
              <a:gd name="adj" fmla="val 13333"/>
            </a:avLst>
          </a:prstGeom>
          <a:solidFill>
            <a:srgbClr val="1D3142"/>
          </a:solidFill>
          <a:ln w="12700">
            <a:solidFill>
              <a:srgbClr val="1D3142"/>
            </a:solidFill>
            <a:prstDash val="solid"/>
          </a:ln>
        </p:spPr>
      </p:sp>
      <p:sp>
        <p:nvSpPr>
          <p:cNvPr id="15" name="Text 13"/>
          <p:cNvSpPr txBox="1"/>
          <p:nvPr/>
        </p:nvSpPr>
        <p:spPr>
          <a:xfrm>
            <a:off x="3246120" y="3429000"/>
            <a:ext cx="8074152" cy="685800"/>
          </a:xfrm>
          <a:prstGeom prst="rect">
            <a:avLst/>
          </a:prstGeom>
          <a:noFill/>
          <a:ln/>
        </p:spPr>
        <p:txBody>
          <a:bodyPr wrap="square" lIns="0" tIns="0" rIns="0" bIns="0" rtlCol="0" anchor="ctr"/>
          <a:lstStyle/>
          <a:p>
            <a:pPr indent="0" marL="0">
              <a:buNone/>
            </a:pPr>
            <a:r>
              <a:rPr lang="en-US" sz="1600" dirty="0">
                <a:solidFill>
                  <a:srgbClr val="F4F2EC"/>
                </a:solidFill>
                <a:latin typeface="Calibri" pitchFamily="34" charset="0"/>
                <a:ea typeface="Calibri" pitchFamily="34" charset="-122"/>
                <a:cs typeface="Calibri" pitchFamily="34" charset="-120"/>
              </a:rPr>
              <a:t>Hoàn thiện báo cáo A–H, nộp trước bảo vệ 1 tuần</a:t>
            </a:r>
            <a:endParaRPr lang="en-US" sz="1600" dirty="0"/>
          </a:p>
        </p:txBody>
      </p:sp>
      <p:sp>
        <p:nvSpPr>
          <p:cNvPr id="16" name="Shape 14"/>
          <p:cNvSpPr/>
          <p:nvPr/>
        </p:nvSpPr>
        <p:spPr>
          <a:xfrm>
            <a:off x="640080" y="4297680"/>
            <a:ext cx="2194560" cy="685800"/>
          </a:xfrm>
          <a:prstGeom prst="roundRect">
            <a:avLst>
              <a:gd name="adj" fmla="val 13333"/>
            </a:avLst>
          </a:prstGeom>
          <a:solidFill>
            <a:srgbClr val="E07B39"/>
          </a:solidFill>
          <a:ln w="12700">
            <a:solidFill>
              <a:srgbClr val="E07B39"/>
            </a:solidFill>
            <a:prstDash val="solid"/>
          </a:ln>
        </p:spPr>
      </p:sp>
      <p:sp>
        <p:nvSpPr>
          <p:cNvPr id="17" name="Text 15"/>
          <p:cNvSpPr txBox="1"/>
          <p:nvPr/>
        </p:nvSpPr>
        <p:spPr>
          <a:xfrm>
            <a:off x="640080" y="4297680"/>
            <a:ext cx="2194560" cy="685800"/>
          </a:xfrm>
          <a:prstGeom prst="rect">
            <a:avLst/>
          </a:prstGeom>
          <a:noFill/>
          <a:ln/>
        </p:spPr>
        <p:txBody>
          <a:bodyPr wrap="square" lIns="0" tIns="0" rIns="0" bIns="0" rtlCol="0" anchor="ctr"/>
          <a:lstStyle/>
          <a:p>
            <a:pPr algn="ctr" indent="0" marL="0">
              <a:buNone/>
            </a:pPr>
            <a:r>
              <a:rPr lang="en-US" sz="1700" b="1" dirty="0">
                <a:solidFill>
                  <a:srgbClr val="12202B"/>
                </a:solidFill>
                <a:latin typeface="Calibri" pitchFamily="34" charset="0"/>
                <a:ea typeface="Calibri" pitchFamily="34" charset="-122"/>
                <a:cs typeface="Calibri" pitchFamily="34" charset="-120"/>
              </a:rPr>
              <a:t>Tháng 12</a:t>
            </a:r>
            <a:endParaRPr lang="en-US" sz="1700" dirty="0"/>
          </a:p>
        </p:txBody>
      </p:sp>
      <p:sp>
        <p:nvSpPr>
          <p:cNvPr id="18" name="Shape 16"/>
          <p:cNvSpPr/>
          <p:nvPr/>
        </p:nvSpPr>
        <p:spPr>
          <a:xfrm>
            <a:off x="3017520" y="4297680"/>
            <a:ext cx="8531352" cy="685800"/>
          </a:xfrm>
          <a:prstGeom prst="roundRect">
            <a:avLst>
              <a:gd name="adj" fmla="val 13333"/>
            </a:avLst>
          </a:prstGeom>
          <a:solidFill>
            <a:srgbClr val="1D3142"/>
          </a:solidFill>
          <a:ln w="12700">
            <a:solidFill>
              <a:srgbClr val="1D3142"/>
            </a:solidFill>
            <a:prstDash val="solid"/>
          </a:ln>
        </p:spPr>
      </p:sp>
      <p:sp>
        <p:nvSpPr>
          <p:cNvPr id="19" name="Text 17"/>
          <p:cNvSpPr txBox="1"/>
          <p:nvPr/>
        </p:nvSpPr>
        <p:spPr>
          <a:xfrm>
            <a:off x="3246120" y="4297680"/>
            <a:ext cx="8074152" cy="685800"/>
          </a:xfrm>
          <a:prstGeom prst="rect">
            <a:avLst/>
          </a:prstGeom>
          <a:noFill/>
          <a:ln/>
        </p:spPr>
        <p:txBody>
          <a:bodyPr wrap="square" lIns="0" tIns="0" rIns="0" bIns="0" rtlCol="0" anchor="ctr"/>
          <a:lstStyle/>
          <a:p>
            <a:pPr indent="0" marL="0">
              <a:buNone/>
            </a:pPr>
            <a:r>
              <a:rPr lang="en-US" sz="1600" dirty="0">
                <a:solidFill>
                  <a:srgbClr val="F4F2EC"/>
                </a:solidFill>
                <a:latin typeface="Calibri" pitchFamily="34" charset="0"/>
                <a:ea typeface="Calibri" pitchFamily="34" charset="-122"/>
                <a:cs typeface="Calibri" pitchFamily="34" charset="-120"/>
              </a:rPr>
              <a:t>Slide bảo vệ, tập dượt, đánh giá chéo giữa các thành viên</a:t>
            </a:r>
            <a:endParaRPr lang="en-US" sz="1600" dirty="0"/>
          </a:p>
        </p:txBody>
      </p:sp>
      <p:sp>
        <p:nvSpPr>
          <p:cNvPr id="20" name="Text 18"/>
          <p:cNvSpPr txBox="1"/>
          <p:nvPr/>
        </p:nvSpPr>
        <p:spPr>
          <a:xfrm>
            <a:off x="640080" y="5303520"/>
            <a:ext cx="10908792" cy="822960"/>
          </a:xfrm>
          <a:prstGeom prst="rect">
            <a:avLst/>
          </a:prstGeom>
          <a:noFill/>
          <a:ln/>
        </p:spPr>
        <p:txBody>
          <a:bodyPr wrap="square" lIns="0" tIns="0" rIns="0" bIns="0" rtlCol="0" anchor="t"/>
          <a:lstStyle/>
          <a:p>
            <a:pPr indent="0" marL="0">
              <a:buNone/>
            </a:pPr>
            <a:r>
              <a:rPr lang="en-US" sz="1500" dirty="0">
                <a:solidFill>
                  <a:srgbClr val="B8C6D2"/>
                </a:solidFill>
                <a:latin typeface="Calibri" pitchFamily="34" charset="0"/>
                <a:ea typeface="Calibri" pitchFamily="34" charset="-122"/>
                <a:cs typeface="Calibri" pitchFamily="34" charset="-120"/>
              </a:rPr>
              <a:t>Rủi ro: kết quả race có thể khác trên máy khác (báo tỉ lệ, không báo một lần chạy) · máy yếu khi chạy Cal.com + PostgreSQL + k6 (giảm số VU) · thành viên đóng góp không đều (board có người phụ trách, đánh giá chéo hằng tuần).</a:t>
            </a:r>
            <a:endParaRPr lang="en-US" sz="1500" dirty="0"/>
          </a:p>
        </p:txBody>
      </p:sp>
      <p:sp>
        <p:nvSpPr>
          <p:cNvPr id="21" name="Text 19"/>
          <p:cNvSpPr txBox="1"/>
          <p:nvPr/>
        </p:nvSpPr>
        <p:spPr>
          <a:xfrm>
            <a:off x="640080" y="6355080"/>
            <a:ext cx="10332720" cy="274320"/>
          </a:xfrm>
          <a:prstGeom prst="rect">
            <a:avLst/>
          </a:prstGeom>
          <a:noFill/>
          <a:ln/>
        </p:spPr>
        <p:txBody>
          <a:bodyPr wrap="square" lIns="0" tIns="0" rIns="0" bIns="0" rtlCol="0" anchor="ctr"/>
          <a:lstStyle/>
          <a:p>
            <a:pPr indent="0" marL="0">
              <a:buNone/>
            </a:pPr>
            <a:r>
              <a:rPr lang="en-US" sz="1200" dirty="0">
                <a:solidFill>
                  <a:srgbClr val="8C9AA8"/>
                </a:solidFill>
                <a:latin typeface="Calibri" pitchFamily="34" charset="0"/>
                <a:ea typeface="Calibri" pitchFamily="34" charset="-122"/>
                <a:cs typeface="Calibri" pitchFamily="34" charset="-120"/>
              </a:rPr>
              <a:t>Cảm ơn thầy và các bạn. Mời đặt câu hỏi.</a:t>
            </a:r>
            <a:endParaRPr lang="en-US" sz="12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8C9AA8"/>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R05-K15 – Báo cáo giữa kỳ</dc:title>
  <dc:subject>PptxGenJS Presentation</dc:subject>
  <dc:creator>Nhóm R05-K15</dc:creator>
  <cp:lastModifiedBy>Nhóm R05-K15</cp:lastModifiedBy>
  <cp:revision>1</cp:revision>
  <dcterms:created xsi:type="dcterms:W3CDTF">2026-10-19T03:05:12Z</dcterms:created>
  <dcterms:modified xsi:type="dcterms:W3CDTF">2026-10-19T03:05:12Z</dcterms:modified>
</cp:coreProperties>
</file>