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slide tóm tắt nội dung nhóm đã hoàn thành đến thời điểm hiện tại, dùng để trình bày trước lớp. Nhóm đã dựng Cal.com, viết bộ test tự động gửi yêu cầu đồng thời và kiểm tra trực tiếp cơ sở dữ liệu, chạy 20 test case mỗi cái 10 vòng ở hai chế độ, tìm được 11 lỗi thật và tái hiện độc lập bằng curl, và chạy lại cả 20 test case trên máy Windows cho cùng kết luận. Chi phí 0 đồng. Việc còn lại là test qua giao diện, đề xuất sửa và báo lỗi cho Cal.com.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2EC"/>
        </a:solidFill>
      </p:bgPr>
    </p:bg>
    <p:spTree>
      <p:nvGrpSpPr>
        <p:cNvPr id="1" name=""/>
        <p:cNvGrpSpPr/>
        <p:nvPr/>
      </p:nvGrpSpPr>
      <p:grpSpPr>
        <a:xfrm>
          <a:off x="0" y="0"/>
          <a:ext cx="0" cy="0"/>
          <a:chOff x="0" y="0"/>
          <a:chExt cx="0" cy="0"/>
        </a:xfrm>
      </p:grpSpPr>
      <p:sp>
        <p:nvSpPr>
          <p:cNvPr id="2" name="Text 0"/>
          <p:cNvSpPr txBox="1"/>
          <p:nvPr/>
        </p:nvSpPr>
        <p:spPr>
          <a:xfrm>
            <a:off x="548640" y="274320"/>
            <a:ext cx="11091672" cy="274320"/>
          </a:xfrm>
          <a:prstGeom prst="rect">
            <a:avLst/>
          </a:prstGeom>
          <a:noFill/>
          <a:ln/>
        </p:spPr>
        <p:txBody>
          <a:bodyPr wrap="square" lIns="0" tIns="0" rIns="0" bIns="0" rtlCol="0" anchor="ctr"/>
          <a:lstStyle/>
          <a:p>
            <a:pPr indent="0" marL="0">
              <a:buNone/>
            </a:pPr>
            <a:r>
              <a:rPr lang="en-US" sz="1300" b="1" spc="200" kern="0" dirty="0">
                <a:solidFill>
                  <a:srgbClr val="B4531A"/>
                </a:solidFill>
                <a:latin typeface="Consolas" pitchFamily="34" charset="0"/>
                <a:ea typeface="Consolas" pitchFamily="34" charset="-122"/>
                <a:cs typeface="Consolas" pitchFamily="34" charset="-120"/>
              </a:rPr>
              <a:t>NHÓM 14 · R05-K15 · NỘI DUNG ĐÃ HOÀN THÀNH ĐẾN HIỆN TẠI</a:t>
            </a:r>
            <a:endParaRPr lang="en-US" sz="1300" dirty="0"/>
          </a:p>
        </p:txBody>
      </p:sp>
      <p:sp>
        <p:nvSpPr>
          <p:cNvPr id="3" name="Text 1"/>
          <p:cNvSpPr txBox="1"/>
          <p:nvPr/>
        </p:nvSpPr>
        <p:spPr>
          <a:xfrm>
            <a:off x="548640" y="640080"/>
            <a:ext cx="11091672" cy="640080"/>
          </a:xfrm>
          <a:prstGeom prst="rect">
            <a:avLst/>
          </a:prstGeom>
          <a:noFill/>
          <a:ln/>
        </p:spPr>
        <p:txBody>
          <a:bodyPr wrap="square" lIns="0" tIns="0" rIns="0" bIns="0" rtlCol="0" anchor="ctr"/>
          <a:lstStyle/>
          <a:p>
            <a:pPr indent="0" marL="0">
              <a:buNone/>
            </a:pPr>
            <a:r>
              <a:rPr lang="en-US" sz="3000" b="1" dirty="0">
                <a:solidFill>
                  <a:srgbClr val="12202B"/>
                </a:solidFill>
                <a:latin typeface="Calibri" pitchFamily="34" charset="0"/>
                <a:ea typeface="Calibri" pitchFamily="34" charset="-122"/>
                <a:cs typeface="Calibri" pitchFamily="34" charset="-120"/>
              </a:rPr>
              <a:t>Kiểm thử race condition cho Cal.com: 11 lỗi thật qua 20 test case</a:t>
            </a:r>
            <a:endParaRPr lang="en-US" sz="3000" dirty="0"/>
          </a:p>
        </p:txBody>
      </p:sp>
      <p:sp>
        <p:nvSpPr>
          <p:cNvPr id="4" name="Shape 2"/>
          <p:cNvSpPr/>
          <p:nvPr/>
        </p:nvSpPr>
        <p:spPr>
          <a:xfrm>
            <a:off x="548640" y="1463040"/>
            <a:ext cx="5317236" cy="2834640"/>
          </a:xfrm>
          <a:prstGeom prst="roundRect">
            <a:avLst>
              <a:gd name="adj" fmla="val 3226"/>
            </a:avLst>
          </a:prstGeom>
          <a:solidFill>
            <a:srgbClr val="FBFAF6"/>
          </a:solidFill>
          <a:ln w="12700">
            <a:solidFill>
              <a:srgbClr val="DAD6CC"/>
            </a:solidFill>
            <a:prstDash val="solid"/>
          </a:ln>
        </p:spPr>
      </p:sp>
      <p:sp>
        <p:nvSpPr>
          <p:cNvPr id="5" name="Text 3"/>
          <p:cNvSpPr txBox="1"/>
          <p:nvPr/>
        </p:nvSpPr>
        <p:spPr>
          <a:xfrm>
            <a:off x="777240" y="1554480"/>
            <a:ext cx="4860036" cy="365760"/>
          </a:xfrm>
          <a:prstGeom prst="rect">
            <a:avLst/>
          </a:prstGeom>
          <a:noFill/>
          <a:ln/>
        </p:spPr>
        <p:txBody>
          <a:bodyPr wrap="square" lIns="0" tIns="0" rIns="0" bIns="0" rtlCol="0" anchor="ctr"/>
          <a:lstStyle/>
          <a:p>
            <a:pPr indent="0" marL="0">
              <a:buNone/>
            </a:pPr>
            <a:r>
              <a:rPr lang="en-US" sz="1800" b="1" dirty="0">
                <a:solidFill>
                  <a:srgbClr val="2E7D4F"/>
                </a:solidFill>
                <a:latin typeface="Calibri" pitchFamily="34" charset="0"/>
                <a:ea typeface="Calibri" pitchFamily="34" charset="-122"/>
                <a:cs typeface="Calibri" pitchFamily="34" charset="-120"/>
              </a:rPr>
              <a:t>Đã hoàn thành</a:t>
            </a:r>
            <a:endParaRPr lang="en-US" sz="1800" dirty="0"/>
          </a:p>
        </p:txBody>
      </p:sp>
      <p:sp>
        <p:nvSpPr>
          <p:cNvPr id="6" name="Text 4"/>
          <p:cNvSpPr txBox="1"/>
          <p:nvPr/>
        </p:nvSpPr>
        <p:spPr>
          <a:xfrm>
            <a:off x="777240" y="1965960"/>
            <a:ext cx="4860036" cy="228600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4A5866"/>
                </a:solidFill>
                <a:latin typeface="Calibri" pitchFamily="34" charset="0"/>
                <a:ea typeface="Calibri" pitchFamily="34" charset="-122"/>
                <a:cs typeface="Calibri" pitchFamily="34" charset="-120"/>
              </a:rPr>
              <a:t>Dựng Cal.com v6.2.0, chạy 3 luồng đặt, đổi, hủy lịch</a:t>
            </a:r>
            <a:endParaRPr lang="en-US" sz="1500" dirty="0"/>
          </a:p>
          <a:p>
            <a:pPr marL="342900" indent="-342900">
              <a:spcAft>
                <a:spcPts val="500"/>
              </a:spcAft>
              <a:buSzPct val="100000"/>
              <a:buChar char="•"/>
            </a:pPr>
            <a:r>
              <a:rPr lang="en-US" sz="1500" dirty="0">
                <a:solidFill>
                  <a:srgbClr val="4A5866"/>
                </a:solidFill>
                <a:latin typeface="Calibri" pitchFamily="34" charset="0"/>
                <a:ea typeface="Calibri" pitchFamily="34" charset="-122"/>
                <a:cs typeface="Calibri" pitchFamily="34" charset="-120"/>
              </a:rPr>
              <a:t>Bộ test tự động: k6 gửi đồng thời + SQL kiểm CSDL</a:t>
            </a:r>
            <a:endParaRPr lang="en-US" sz="1500" dirty="0"/>
          </a:p>
          <a:p>
            <a:pPr marL="342900" indent="-342900">
              <a:spcAft>
                <a:spcPts val="500"/>
              </a:spcAft>
              <a:buSzPct val="100000"/>
              <a:buChar char="•"/>
            </a:pPr>
            <a:r>
              <a:rPr lang="en-US" sz="1500" dirty="0">
                <a:solidFill>
                  <a:srgbClr val="4A5866"/>
                </a:solidFill>
                <a:latin typeface="Calibri" pitchFamily="34" charset="0"/>
                <a:ea typeface="Calibri" pitchFamily="34" charset="-122"/>
                <a:cs typeface="Calibri" pitchFamily="34" charset="-120"/>
              </a:rPr>
              <a:t>20 test case × 10 vòng, có nhóm đối chứng tuần tự</a:t>
            </a:r>
            <a:endParaRPr lang="en-US" sz="1500" dirty="0"/>
          </a:p>
          <a:p>
            <a:pPr marL="342900" indent="-342900">
              <a:spcAft>
                <a:spcPts val="500"/>
              </a:spcAft>
              <a:buSzPct val="100000"/>
              <a:buChar char="•"/>
            </a:pPr>
            <a:r>
              <a:rPr lang="en-US" sz="1500" dirty="0">
                <a:solidFill>
                  <a:srgbClr val="4A5866"/>
                </a:solidFill>
                <a:latin typeface="Calibri" pitchFamily="34" charset="0"/>
                <a:ea typeface="Calibri" pitchFamily="34" charset="-122"/>
                <a:cs typeface="Calibri" pitchFamily="34" charset="-120"/>
              </a:rPr>
              <a:t>11 lỗi (10 race, 1 logic), tái hiện độc lập bằng curl</a:t>
            </a:r>
            <a:endParaRPr lang="en-US" sz="1500" dirty="0"/>
          </a:p>
          <a:p>
            <a:pPr marL="342900" indent="-342900">
              <a:spcAft>
                <a:spcPts val="500"/>
              </a:spcAft>
              <a:buSzPct val="100000"/>
              <a:buChar char="•"/>
            </a:pPr>
            <a:r>
              <a:rPr lang="en-US" sz="1500" dirty="0">
                <a:solidFill>
                  <a:srgbClr val="4A5866"/>
                </a:solidFill>
                <a:latin typeface="Calibri" pitchFamily="34" charset="0"/>
                <a:ea typeface="Calibri" pitchFamily="34" charset="-122"/>
                <a:cs typeface="Calibri" pitchFamily="34" charset="-120"/>
              </a:rPr>
              <a:t>Đánh giá rủi ro; cả 20 test case khớp 20/20 trên Windows</a:t>
            </a:r>
            <a:endParaRPr lang="en-US" sz="1500" dirty="0"/>
          </a:p>
        </p:txBody>
      </p:sp>
      <p:sp>
        <p:nvSpPr>
          <p:cNvPr id="7" name="Shape 5"/>
          <p:cNvSpPr/>
          <p:nvPr/>
        </p:nvSpPr>
        <p:spPr>
          <a:xfrm>
            <a:off x="6323076" y="1463040"/>
            <a:ext cx="5317236" cy="2834640"/>
          </a:xfrm>
          <a:prstGeom prst="roundRect">
            <a:avLst>
              <a:gd name="adj" fmla="val 3226"/>
            </a:avLst>
          </a:prstGeom>
          <a:solidFill>
            <a:srgbClr val="FBFAF6"/>
          </a:solidFill>
          <a:ln w="12700">
            <a:solidFill>
              <a:srgbClr val="DAD6CC"/>
            </a:solidFill>
            <a:prstDash val="solid"/>
          </a:ln>
        </p:spPr>
      </p:sp>
      <p:sp>
        <p:nvSpPr>
          <p:cNvPr id="8" name="Text 6"/>
          <p:cNvSpPr txBox="1"/>
          <p:nvPr/>
        </p:nvSpPr>
        <p:spPr>
          <a:xfrm>
            <a:off x="6551676" y="1554480"/>
            <a:ext cx="4860036" cy="365760"/>
          </a:xfrm>
          <a:prstGeom prst="rect">
            <a:avLst/>
          </a:prstGeom>
          <a:noFill/>
          <a:ln/>
        </p:spPr>
        <p:txBody>
          <a:bodyPr wrap="square" lIns="0" tIns="0" rIns="0" bIns="0" rtlCol="0" anchor="ctr"/>
          <a:lstStyle/>
          <a:p>
            <a:pPr indent="0" marL="0">
              <a:buNone/>
            </a:pPr>
            <a:r>
              <a:rPr lang="en-US" sz="1800" b="1" dirty="0">
                <a:solidFill>
                  <a:srgbClr val="2558B8"/>
                </a:solidFill>
                <a:latin typeface="Calibri" pitchFamily="34" charset="0"/>
                <a:ea typeface="Calibri" pitchFamily="34" charset="-122"/>
                <a:cs typeface="Calibri" pitchFamily="34" charset="-120"/>
              </a:rPr>
              <a:t>Kết quả chính</a:t>
            </a:r>
            <a:endParaRPr lang="en-US"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551676" y="2011680"/>
          <a:ext cx="4860036" cy="914400"/>
        </p:xfrm>
        <a:graphic>
          <a:graphicData uri="http://schemas.openxmlformats.org/drawingml/2006/table">
            <a:tbl>
              <a:tblPr/>
              <a:tblGrid>
                <a:gridCol w="1737360"/>
                <a:gridCol w="868680"/>
                <a:gridCol w="777240"/>
                <a:gridCol w="1476756"/>
              </a:tblGrid>
              <a:tr h="347472">
                <a:tc>
                  <a:txBody>
                    <a:bodyPr/>
                    <a:lstStyle/>
                    <a:p>
                      <a:pPr indent="0" marL="0">
                        <a:buNone/>
                      </a:pPr>
                      <a:r>
                        <a:rPr lang="en-US" sz="1300" b="1" dirty="0">
                          <a:solidFill>
                            <a:srgbClr val="12202B"/>
                          </a:solidFill>
                          <a:latin typeface="Calibri" pitchFamily="34" charset="0"/>
                          <a:ea typeface="Calibri" pitchFamily="34" charset="-122"/>
                          <a:cs typeface="Calibri" pitchFamily="34" charset="-120"/>
                        </a:rPr>
                        <a:t>Test case</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300" b="1" dirty="0">
                          <a:solidFill>
                            <a:srgbClr val="12202B"/>
                          </a:solidFill>
                          <a:latin typeface="Calibri" pitchFamily="34" charset="0"/>
                          <a:ea typeface="Calibri" pitchFamily="34" charset="-122"/>
                          <a:cs typeface="Calibri" pitchFamily="34" charset="-120"/>
                        </a:rPr>
                        <a:t>Đồng thời</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300" b="1" dirty="0">
                          <a:solidFill>
                            <a:srgbClr val="12202B"/>
                          </a:solidFill>
                          <a:latin typeface="Calibri" pitchFamily="34" charset="0"/>
                          <a:ea typeface="Calibri" pitchFamily="34" charset="-122"/>
                          <a:cs typeface="Calibri" pitchFamily="34" charset="-120"/>
                        </a:rPr>
                        <a:t>Tuần tự</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c>
                  <a:txBody>
                    <a:bodyPr/>
                    <a:lstStyle/>
                    <a:p>
                      <a:pPr indent="0" marL="0">
                        <a:buNone/>
                      </a:pPr>
                      <a:r>
                        <a:rPr lang="en-US" sz="1300" b="1" dirty="0">
                          <a:solidFill>
                            <a:srgbClr val="12202B"/>
                          </a:solidFill>
                          <a:latin typeface="Calibri" pitchFamily="34" charset="0"/>
                          <a:ea typeface="Calibri" pitchFamily="34" charset="-122"/>
                          <a:cs typeface="Calibri" pitchFamily="34" charset="-120"/>
                        </a:rPr>
                        <a:t>Kết luận</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E6E2D6"/>
                    </a:solidFill>
                  </a:tcPr>
                </a:tc>
              </a:tr>
              <a:tr h="347472">
                <a:tc>
                  <a:txBody>
                    <a:bodyPr/>
                    <a:lstStyle/>
                    <a:p>
                      <a:pPr indent="0" marL="0">
                        <a:buNone/>
                      </a:pPr>
                      <a:r>
                        <a:rPr lang="en-US" sz="1300" dirty="0">
                          <a:solidFill>
                            <a:srgbClr val="12202B"/>
                          </a:solidFill>
                          <a:latin typeface="Calibri" pitchFamily="34" charset="0"/>
                          <a:ea typeface="Calibri" pitchFamily="34" charset="-122"/>
                          <a:cs typeface="Calibri" pitchFamily="34" charset="-120"/>
                        </a:rPr>
                        <a:t>7 TC (01, 04, 09, 10, 18, 19, 20)</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300" dirty="0">
                          <a:solidFill>
                            <a:srgbClr val="12202B"/>
                          </a:solidFill>
                          <a:latin typeface="Calibri" pitchFamily="34" charset="0"/>
                          <a:ea typeface="Calibri" pitchFamily="34" charset="-122"/>
                          <a:cs typeface="Calibri" pitchFamily="34" charset="-120"/>
                        </a:rPr>
                        <a:t>0/10</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300" dirty="0">
                          <a:solidFill>
                            <a:srgbClr val="12202B"/>
                          </a:solidFill>
                          <a:latin typeface="Calibri" pitchFamily="34" charset="0"/>
                          <a:ea typeface="Calibri" pitchFamily="34" charset="-122"/>
                          <a:cs typeface="Calibri" pitchFamily="34" charset="-120"/>
                        </a:rPr>
                        <a:t>0/10</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c>
                  <a:txBody>
                    <a:bodyPr/>
                    <a:lstStyle/>
                    <a:p>
                      <a:pPr indent="0" marL="0">
                        <a:buNone/>
                      </a:pPr>
                      <a:r>
                        <a:rPr lang="en-US" sz="1300" dirty="0">
                          <a:solidFill>
                            <a:srgbClr val="12202B"/>
                          </a:solidFill>
                          <a:latin typeface="Calibri" pitchFamily="34" charset="0"/>
                          <a:ea typeface="Calibri" pitchFamily="34" charset="-122"/>
                          <a:cs typeface="Calibri" pitchFamily="34" charset="-120"/>
                        </a:rPr>
                        <a:t>Đúng</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FFFFF"/>
                    </a:solidFill>
                  </a:tcPr>
                </a:tc>
              </a:tr>
              <a:tr h="347472">
                <a:tc>
                  <a:txBody>
                    <a:bodyPr/>
                    <a:lstStyle/>
                    <a:p>
                      <a:pPr indent="0" marL="0">
                        <a:buNone/>
                      </a:pPr>
                      <a:r>
                        <a:rPr lang="en-US" sz="1300" dirty="0">
                          <a:solidFill>
                            <a:srgbClr val="12202B"/>
                          </a:solidFill>
                          <a:latin typeface="Calibri" pitchFamily="34" charset="0"/>
                          <a:ea typeface="Calibri" pitchFamily="34" charset="-122"/>
                          <a:cs typeface="Calibri" pitchFamily="34" charset="-120"/>
                        </a:rPr>
                        <a:t>12 TC (02, 03, 05, 07, 08, 11–17)</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300" b="1" dirty="0">
                          <a:solidFill>
                            <a:srgbClr val="12202B"/>
                          </a:solidFill>
                          <a:latin typeface="Calibri" pitchFamily="34" charset="0"/>
                          <a:ea typeface="Calibri" pitchFamily="34" charset="-122"/>
                          <a:cs typeface="Calibri" pitchFamily="34" charset="-120"/>
                        </a:rPr>
                        <a:t>10/10</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300" dirty="0">
                          <a:solidFill>
                            <a:srgbClr val="12202B"/>
                          </a:solidFill>
                          <a:latin typeface="Calibri" pitchFamily="34" charset="0"/>
                          <a:ea typeface="Calibri" pitchFamily="34" charset="-122"/>
                          <a:cs typeface="Calibri" pitchFamily="34" charset="-120"/>
                        </a:rPr>
                        <a:t>0/10</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c>
                  <a:txBody>
                    <a:bodyPr/>
                    <a:lstStyle/>
                    <a:p>
                      <a:pPr indent="0" marL="0">
                        <a:buNone/>
                      </a:pPr>
                      <a:r>
                        <a:rPr lang="en-US" sz="1300" dirty="0">
                          <a:solidFill>
                            <a:srgbClr val="12202B"/>
                          </a:solidFill>
                          <a:latin typeface="Calibri" pitchFamily="34" charset="0"/>
                          <a:ea typeface="Calibri" pitchFamily="34" charset="-122"/>
                          <a:cs typeface="Calibri" pitchFamily="34" charset="-120"/>
                        </a:rPr>
                        <a:t>Lỗi race</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F6E2D3"/>
                    </a:solidFill>
                  </a:tcPr>
                </a:tc>
              </a:tr>
              <a:tr h="347472">
                <a:tc>
                  <a:txBody>
                    <a:bodyPr/>
                    <a:lstStyle/>
                    <a:p>
                      <a:pPr indent="0" marL="0">
                        <a:buNone/>
                      </a:pPr>
                      <a:r>
                        <a:rPr lang="en-US" sz="1300" dirty="0">
                          <a:solidFill>
                            <a:srgbClr val="12202B"/>
                          </a:solidFill>
                          <a:latin typeface="Calibri" pitchFamily="34" charset="0"/>
                          <a:ea typeface="Calibri" pitchFamily="34" charset="-122"/>
                          <a:cs typeface="Calibri" pitchFamily="34" charset="-120"/>
                        </a:rPr>
                        <a:t>TC-06</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DCE5F4"/>
                    </a:solidFill>
                  </a:tcPr>
                </a:tc>
                <a:tc>
                  <a:txBody>
                    <a:bodyPr/>
                    <a:lstStyle/>
                    <a:p>
                      <a:pPr indent="0" marL="0">
                        <a:buNone/>
                      </a:pPr>
                      <a:r>
                        <a:rPr lang="en-US" sz="1300" b="1" dirty="0">
                          <a:solidFill>
                            <a:srgbClr val="12202B"/>
                          </a:solidFill>
                          <a:latin typeface="Calibri" pitchFamily="34" charset="0"/>
                          <a:ea typeface="Calibri" pitchFamily="34" charset="-122"/>
                          <a:cs typeface="Calibri" pitchFamily="34" charset="-120"/>
                        </a:rPr>
                        <a:t>10/10</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DCE5F4"/>
                    </a:solidFill>
                  </a:tcPr>
                </a:tc>
                <a:tc>
                  <a:txBody>
                    <a:bodyPr/>
                    <a:lstStyle/>
                    <a:p>
                      <a:pPr indent="0" marL="0">
                        <a:buNone/>
                      </a:pPr>
                      <a:r>
                        <a:rPr lang="en-US" sz="1300" b="1" dirty="0">
                          <a:solidFill>
                            <a:srgbClr val="12202B"/>
                          </a:solidFill>
                          <a:latin typeface="Calibri" pitchFamily="34" charset="0"/>
                          <a:ea typeface="Calibri" pitchFamily="34" charset="-122"/>
                          <a:cs typeface="Calibri" pitchFamily="34" charset="-120"/>
                        </a:rPr>
                        <a:t>10/10</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DCE5F4"/>
                    </a:solidFill>
                  </a:tcPr>
                </a:tc>
                <a:tc>
                  <a:txBody>
                    <a:bodyPr/>
                    <a:lstStyle/>
                    <a:p>
                      <a:pPr indent="0" marL="0">
                        <a:buNone/>
                      </a:pPr>
                      <a:r>
                        <a:rPr lang="en-US" sz="1300" dirty="0">
                          <a:solidFill>
                            <a:srgbClr val="12202B"/>
                          </a:solidFill>
                          <a:latin typeface="Calibri" pitchFamily="34" charset="0"/>
                          <a:ea typeface="Calibri" pitchFamily="34" charset="-122"/>
                          <a:cs typeface="Calibri" pitchFamily="34" charset="-120"/>
                        </a:rPr>
                        <a:t>Lỗi logic</a:t>
                      </a:r>
                      <a:endParaRPr lang="en-US" sz="1300" dirty="0">
                        <a:latin typeface="Calibri" charset="0"/>
                        <a:ea typeface="Calibri" charset="0"/>
                        <a:cs typeface="Calibri" charset="0"/>
                      </a:endParaRPr>
                    </a:p>
                  </a:txBody>
                  <a:tcPr marL="73152" marR="73152" marT="27432" marB="27432" anchor="ctr">
                    <a:lnL w="9525" cap="flat" cmpd="sng" algn="ctr">
                      <a:solidFill>
                        <a:srgbClr val="DAD6CC"/>
                      </a:solidFill>
                      <a:prstDash val="solid"/>
                      <a:round/>
                      <a:headEnd type="none" w="med" len="med"/>
                      <a:tailEnd type="none" w="med" len="med"/>
                    </a:lnL>
                    <a:lnR w="9525" cap="flat" cmpd="sng" algn="ctr">
                      <a:solidFill>
                        <a:srgbClr val="DAD6CC"/>
                      </a:solidFill>
                      <a:prstDash val="solid"/>
                      <a:round/>
                      <a:headEnd type="none" w="med" len="med"/>
                      <a:tailEnd type="none" w="med" len="med"/>
                    </a:lnR>
                    <a:lnT w="9525" cap="flat" cmpd="sng" algn="ctr">
                      <a:solidFill>
                        <a:srgbClr val="DAD6CC"/>
                      </a:solidFill>
                      <a:prstDash val="solid"/>
                      <a:round/>
                      <a:headEnd type="none" w="med" len="med"/>
                      <a:tailEnd type="none" w="med" len="med"/>
                    </a:lnT>
                    <a:lnB w="9525" cap="flat" cmpd="sng" algn="ctr">
                      <a:solidFill>
                        <a:srgbClr val="DAD6CC"/>
                      </a:solidFill>
                      <a:prstDash val="solid"/>
                      <a:round/>
                      <a:headEnd type="none" w="med" len="med"/>
                      <a:tailEnd type="none" w="med" len="med"/>
                    </a:lnB>
                    <a:solidFill>
                      <a:srgbClr val="DCE5F4"/>
                    </a:solidFill>
                  </a:tcPr>
                </a:tc>
              </a:tr>
            </a:tbl>
          </a:graphicData>
        </a:graphic>
      </p:graphicFrame>
      <p:sp>
        <p:nvSpPr>
          <p:cNvPr id="10" name="Text 7"/>
          <p:cNvSpPr txBox="1"/>
          <p:nvPr/>
        </p:nvSpPr>
        <p:spPr>
          <a:xfrm>
            <a:off x="6551676" y="3520440"/>
            <a:ext cx="4860036" cy="640080"/>
          </a:xfrm>
          <a:prstGeom prst="rect">
            <a:avLst/>
          </a:prstGeom>
          <a:noFill/>
          <a:ln/>
        </p:spPr>
        <p:txBody>
          <a:bodyPr wrap="square" lIns="0" tIns="0" rIns="0" bIns="0" rtlCol="0" anchor="t"/>
          <a:lstStyle/>
          <a:p>
            <a:pPr indent="0" marL="0">
              <a:buNone/>
            </a:pPr>
            <a:r>
              <a:rPr lang="en-US" sz="1400" dirty="0">
                <a:solidFill>
                  <a:srgbClr val="4A5866"/>
                </a:solidFill>
                <a:latin typeface="Calibri" pitchFamily="34" charset="0"/>
                <a:ea typeface="Calibri" pitchFamily="34" charset="-122"/>
                <a:cs typeface="Calibri" pitchFamily="34" charset="-120"/>
              </a:rPr>
              <a:t>Mã HTTP đều 200 nhưng CSDL sai; chỉ cần 2 yêu cầu đồng thời. Nặng nhất: D1 chồng giờ, D6 vượt giới hạn.</a:t>
            </a:r>
            <a:endParaRPr lang="en-US" sz="1400" dirty="0"/>
          </a:p>
        </p:txBody>
      </p:sp>
      <p:sp>
        <p:nvSpPr>
          <p:cNvPr id="11" name="Shape 8"/>
          <p:cNvSpPr/>
          <p:nvPr/>
        </p:nvSpPr>
        <p:spPr>
          <a:xfrm>
            <a:off x="548640" y="4526280"/>
            <a:ext cx="3392424" cy="1691640"/>
          </a:xfrm>
          <a:prstGeom prst="roundRect">
            <a:avLst>
              <a:gd name="adj" fmla="val 5405"/>
            </a:avLst>
          </a:prstGeom>
          <a:solidFill>
            <a:srgbClr val="FBFAF6"/>
          </a:solidFill>
          <a:ln w="12700">
            <a:solidFill>
              <a:srgbClr val="DAD6CC"/>
            </a:solidFill>
            <a:prstDash val="solid"/>
          </a:ln>
        </p:spPr>
      </p:sp>
      <p:sp>
        <p:nvSpPr>
          <p:cNvPr id="12" name="Text 9"/>
          <p:cNvSpPr txBox="1"/>
          <p:nvPr/>
        </p:nvSpPr>
        <p:spPr>
          <a:xfrm>
            <a:off x="731520" y="4599432"/>
            <a:ext cx="3026664" cy="320040"/>
          </a:xfrm>
          <a:prstGeom prst="rect">
            <a:avLst/>
          </a:prstGeom>
          <a:noFill/>
          <a:ln/>
        </p:spPr>
        <p:txBody>
          <a:bodyPr wrap="square" lIns="0" tIns="0" rIns="0" bIns="0" rtlCol="0" anchor="ctr"/>
          <a:lstStyle/>
          <a:p>
            <a:pPr indent="0" marL="0">
              <a:buNone/>
            </a:pPr>
            <a:r>
              <a:rPr lang="en-US" sz="1600" b="1" dirty="0">
                <a:solidFill>
                  <a:srgbClr val="12202B"/>
                </a:solidFill>
                <a:latin typeface="Calibri" pitchFamily="34" charset="0"/>
                <a:ea typeface="Calibri" pitchFamily="34" charset="-122"/>
                <a:cs typeface="Calibri" pitchFamily="34" charset="-120"/>
              </a:rPr>
              <a:t>Chi phí</a:t>
            </a:r>
            <a:endParaRPr lang="en-US" sz="1600" dirty="0"/>
          </a:p>
        </p:txBody>
      </p:sp>
      <p:sp>
        <p:nvSpPr>
          <p:cNvPr id="13" name="Text 10"/>
          <p:cNvSpPr txBox="1"/>
          <p:nvPr/>
        </p:nvSpPr>
        <p:spPr>
          <a:xfrm>
            <a:off x="731520" y="4983480"/>
            <a:ext cx="3026664" cy="1188720"/>
          </a:xfrm>
          <a:prstGeom prst="rect">
            <a:avLst/>
          </a:prstGeom>
          <a:noFill/>
          <a:ln/>
        </p:spPr>
        <p:txBody>
          <a:bodyPr wrap="square" lIns="0" tIns="0" rIns="0" bIns="0" rtlCol="0" anchor="t"/>
          <a:lstStyle/>
          <a:p>
            <a:pPr indent="0" marL="0">
              <a:buNone/>
            </a:pPr>
            <a:r>
              <a:rPr lang="en-US" sz="1400" dirty="0">
                <a:solidFill>
                  <a:srgbClr val="4A5866"/>
                </a:solidFill>
                <a:latin typeface="Calibri" pitchFamily="34" charset="0"/>
                <a:ea typeface="Calibri" pitchFamily="34" charset="-122"/>
                <a:cs typeface="Calibri" pitchFamily="34" charset="-120"/>
              </a:rPr>
              <a:t>0 đồng · 20 test case chạy lại khoảng 8 phút máy · bộ test khoảng 1 600 dòng mã</a:t>
            </a:r>
            <a:endParaRPr lang="en-US" sz="1400" dirty="0"/>
          </a:p>
        </p:txBody>
      </p:sp>
      <p:sp>
        <p:nvSpPr>
          <p:cNvPr id="14" name="Shape 11"/>
          <p:cNvSpPr/>
          <p:nvPr/>
        </p:nvSpPr>
        <p:spPr>
          <a:xfrm>
            <a:off x="4398264" y="4526280"/>
            <a:ext cx="3392424" cy="1691640"/>
          </a:xfrm>
          <a:prstGeom prst="roundRect">
            <a:avLst>
              <a:gd name="adj" fmla="val 5405"/>
            </a:avLst>
          </a:prstGeom>
          <a:solidFill>
            <a:srgbClr val="FBFAF6"/>
          </a:solidFill>
          <a:ln w="12700">
            <a:solidFill>
              <a:srgbClr val="DAD6CC"/>
            </a:solidFill>
            <a:prstDash val="solid"/>
          </a:ln>
        </p:spPr>
      </p:sp>
      <p:sp>
        <p:nvSpPr>
          <p:cNvPr id="15" name="Text 12"/>
          <p:cNvSpPr txBox="1"/>
          <p:nvPr/>
        </p:nvSpPr>
        <p:spPr>
          <a:xfrm>
            <a:off x="4581144" y="4599432"/>
            <a:ext cx="3026664" cy="320040"/>
          </a:xfrm>
          <a:prstGeom prst="rect">
            <a:avLst/>
          </a:prstGeom>
          <a:noFill/>
          <a:ln/>
        </p:spPr>
        <p:txBody>
          <a:bodyPr wrap="square" lIns="0" tIns="0" rIns="0" bIns="0" rtlCol="0" anchor="ctr"/>
          <a:lstStyle/>
          <a:p>
            <a:pPr indent="0" marL="0">
              <a:buNone/>
            </a:pPr>
            <a:r>
              <a:rPr lang="en-US" sz="1600" b="1" dirty="0">
                <a:solidFill>
                  <a:srgbClr val="12202B"/>
                </a:solidFill>
                <a:latin typeface="Calibri" pitchFamily="34" charset="0"/>
                <a:ea typeface="Calibri" pitchFamily="34" charset="-122"/>
                <a:cs typeface="Calibri" pitchFamily="34" charset="-120"/>
              </a:rPr>
              <a:t>Còn lại</a:t>
            </a:r>
            <a:endParaRPr lang="en-US" sz="1600" dirty="0"/>
          </a:p>
        </p:txBody>
      </p:sp>
      <p:sp>
        <p:nvSpPr>
          <p:cNvPr id="16" name="Text 13"/>
          <p:cNvSpPr txBox="1"/>
          <p:nvPr/>
        </p:nvSpPr>
        <p:spPr>
          <a:xfrm>
            <a:off x="4581144" y="4983480"/>
            <a:ext cx="3026664" cy="1188720"/>
          </a:xfrm>
          <a:prstGeom prst="rect">
            <a:avLst/>
          </a:prstGeom>
          <a:noFill/>
          <a:ln/>
        </p:spPr>
        <p:txBody>
          <a:bodyPr wrap="square" lIns="0" tIns="0" rIns="0" bIns="0" rtlCol="0" anchor="t"/>
          <a:lstStyle/>
          <a:p>
            <a:pPr indent="0" marL="0">
              <a:buNone/>
            </a:pPr>
            <a:r>
              <a:rPr lang="en-US" sz="1400" dirty="0">
                <a:solidFill>
                  <a:srgbClr val="4A5866"/>
                </a:solidFill>
                <a:latin typeface="Calibri" pitchFamily="34" charset="0"/>
                <a:ea typeface="Calibri" pitchFamily="34" charset="-122"/>
                <a:cs typeface="Calibri" pitchFamily="34" charset="-120"/>
              </a:rPr>
              <a:t>Test qua giao diện (Playwright), đề xuất sửa D1 và D4, báo lỗi cho Cal.com, hoàn thiện báo cáo</a:t>
            </a:r>
            <a:endParaRPr lang="en-US" sz="1400" dirty="0"/>
          </a:p>
        </p:txBody>
      </p:sp>
      <p:sp>
        <p:nvSpPr>
          <p:cNvPr id="17" name="Shape 14"/>
          <p:cNvSpPr/>
          <p:nvPr/>
        </p:nvSpPr>
        <p:spPr>
          <a:xfrm>
            <a:off x="8247888" y="4526280"/>
            <a:ext cx="3392424" cy="1691640"/>
          </a:xfrm>
          <a:prstGeom prst="roundRect">
            <a:avLst>
              <a:gd name="adj" fmla="val 5405"/>
            </a:avLst>
          </a:prstGeom>
          <a:solidFill>
            <a:srgbClr val="FBFAF6"/>
          </a:solidFill>
          <a:ln w="12700">
            <a:solidFill>
              <a:srgbClr val="DAD6CC"/>
            </a:solidFill>
            <a:prstDash val="solid"/>
          </a:ln>
        </p:spPr>
      </p:sp>
      <p:sp>
        <p:nvSpPr>
          <p:cNvPr id="18" name="Text 15"/>
          <p:cNvSpPr txBox="1"/>
          <p:nvPr/>
        </p:nvSpPr>
        <p:spPr>
          <a:xfrm>
            <a:off x="8430768" y="4599432"/>
            <a:ext cx="3026664" cy="320040"/>
          </a:xfrm>
          <a:prstGeom prst="rect">
            <a:avLst/>
          </a:prstGeom>
          <a:noFill/>
          <a:ln/>
        </p:spPr>
        <p:txBody>
          <a:bodyPr wrap="square" lIns="0" tIns="0" rIns="0" bIns="0" rtlCol="0" anchor="ctr"/>
          <a:lstStyle/>
          <a:p>
            <a:pPr indent="0" marL="0">
              <a:buNone/>
            </a:pPr>
            <a:r>
              <a:rPr lang="en-US" sz="1600" b="1" dirty="0">
                <a:solidFill>
                  <a:srgbClr val="12202B"/>
                </a:solidFill>
                <a:latin typeface="Calibri" pitchFamily="34" charset="0"/>
                <a:ea typeface="Calibri" pitchFamily="34" charset="-122"/>
                <a:cs typeface="Calibri" pitchFamily="34" charset="-120"/>
              </a:rPr>
              <a:t>Đóng góp</a:t>
            </a:r>
            <a:endParaRPr lang="en-US" sz="1600" dirty="0"/>
          </a:p>
        </p:txBody>
      </p:sp>
      <p:sp>
        <p:nvSpPr>
          <p:cNvPr id="19" name="Text 16"/>
          <p:cNvSpPr txBox="1"/>
          <p:nvPr/>
        </p:nvSpPr>
        <p:spPr>
          <a:xfrm>
            <a:off x="8430768" y="4983480"/>
            <a:ext cx="3026664" cy="1188720"/>
          </a:xfrm>
          <a:prstGeom prst="rect">
            <a:avLst/>
          </a:prstGeom>
          <a:noFill/>
          <a:ln/>
        </p:spPr>
        <p:txBody>
          <a:bodyPr wrap="square" lIns="0" tIns="0" rIns="0" bIns="0" rtlCol="0" anchor="t"/>
          <a:lstStyle/>
          <a:p>
            <a:pPr indent="0" marL="0">
              <a:buNone/>
            </a:pPr>
            <a:r>
              <a:rPr lang="en-US" sz="1400" dirty="0">
                <a:solidFill>
                  <a:srgbClr val="4A5866"/>
                </a:solidFill>
                <a:latin typeface="Calibri" pitchFamily="34" charset="0"/>
                <a:ea typeface="Calibri" pitchFamily="34" charset="-122"/>
                <a:cs typeface="Calibri" pitchFamily="34" charset="-120"/>
              </a:rPr>
              <a:t>Tâm: môi trường · Vinh: phân tích, nguyên nhân gốc · Tín: test case, bộ test · Vĩ: chạy test, báo cáo</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R05-K15 – Nội dung đã hoàn thành đến hiện tại</dc:title>
  <dc:subject>PptxGenJS Presentation</dc:subject>
  <dc:creator>Nhóm 14</dc:creator>
  <cp:lastModifiedBy>Nhóm 14</cp:lastModifiedBy>
  <cp:revision>1</cp:revision>
  <dcterms:created xsi:type="dcterms:W3CDTF">2026-10-21T11:29:50Z</dcterms:created>
  <dcterms:modified xsi:type="dcterms:W3CDTF">2026-10-21T11:29:50Z</dcterms:modified>
</cp:coreProperties>
</file>