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slide tóm tắt nội dung nhóm đã hoàn thành đến thời điểm hiện tại, dùng để trình bày trước lớp. Nhóm đã dựng Cal.com, viết bộ test tự động gửi yêu cầu đồng thời và kiểm tra trực tiếp cơ sở dữ liệu, chạy 8 test case mỗi cái 10 vòng ở hai chế độ, tìm được 6 lỗi thật và tái hiện độc lập bằng curl, và chạy lại trên máy Windows cho cùng kết quả. Chi phí 0 đồng. Việc còn lại là test qua giao diện, đề xuất sửa và báo lỗi cho Cal.com.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2EC"/>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NHÓM 14 · R05-K15 · NỘI DUNG ĐÃ HOÀN THÀNH ĐẾN HIỆN TẠI</a:t>
            </a:r>
            <a:endParaRPr lang="en-US" sz="1300" dirty="0"/>
          </a:p>
        </p:txBody>
      </p:sp>
      <p:sp>
        <p:nvSpPr>
          <p:cNvPr id="3" name="Text 1"/>
          <p:cNvSpPr txBox="1"/>
          <p:nvPr/>
        </p:nvSpPr>
        <p:spPr>
          <a:xfrm>
            <a:off x="548640" y="640080"/>
            <a:ext cx="11091672" cy="640080"/>
          </a:xfrm>
          <a:prstGeom prst="rect">
            <a:avLst/>
          </a:prstGeom>
          <a:noFill/>
          <a:ln/>
        </p:spPr>
        <p:txBody>
          <a:bodyPr wrap="square" lIns="0" tIns="0" rIns="0" bIns="0" rtlCol="0" anchor="ctr"/>
          <a:lstStyle/>
          <a:p>
            <a:pPr indent="0" marL="0">
              <a:buNone/>
            </a:pPr>
            <a:r>
              <a:rPr lang="en-US" sz="3000" b="1" dirty="0">
                <a:solidFill>
                  <a:srgbClr val="12202B"/>
                </a:solidFill>
                <a:latin typeface="Calibri" pitchFamily="34" charset="0"/>
                <a:ea typeface="Calibri" pitchFamily="34" charset="-122"/>
                <a:cs typeface="Calibri" pitchFamily="34" charset="-120"/>
              </a:rPr>
              <a:t>Kiểm thử race condition cho Cal.com: 6 lỗi thật, tái hiện trên 2 máy</a:t>
            </a:r>
            <a:endParaRPr lang="en-US" sz="3000" dirty="0"/>
          </a:p>
        </p:txBody>
      </p:sp>
      <p:sp>
        <p:nvSpPr>
          <p:cNvPr id="4" name="Shape 2"/>
          <p:cNvSpPr/>
          <p:nvPr/>
        </p:nvSpPr>
        <p:spPr>
          <a:xfrm>
            <a:off x="548640" y="1463040"/>
            <a:ext cx="5317236" cy="2834640"/>
          </a:xfrm>
          <a:prstGeom prst="roundRect">
            <a:avLst>
              <a:gd name="adj" fmla="val 3226"/>
            </a:avLst>
          </a:prstGeom>
          <a:solidFill>
            <a:srgbClr val="FBFAF6"/>
          </a:solidFill>
          <a:ln w="12700">
            <a:solidFill>
              <a:srgbClr val="DAD6CC"/>
            </a:solidFill>
            <a:prstDash val="solid"/>
          </a:ln>
        </p:spPr>
      </p:sp>
      <p:sp>
        <p:nvSpPr>
          <p:cNvPr id="5" name="Text 3"/>
          <p:cNvSpPr txBox="1"/>
          <p:nvPr/>
        </p:nvSpPr>
        <p:spPr>
          <a:xfrm>
            <a:off x="777240" y="1554480"/>
            <a:ext cx="4860036" cy="365760"/>
          </a:xfrm>
          <a:prstGeom prst="rect">
            <a:avLst/>
          </a:prstGeom>
          <a:noFill/>
          <a:ln/>
        </p:spPr>
        <p:txBody>
          <a:bodyPr wrap="square" lIns="0" tIns="0" rIns="0" bIns="0" rtlCol="0" anchor="ctr"/>
          <a:lstStyle/>
          <a:p>
            <a:pPr indent="0" marL="0">
              <a:buNone/>
            </a:pPr>
            <a:r>
              <a:rPr lang="en-US" sz="1800" b="1" dirty="0">
                <a:solidFill>
                  <a:srgbClr val="2E7D4F"/>
                </a:solidFill>
                <a:latin typeface="Calibri" pitchFamily="34" charset="0"/>
                <a:ea typeface="Calibri" pitchFamily="34" charset="-122"/>
                <a:cs typeface="Calibri" pitchFamily="34" charset="-120"/>
              </a:rPr>
              <a:t>Đã hoàn thành</a:t>
            </a:r>
            <a:endParaRPr lang="en-US" sz="1800" dirty="0"/>
          </a:p>
        </p:txBody>
      </p:sp>
      <p:sp>
        <p:nvSpPr>
          <p:cNvPr id="6" name="Text 4"/>
          <p:cNvSpPr txBox="1"/>
          <p:nvPr/>
        </p:nvSpPr>
        <p:spPr>
          <a:xfrm>
            <a:off x="777240" y="1965960"/>
            <a:ext cx="4860036" cy="228600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Dựng Cal.com v6.2.0, chạy 3 luồng đặt, đổi, hủy lịch</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Bộ test tự động: k6 gửi đồng thời + SQL kiểm CSDL</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8 test case × 10 vòng, có nhóm đối chứng tuần tự</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6 lỗi (5 race, 1 logic), tái hiện độc lập bằng curl</a:t>
            </a:r>
            <a:endParaRPr lang="en-US" sz="1500" dirty="0"/>
          </a:p>
          <a:p>
            <a:pPr marL="342900" indent="-342900">
              <a:spcAft>
                <a:spcPts val="500"/>
              </a:spcAft>
              <a:buSzPct val="100000"/>
              <a:buChar char="•"/>
            </a:pPr>
            <a:r>
              <a:rPr lang="en-US" sz="1500" dirty="0">
                <a:solidFill>
                  <a:srgbClr val="4A5866"/>
                </a:solidFill>
                <a:latin typeface="Calibri" pitchFamily="34" charset="0"/>
                <a:ea typeface="Calibri" pitchFamily="34" charset="-122"/>
                <a:cs typeface="Calibri" pitchFamily="34" charset="-120"/>
              </a:rPr>
              <a:t>Chạy lại trên máy Windows: khớp 8/8</a:t>
            </a:r>
            <a:endParaRPr lang="en-US" sz="1500" dirty="0"/>
          </a:p>
        </p:txBody>
      </p:sp>
      <p:sp>
        <p:nvSpPr>
          <p:cNvPr id="7" name="Shape 5"/>
          <p:cNvSpPr/>
          <p:nvPr/>
        </p:nvSpPr>
        <p:spPr>
          <a:xfrm>
            <a:off x="6323076" y="1463040"/>
            <a:ext cx="5317236" cy="2834640"/>
          </a:xfrm>
          <a:prstGeom prst="roundRect">
            <a:avLst>
              <a:gd name="adj" fmla="val 3226"/>
            </a:avLst>
          </a:prstGeom>
          <a:solidFill>
            <a:srgbClr val="FBFAF6"/>
          </a:solidFill>
          <a:ln w="12700">
            <a:solidFill>
              <a:srgbClr val="DAD6CC"/>
            </a:solidFill>
            <a:prstDash val="solid"/>
          </a:ln>
        </p:spPr>
      </p:sp>
      <p:sp>
        <p:nvSpPr>
          <p:cNvPr id="8" name="Text 6"/>
          <p:cNvSpPr txBox="1"/>
          <p:nvPr/>
        </p:nvSpPr>
        <p:spPr>
          <a:xfrm>
            <a:off x="6551676" y="1554480"/>
            <a:ext cx="4860036" cy="365760"/>
          </a:xfrm>
          <a:prstGeom prst="rect">
            <a:avLst/>
          </a:prstGeom>
          <a:noFill/>
          <a:ln/>
        </p:spPr>
        <p:txBody>
          <a:bodyPr wrap="square" lIns="0" tIns="0" rIns="0" bIns="0" rtlCol="0" anchor="ctr"/>
          <a:lstStyle/>
          <a:p>
            <a:pPr indent="0" marL="0">
              <a:buNone/>
            </a:pPr>
            <a:r>
              <a:rPr lang="en-US" sz="1800" b="1" dirty="0">
                <a:solidFill>
                  <a:srgbClr val="2558B8"/>
                </a:solidFill>
                <a:latin typeface="Calibri" pitchFamily="34" charset="0"/>
                <a:ea typeface="Calibri" pitchFamily="34" charset="-122"/>
                <a:cs typeface="Calibri" pitchFamily="34" charset="-120"/>
              </a:rPr>
              <a:t>Kết quả chính</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51676" y="2011680"/>
          <a:ext cx="4860036" cy="914400"/>
        </p:xfrm>
        <a:graphic>
          <a:graphicData uri="http://schemas.openxmlformats.org/drawingml/2006/table">
            <a:tbl>
              <a:tblPr/>
              <a:tblGrid>
                <a:gridCol w="1737360"/>
                <a:gridCol w="868680"/>
                <a:gridCol w="777240"/>
                <a:gridCol w="1476756"/>
              </a:tblGrid>
              <a:tr h="347472">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Test case</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Đồng thời</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Tuần tự</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34747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TC-01, TC-04</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Đúng</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TC-02, 03, 05, 07, 08</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Lỗi race</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347472">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TC-06</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300" b="1" dirty="0">
                          <a:solidFill>
                            <a:srgbClr val="12202B"/>
                          </a:solidFill>
                          <a:latin typeface="Calibri" pitchFamily="34" charset="0"/>
                          <a:ea typeface="Calibri" pitchFamily="34" charset="-122"/>
                          <a:cs typeface="Calibri" pitchFamily="34" charset="-120"/>
                        </a:rPr>
                        <a:t>10/10</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300" dirty="0">
                          <a:solidFill>
                            <a:srgbClr val="12202B"/>
                          </a:solidFill>
                          <a:latin typeface="Calibri" pitchFamily="34" charset="0"/>
                          <a:ea typeface="Calibri" pitchFamily="34" charset="-122"/>
                          <a:cs typeface="Calibri" pitchFamily="34" charset="-120"/>
                        </a:rPr>
                        <a:t>Lỗi logic</a:t>
                      </a:r>
                      <a:endParaRPr lang="en-US" sz="1300" dirty="0">
                        <a:latin typeface="Calibri" charset="0"/>
                        <a:ea typeface="Calibri" charset="0"/>
                        <a:cs typeface="Calibri" charset="0"/>
                      </a:endParaRPr>
                    </a:p>
                  </a:txBody>
                  <a:tcPr marL="73152" marR="73152" marT="27432" marB="27432"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bl>
          </a:graphicData>
        </a:graphic>
      </p:graphicFrame>
      <p:sp>
        <p:nvSpPr>
          <p:cNvPr id="10" name="Text 7"/>
          <p:cNvSpPr txBox="1"/>
          <p:nvPr/>
        </p:nvSpPr>
        <p:spPr>
          <a:xfrm>
            <a:off x="6551676" y="3520440"/>
            <a:ext cx="4860036" cy="64008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Mã HTTP đều 200 nhưng CSDL sai; chỉ cần 2 yêu cầu đồng thời là đủ gây lỗi.</a:t>
            </a:r>
            <a:endParaRPr lang="en-US" sz="1400" dirty="0"/>
          </a:p>
        </p:txBody>
      </p:sp>
      <p:sp>
        <p:nvSpPr>
          <p:cNvPr id="11" name="Shape 8"/>
          <p:cNvSpPr/>
          <p:nvPr/>
        </p:nvSpPr>
        <p:spPr>
          <a:xfrm>
            <a:off x="548640" y="4526280"/>
            <a:ext cx="3392424" cy="1691640"/>
          </a:xfrm>
          <a:prstGeom prst="roundRect">
            <a:avLst>
              <a:gd name="adj" fmla="val 5405"/>
            </a:avLst>
          </a:prstGeom>
          <a:solidFill>
            <a:srgbClr val="FBFAF6"/>
          </a:solidFill>
          <a:ln w="12700">
            <a:solidFill>
              <a:srgbClr val="DAD6CC"/>
            </a:solidFill>
            <a:prstDash val="solid"/>
          </a:ln>
        </p:spPr>
      </p:sp>
      <p:sp>
        <p:nvSpPr>
          <p:cNvPr id="12" name="Text 9"/>
          <p:cNvSpPr txBox="1"/>
          <p:nvPr/>
        </p:nvSpPr>
        <p:spPr>
          <a:xfrm>
            <a:off x="731520" y="4599432"/>
            <a:ext cx="3026664" cy="32004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Chi phí</a:t>
            </a:r>
            <a:endParaRPr lang="en-US" sz="1600" dirty="0"/>
          </a:p>
        </p:txBody>
      </p:sp>
      <p:sp>
        <p:nvSpPr>
          <p:cNvPr id="13" name="Text 10"/>
          <p:cNvSpPr txBox="1"/>
          <p:nvPr/>
        </p:nvSpPr>
        <p:spPr>
          <a:xfrm>
            <a:off x="731520" y="4983480"/>
            <a:ext cx="3026664" cy="118872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0 đồng · lượt chạy chính thức dưới 3 phút máy · bộ test khoảng 970 dòng mã</a:t>
            </a:r>
            <a:endParaRPr lang="en-US" sz="1400" dirty="0"/>
          </a:p>
        </p:txBody>
      </p:sp>
      <p:sp>
        <p:nvSpPr>
          <p:cNvPr id="14" name="Shape 11"/>
          <p:cNvSpPr/>
          <p:nvPr/>
        </p:nvSpPr>
        <p:spPr>
          <a:xfrm>
            <a:off x="4398264" y="4526280"/>
            <a:ext cx="3392424" cy="1691640"/>
          </a:xfrm>
          <a:prstGeom prst="roundRect">
            <a:avLst>
              <a:gd name="adj" fmla="val 5405"/>
            </a:avLst>
          </a:prstGeom>
          <a:solidFill>
            <a:srgbClr val="FBFAF6"/>
          </a:solidFill>
          <a:ln w="12700">
            <a:solidFill>
              <a:srgbClr val="DAD6CC"/>
            </a:solidFill>
            <a:prstDash val="solid"/>
          </a:ln>
        </p:spPr>
      </p:sp>
      <p:sp>
        <p:nvSpPr>
          <p:cNvPr id="15" name="Text 12"/>
          <p:cNvSpPr txBox="1"/>
          <p:nvPr/>
        </p:nvSpPr>
        <p:spPr>
          <a:xfrm>
            <a:off x="4581144" y="4599432"/>
            <a:ext cx="3026664" cy="32004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Còn lại</a:t>
            </a:r>
            <a:endParaRPr lang="en-US" sz="1600" dirty="0"/>
          </a:p>
        </p:txBody>
      </p:sp>
      <p:sp>
        <p:nvSpPr>
          <p:cNvPr id="16" name="Text 13"/>
          <p:cNvSpPr txBox="1"/>
          <p:nvPr/>
        </p:nvSpPr>
        <p:spPr>
          <a:xfrm>
            <a:off x="4581144" y="4983480"/>
            <a:ext cx="3026664" cy="118872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Test qua giao diện (Playwright), đề xuất sửa D1 và D4, báo lỗi cho Cal.com, hoàn thiện báo cáo</a:t>
            </a:r>
            <a:endParaRPr lang="en-US" sz="1400" dirty="0"/>
          </a:p>
        </p:txBody>
      </p:sp>
      <p:sp>
        <p:nvSpPr>
          <p:cNvPr id="17" name="Shape 14"/>
          <p:cNvSpPr/>
          <p:nvPr/>
        </p:nvSpPr>
        <p:spPr>
          <a:xfrm>
            <a:off x="8247888" y="4526280"/>
            <a:ext cx="3392424" cy="1691640"/>
          </a:xfrm>
          <a:prstGeom prst="roundRect">
            <a:avLst>
              <a:gd name="adj" fmla="val 5405"/>
            </a:avLst>
          </a:prstGeom>
          <a:solidFill>
            <a:srgbClr val="FBFAF6"/>
          </a:solidFill>
          <a:ln w="12700">
            <a:solidFill>
              <a:srgbClr val="DAD6CC"/>
            </a:solidFill>
            <a:prstDash val="solid"/>
          </a:ln>
        </p:spPr>
      </p:sp>
      <p:sp>
        <p:nvSpPr>
          <p:cNvPr id="18" name="Text 15"/>
          <p:cNvSpPr txBox="1"/>
          <p:nvPr/>
        </p:nvSpPr>
        <p:spPr>
          <a:xfrm>
            <a:off x="8430768" y="4599432"/>
            <a:ext cx="3026664" cy="32004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Đóng góp</a:t>
            </a:r>
            <a:endParaRPr lang="en-US" sz="1600" dirty="0"/>
          </a:p>
        </p:txBody>
      </p:sp>
      <p:sp>
        <p:nvSpPr>
          <p:cNvPr id="19" name="Text 16"/>
          <p:cNvSpPr txBox="1"/>
          <p:nvPr/>
        </p:nvSpPr>
        <p:spPr>
          <a:xfrm>
            <a:off x="8430768" y="4983480"/>
            <a:ext cx="3026664" cy="118872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Tâm: môi trường · Vinh: phân tích, nguyên nhân gốc · Tín: test case, bộ test · Vĩ: chạy test, báo cáo</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Nội dung đã hoàn thành đến hiện tại</dc:title>
  <dc:subject>PptxGenJS Presentation</dc:subject>
  <dc:creator>Nhóm 14</dc:creator>
  <cp:lastModifiedBy>Nhóm 14</cp:lastModifiedBy>
  <cp:revision>1</cp:revision>
  <dcterms:created xsi:type="dcterms:W3CDTF">2026-10-19T05:50:26Z</dcterms:created>
  <dcterms:modified xsi:type="dcterms:W3CDTF">2026-10-19T05:50:26Z</dcterms:modified>
</cp:coreProperties>
</file>