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Đề tài và hệ thống" id="{5c61b739-810b-e18b-e676-577029a90d67}">
          <p14:sldIdLst>
            <p14:sldId id="256"/>
            <p14:sldId id="257"/>
          </p14:sldIdLst>
        </p14:section>
        <p14:section name="Kiến trúc và giả thuyết" id="{e99e2210-875f-2143-65c5-64f7868e1ee1}">
          <p14:sldIdLst>
            <p14:sldId id="258"/>
            <p14:sldId id="259"/>
          </p14:sldIdLst>
        </p14:section>
        <p14:section name="Môi trường, phương pháp, harness" id="{39508ca2-7113-0c85-1fbf-afd001084d32}">
          <p14:sldIdLst>
            <p14:sldId id="260"/>
            <p14:sldId id="261"/>
            <p14:sldId id="262"/>
            <p14:sldId id="263"/>
          </p14:sldIdLst>
        </p14:section>
        <p14:section name="Kết quả và lỗi" id="{6c809ae6-9b0e-19b7-9fa7-60b40efdbb20}">
          <p14:sldIdLst>
            <p14:sldId id="264"/>
            <p14:sldId id="265"/>
            <p14:sldId id="266"/>
            <p14:sldId id="267"/>
            <p14:sldId id="268"/>
          </p14:sldIdLst>
        </p14:section>
        <p14:section name="Khắc phục và kết luận" id="{911441f6-51d9-7360-0a3c-8008fe3567f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2202B"/>
                </a:solidFill>
                <a:latin typeface="Calibri"/>
              </a:defRPr>
            </a:pPr>
            <a:r>
              <a:rPr sz="1600" b="0" i="0" u="none" strike="noStrike">
                <a:solidFill>
                  <a:srgbClr val="12202B"/>
                </a:solidFill>
                <a:latin typeface="Calibri"/>
              </a:rPr>
              <a:t>Tỉ lệ vòng vi phạm (%) theo độ trễ Δ của request thứ hai (ms)</a:t>
            </a:r>
          </a:p>
        </c:rich>
      </c:tx>
      <c:layout/>
      <c:overlay val="0"/>
    </c:title>
    <c:autoTitleDeleted val="0"/>
    <c:plotArea>
      <c:layout/>
      <c:barChart>
        <c:barDir val="col"/>
        <c:grouping val="clustered"/>
        <c:varyColors val="0"/>
        <c:ser>
          <c:idx val="0"/>
          <c:order val="0"/>
          <c:tx>
            <c:strRef>
              <c:f>Sheet1!$B$1</c:f>
              <c:strCache>
                <c:ptCount val="1"/>
                <c:pt idx="0">
                  <c:v>Tỉ lệ vòng vi phạm (%)</c:v>
                </c:pt>
              </c:strCache>
            </c:strRef>
          </c:tx>
          <c:spPr>
            <a:solidFill>
              <a:srgbClr val="E07B39"/>
            </a:solidFill>
            <a:effectLst/>
          </c:spPr>
          <c:invertIfNegative val="0"/>
          <c:dLbls>
            <c:numFmt formatCode="0&quot;%&quot;" sourceLinked="0"/>
            <c:txPr>
              <a:bodyPr/>
              <a:lstStyle/>
              <a:p>
                <a:pPr>
                  <a:defRPr b="0" i="0" strike="noStrike" sz="1400" u="none">
                    <a:solidFill>
                      <a:srgbClr val="12202B"/>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0</c:v>
                  </c:pt>
                  <c:pt idx="1">
                    <c:v>10</c:v>
                  </c:pt>
                  <c:pt idx="2">
                    <c:v>20</c:v>
                  </c:pt>
                  <c:pt idx="3">
                    <c:v>30</c:v>
                  </c:pt>
                  <c:pt idx="4">
                    <c:v>35</c:v>
                  </c:pt>
                  <c:pt idx="5">
                    <c:v>40</c:v>
                  </c:pt>
                  <c:pt idx="6">
                    <c:v>45</c:v>
                  </c:pt>
                  <c:pt idx="7">
                    <c:v>50</c:v>
                  </c:pt>
                  <c:pt idx="8">
                    <c:v>60</c:v>
                  </c:pt>
                  <c:pt idx="9">
                    <c:v>100</c:v>
                  </c:pt>
                </c:lvl>
              </c:multiLvlStrCache>
            </c:multiLvlStrRef>
          </c:cat>
          <c:val>
            <c:numRef>
              <c:f>Sheet1!$B$2:$B$11</c:f>
              <c:numCache>
                <c:formatCode>General</c:formatCode>
                <c:ptCount val="10"/>
                <c:pt idx="0">
                  <c:v>100</c:v>
                </c:pt>
                <c:pt idx="1">
                  <c:v>100</c:v>
                </c:pt>
                <c:pt idx="2">
                  <c:v>100</c:v>
                </c:pt>
                <c:pt idx="3">
                  <c:v>100</c:v>
                </c:pt>
                <c:pt idx="4">
                  <c:v>40</c:v>
                </c:pt>
                <c:pt idx="5">
                  <c:v>20</c:v>
                </c:pt>
                <c:pt idx="6">
                  <c:v>20</c:v>
                </c:pt>
                <c:pt idx="7">
                  <c:v>40</c:v>
                </c:pt>
                <c:pt idx="8">
                  <c:v>0</c:v>
                </c:pt>
                <c:pt idx="9">
                  <c:v>0</c:v>
                </c:pt>
              </c:numCache>
            </c:numRef>
          </c:val>
        </c:ser>
        <c:dLbls>
          <c:numFmt formatCode="0&quot;%&quot;" sourceLinked="0"/>
          <c:txPr>
            <a:bodyPr/>
            <a:lstStyle/>
            <a:p>
              <a:pPr>
                <a:defRPr b="0" i="0" strike="noStrike" sz="1400" u="none">
                  <a:solidFill>
                    <a:srgbClr val="12202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2202B"/>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1DD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86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đề tài: hệ thống R05 là Cal.com, kỹ thuật K15 là kiểm thử concurrency/race. Câu hỏi mở đầu: khi hai người cùng đặt một khung giờ, hệ thống có đảm bảo chỉ một người thắng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Cal.com được đề bài gợi ý là đặc biệt phù hợp với kiểm thử stateful và concurrency. Nhóm khoanh phạm vi vào luồng booking vì đó là nơi nhiều khách lạ cùng tranh một tài nguyên chung: lịch của host. Endpoint đặt lịch là công khai, không cần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đặt lịch: route Next.js gọi RegularBookingService. Service đọc giới hạn số booking và lịch trống, sau đó mới gọi createBooking hoặc handleSeats để ghi. Lớp bảo vệ ở CSDL chỉ có hai ràng buộc UNIQUE: uid và idempotencyKey.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giả thuyết nhóm rút ra khi đọc code, trước khi viết test: giữa bước đọc lịch trống và bước INSERT không có transaction hay khóa nào. Lớp chặn duy nhất là idempotencyKey, tính từ start, end và userId. Hai slot chồng nhau nhưng không trùng khít sẽ lọt qua.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được khóa ở tag v6.2.0 để test không vỡ khi nhánh main thay đổi. Smoke test chạy ba luồng bắt buộc của đề: đặt, đổi, hủy lịch; mọi luồng trả 200 và trạng thái trong DB đúng. Ở lần chạy thử, các truy vấn kiểm tra bị lệch 7 giờ do driver pg dùng múi giờ máy; nhóm đã ép UTC.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nguyên tắc này phân biệt kiểm thử race với kiểm thử chức năng. Thứ nhất, API có thể trả 200 cho mọi request mà dữ liệu vẫn sai, nên oracle phải là invariant trên DB. Thứ hai, request phải cùng rơi vào cửa sổ race, nên dùng rào chắn thời gian. Thứ ba, nhóm đối chứng tuần tự giúp tách lỗi race khỏi lỗi logic; nhờ nó mà nhóm phân loại đúng lỗi D4.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scenario được chọn theo loại cơ chế bảo vệ. S1 và S4 là nhóm đã có bảo vệ, để kiểm chứng harness không báo lỗi giả. Sáu scenario còn lại thử những chỗ đọc code cho thấy chưa có bảo vệ ở tầng CSDL.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viết bằng Node.js cho phần điều phối và kiểm DB, k6 cho phần bắn tải. Mỗi vòng dùng một ngày riêng trong tương lai nên các vòng độc lập nhau. Ngoài chế độ race còn có chế độ tuần tự và công cụ đo cửa sổ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kết quả chính. S1 và S4 PASS ở cả hai chế độ, chứng tỏ harness không báo lỗi giả và hai cơ chế idempotencyKey, FOR UPDATE hoạt động. Năm scenario chỉ vỡ khi đồng thời là lỗi race. S6 vỡ cả khi tuần tự nên được phân loại riêng là lỗi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độ nhạy: giảm xuống chỉ 2 request đồng thời, chạy 20 vòng. S2 vi phạm 20 trên 20 vòng. Nghĩa là lỗi không cần tải lớn; hai khách thật bấm đặt cùng lúc là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đo cửa sổ race: hai request xung đột, request thứ hai gửi trễ Δ mili-giây. Từ 0 đến 30 ms luôn vi phạm, 35 đến 50 ms vi phạm thỉnh thoảng, từ 60 ms trở đi không còn. Cửa sổ xấp xỉ thời gian xử lý một request trên máy test. Trên production có thêm lời gọi Google/Outlook Calendar ở bước đọc nên cửa sổ còn rộng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cộng 6 lỗi chính và 2 quan sát phụ. D1 và D4 mức cao: D1 vì gây double booking thật, D4 vì một link đổi lịch cũ có thể tạo ra số booking không giới hạn. O1 và O2 là những điều nhóm phát hiện khi phân tích log và code trong lúc tìm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lỗi quy về ba nguyên nhân. Thứ nhất, mẫu TOCTOU: mọi bước kiểm tra là đọc, rồi mới ghi, không khóa. Thứ hai, ràng buộc duy nhất ở CSDL là idempotencyKey, quá hẹp. Thứ ba, D4 là lỗi mô hình trạng thái: cùng một cặp giá trị mang hai nghĩa nên hàm kiểm tra không thể đúng cho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kiểm chứng nguyên nhân gốc, nhóm thêm một exclusion constraint cho host test rồi chạy lại. S2 và S5 chỉ còn đúng 1 booking, xác nhận nguyên nhân là thiếu ràng buộc ở CSDL. Nhưng các request thua nhận 500 thay vì 409, vì code chưa xử lý mã lỗi này. S8 không sửa được vì các booking không chồng giờ; invariant dạng đếm cần advisory lock hoặc SERIALIZABLE.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chính: một hệ thống chạy đúng khi tuần tự chưa chắc đúng khi đồng thời, và chỉ kiểm thử race với oracle trên CSDL mới lộ được điều đó. Demo đề xuất: chạy S1 và S2 với 3 vòng; S1 PASS, S2 FAIL, mỗi lần chạy khoảng 12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2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908792" cy="868680"/>
          </a:xfrm>
          <a:prstGeom prst="rect">
            <a:avLst/>
          </a:prstGeom>
          <a:noFill/>
          <a:ln/>
        </p:spPr>
        <p:txBody>
          <a:bodyPr wrap="square" rtlCol="0"/>
          <a:lstStyle>
            <a:lvl1pPr indent="0" marL="0">
              <a:buNone/>
              <a:defRPr lang="en-US" sz="3400" b="1" dirty="0">
                <a:solidFill>
                  <a:srgbClr val="12202B"/>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908792" cy="868680"/>
          </a:xfrm>
          <a:prstGeom prst="rect">
            <a:avLst/>
          </a:prstGeom>
          <a:noFill/>
          <a:ln/>
        </p:spPr>
        <p:txBody>
          <a:bodyPr wrap="square" rtlCol="0"/>
          <a:lstStyle>
            <a:lvl1pPr indent="0" marL="0">
              <a:buNone/>
              <a:defRPr lang="en-US" sz="3400" b="1" dirty="0">
                <a:solidFill>
                  <a:srgbClr val="F4F2EC"/>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12202B"/>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RANGE_BLANK">
    <p:bg>
      <p:bgPr>
        <a:solidFill>
          <a:srgbClr val="E07B3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10908792" cy="365760"/>
          </a:xfrm>
          <a:prstGeom prst="rect">
            <a:avLst/>
          </a:prstGeom>
          <a:noFill/>
          <a:ln/>
        </p:spPr>
        <p:txBody>
          <a:bodyPr wrap="square" lIns="0" tIns="0" rIns="0" bIns="0" rtlCol="0" anchor="ctr"/>
          <a:lstStyle/>
          <a:p>
            <a:pPr indent="0" marL="0">
              <a:buNone/>
            </a:pPr>
            <a:r>
              <a:rPr lang="en-US" sz="1600" b="1" spc="300" kern="0" dirty="0">
                <a:solidFill>
                  <a:srgbClr val="E07B39"/>
                </a:solidFill>
                <a:latin typeface="Consolas" pitchFamily="34" charset="0"/>
                <a:ea typeface="Consolas" pitchFamily="34" charset="-122"/>
                <a:cs typeface="Consolas" pitchFamily="34" charset="-120"/>
              </a:rPr>
              <a:t>R05 · CAL.COM  ×  K15 · CONCURRENCY / RACE</a:t>
            </a:r>
            <a:endParaRPr lang="en-US" sz="1600" dirty="0"/>
          </a:p>
        </p:txBody>
      </p:sp>
      <p:sp>
        <p:nvSpPr>
          <p:cNvPr id="3" name="Text 1"/>
          <p:cNvSpPr txBox="1"/>
          <p:nvPr/>
        </p:nvSpPr>
        <p:spPr>
          <a:xfrm>
            <a:off x="640080" y="1737360"/>
            <a:ext cx="10515600" cy="2194560"/>
          </a:xfrm>
          <a:prstGeom prst="rect">
            <a:avLst/>
          </a:prstGeom>
          <a:noFill/>
          <a:ln/>
        </p:spPr>
        <p:txBody>
          <a:bodyPr wrap="square" lIns="0" tIns="0" rIns="0" bIns="0" rtlCol="0" anchor="t"/>
          <a:lstStyle/>
          <a:p>
            <a:pPr indent="0" marL="0">
              <a:buNone/>
            </a:pPr>
            <a:r>
              <a:rPr lang="en-US" sz="5400" b="1" dirty="0">
                <a:solidFill>
                  <a:srgbClr val="F4F2EC"/>
                </a:solidFill>
                <a:latin typeface="Calibri" pitchFamily="34" charset="0"/>
                <a:ea typeface="Calibri" pitchFamily="34" charset="-122"/>
                <a:cs typeface="Calibri" pitchFamily="34" charset="-120"/>
              </a:rPr>
              <a:t>Hai người cùng bấm "Đặt lịch".</a:t>
            </a:r>
            <a:endParaRPr lang="en-US" sz="5400" dirty="0"/>
          </a:p>
          <a:p>
            <a:pPr indent="0" marL="0">
              <a:buNone/>
            </a:pPr>
            <a:r>
              <a:rPr lang="en-US" sz="5400" b="1" dirty="0">
                <a:solidFill>
                  <a:srgbClr val="F4F2EC"/>
                </a:solidFill>
                <a:latin typeface="Calibri" pitchFamily="34" charset="0"/>
                <a:ea typeface="Calibri" pitchFamily="34" charset="-122"/>
                <a:cs typeface="Calibri" pitchFamily="34" charset="-120"/>
              </a:rPr>
              <a:t>Ai thắng?</a:t>
            </a:r>
            <a:endParaRPr lang="en-US" sz="5400" dirty="0"/>
          </a:p>
        </p:txBody>
      </p:sp>
      <p:sp>
        <p:nvSpPr>
          <p:cNvPr id="4" name="Text 2"/>
          <p:cNvSpPr txBox="1"/>
          <p:nvPr/>
        </p:nvSpPr>
        <p:spPr>
          <a:xfrm>
            <a:off x="640080" y="4114800"/>
            <a:ext cx="9601200" cy="822960"/>
          </a:xfrm>
          <a:prstGeom prst="rect">
            <a:avLst/>
          </a:prstGeom>
          <a:noFill/>
          <a:ln/>
        </p:spPr>
        <p:txBody>
          <a:bodyPr wrap="square" lIns="0" tIns="0" rIns="0" bIns="0" rtlCol="0" anchor="t"/>
          <a:lstStyle/>
          <a:p>
            <a:pPr indent="0" marL="0">
              <a:buNone/>
            </a:pPr>
            <a:r>
              <a:rPr lang="en-US" sz="2400" dirty="0">
                <a:solidFill>
                  <a:srgbClr val="B8C6D2"/>
                </a:solidFill>
                <a:latin typeface="Calibri" pitchFamily="34" charset="0"/>
                <a:ea typeface="Calibri" pitchFamily="34" charset="-122"/>
                <a:cs typeface="Calibri" pitchFamily="34" charset="-120"/>
              </a:rPr>
              <a:t>Kiểm thử race condition cho hệ thống đặt lịch mã nguồn mở Cal.com v6.2.0</a:t>
            </a:r>
            <a:endParaRPr lang="en-US" sz="2400" dirty="0"/>
          </a:p>
        </p:txBody>
      </p:sp>
      <p:sp>
        <p:nvSpPr>
          <p:cNvPr id="5" name="Text 3"/>
          <p:cNvSpPr txBox="1"/>
          <p:nvPr/>
        </p:nvSpPr>
        <p:spPr>
          <a:xfrm>
            <a:off x="640080" y="5577840"/>
            <a:ext cx="6400800" cy="731520"/>
          </a:xfrm>
          <a:prstGeom prst="rect">
            <a:avLst/>
          </a:prstGeom>
          <a:noFill/>
          <a:ln/>
        </p:spPr>
        <p:txBody>
          <a:bodyPr wrap="square" lIns="0" tIns="0" rIns="0" bIns="0" rtlCol="0" anchor="ctr"/>
          <a:lstStyle/>
          <a:p>
            <a:pPr indent="0" marL="0">
              <a:buNone/>
            </a:pPr>
            <a:r>
              <a:rPr lang="en-US" sz="1600" dirty="0">
                <a:solidFill>
                  <a:srgbClr val="B8C6D2"/>
                </a:solidFill>
                <a:latin typeface="Calibri" pitchFamily="34" charset="0"/>
                <a:ea typeface="Calibri" pitchFamily="34" charset="-122"/>
                <a:cs typeface="Calibri" pitchFamily="34" charset="-120"/>
              </a:rPr>
              <a:t>Môn Kiểm thử phần mềm · GV Nguyễn Thế Lâm</a:t>
            </a:r>
            <a:endParaRPr lang="en-US" sz="1600" dirty="0"/>
          </a:p>
          <a:p>
            <a:pPr indent="0" marL="0">
              <a:buNone/>
            </a:pPr>
            <a:r>
              <a:rPr lang="en-US" sz="1600" dirty="0">
                <a:solidFill>
                  <a:srgbClr val="B8C6D2"/>
                </a:solidFill>
                <a:latin typeface="Calibri" pitchFamily="34" charset="0"/>
                <a:ea typeface="Calibri" pitchFamily="34" charset="-122"/>
                <a:cs typeface="Calibri" pitchFamily="34" charset="-120"/>
              </a:rPr>
              <a:t>Khoa CNTT – Trường Đại học Đà Lạt</a:t>
            </a:r>
            <a:endParaRPr lang="en-US" sz="1600" dirty="0"/>
          </a:p>
        </p:txBody>
      </p:sp>
      <p:sp>
        <p:nvSpPr>
          <p:cNvPr id="6" name="Text 4"/>
          <p:cNvSpPr txBox="1"/>
          <p:nvPr/>
        </p:nvSpPr>
        <p:spPr>
          <a:xfrm>
            <a:off x="6949440" y="5029200"/>
            <a:ext cx="4599432" cy="1325880"/>
          </a:xfrm>
          <a:prstGeom prst="rect">
            <a:avLst/>
          </a:prstGeom>
          <a:noFill/>
          <a:ln/>
        </p:spPr>
        <p:txBody>
          <a:bodyPr wrap="square" lIns="0" tIns="0" rIns="0" bIns="0" rtlCol="0" anchor="b"/>
          <a:lstStyle/>
          <a:p>
            <a:pPr algn="r" indent="0" marL="0">
              <a:buNone/>
            </a:pPr>
            <a:r>
              <a:rPr lang="en-US" sz="1600" dirty="0">
                <a:solidFill>
                  <a:srgbClr val="B8C6D2"/>
                </a:solidFill>
                <a:latin typeface="Calibri" pitchFamily="34" charset="0"/>
                <a:ea typeface="Calibri" pitchFamily="34" charset="-122"/>
                <a:cs typeface="Calibri" pitchFamily="34" charset="-120"/>
              </a:rPr>
              <a:t>Nhóm 14</a:t>
            </a:r>
            <a:endParaRPr lang="en-US" sz="1600" dirty="0"/>
          </a:p>
          <a:p>
            <a:pPr algn="r" indent="0" marL="0">
              <a:buNone/>
            </a:pPr>
            <a:r>
              <a:rPr lang="en-US" sz="1600" dirty="0">
                <a:solidFill>
                  <a:srgbClr val="B8C6D2"/>
                </a:solidFill>
                <a:latin typeface="Calibri" pitchFamily="34" charset="0"/>
                <a:ea typeface="Calibri" pitchFamily="34" charset="-122"/>
                <a:cs typeface="Calibri" pitchFamily="34" charset="-120"/>
              </a:rPr>
              <a:t>2312741 - Nguyễn Thanh Tâm</a:t>
            </a:r>
            <a:endParaRPr lang="en-US" sz="1600" dirty="0"/>
          </a:p>
          <a:p>
            <a:pPr algn="r" indent="0" marL="0">
              <a:buNone/>
            </a:pPr>
            <a:r>
              <a:rPr lang="en-US" sz="1600" dirty="0">
                <a:solidFill>
                  <a:srgbClr val="B8C6D2"/>
                </a:solidFill>
                <a:latin typeface="Calibri" pitchFamily="34" charset="0"/>
                <a:ea typeface="Calibri" pitchFamily="34" charset="-122"/>
                <a:cs typeface="Calibri" pitchFamily="34" charset="-120"/>
              </a:rPr>
              <a:t>2312800 - Võ Công Vinh</a:t>
            </a:r>
            <a:endParaRPr lang="en-US" sz="1600" dirty="0"/>
          </a:p>
          <a:p>
            <a:pPr algn="r" indent="0" marL="0">
              <a:buNone/>
            </a:pPr>
            <a:r>
              <a:rPr lang="en-US" sz="1600" dirty="0">
                <a:solidFill>
                  <a:srgbClr val="B8C6D2"/>
                </a:solidFill>
                <a:latin typeface="Calibri" pitchFamily="34" charset="0"/>
                <a:ea typeface="Calibri" pitchFamily="34" charset="-122"/>
                <a:cs typeface="Calibri" pitchFamily="34" charset="-120"/>
              </a:rPr>
              <a:t>2312774 - Nguyễn Đức Tín</a:t>
            </a:r>
            <a:endParaRPr lang="en-US" sz="1600" dirty="0"/>
          </a:p>
          <a:p>
            <a:pPr algn="r" indent="0" marL="0">
              <a:buNone/>
            </a:pPr>
            <a:r>
              <a:rPr lang="en-US" sz="1600" dirty="0">
                <a:solidFill>
                  <a:srgbClr val="B8C6D2"/>
                </a:solidFill>
                <a:latin typeface="Calibri" pitchFamily="34" charset="0"/>
                <a:ea typeface="Calibri" pitchFamily="34" charset="-122"/>
                <a:cs typeface="Calibri" pitchFamily="34" charset="-120"/>
              </a:rPr>
              <a:t>2312796 - Ngô Quốc Trường Vĩ</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01 · ĐỀ TÀI</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Một hệ thống thật, một kỹ thuật, một phạm vi hẹp</a:t>
            </a:r>
            <a:endParaRPr lang="en-US" sz="3400" dirty="0"/>
          </a:p>
        </p:txBody>
      </p:sp>
      <p:sp>
        <p:nvSpPr>
          <p:cNvPr id="4" name="Card"/>
          <p:cNvSpPr/>
          <p:nvPr/>
        </p:nvSpPr>
        <p:spPr>
          <a:xfrm>
            <a:off x="640080" y="1783080"/>
            <a:ext cx="3422904" cy="3108960"/>
          </a:xfrm>
          <a:prstGeom prst="roundRect">
            <a:avLst>
              <a:gd name="adj" fmla="val 3529"/>
            </a:avLst>
          </a:prstGeom>
          <a:solidFill>
            <a:srgbClr val="FBFAF6"/>
          </a:solidFill>
          <a:ln w="12700">
            <a:solidFill>
              <a:srgbClr val="DAD6CC"/>
            </a:solidFill>
            <a:prstDash val="solid"/>
          </a:ln>
        </p:spPr>
      </p:sp>
      <p:sp>
        <p:nvSpPr>
          <p:cNvPr id="5" name="Text 3"/>
          <p:cNvSpPr txBox="1"/>
          <p:nvPr/>
        </p:nvSpPr>
        <p:spPr>
          <a:xfrm>
            <a:off x="914400"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R05 · HỆ THỐNG</a:t>
            </a:r>
            <a:endParaRPr lang="en-US" sz="1300" dirty="0"/>
          </a:p>
        </p:txBody>
      </p:sp>
      <p:sp>
        <p:nvSpPr>
          <p:cNvPr id="6" name="Text 4"/>
          <p:cNvSpPr txBox="1"/>
          <p:nvPr/>
        </p:nvSpPr>
        <p:spPr>
          <a:xfrm>
            <a:off x="914400" y="2377440"/>
            <a:ext cx="2874264" cy="548640"/>
          </a:xfrm>
          <a:prstGeom prst="rect">
            <a:avLst/>
          </a:prstGeom>
          <a:noFill/>
          <a:ln/>
        </p:spPr>
        <p:txBody>
          <a:bodyPr wrap="square" lIns="0" tIns="0" rIns="0" bIns="0" rtlCol="0" anchor="ctr"/>
          <a:lstStyle/>
          <a:p>
            <a:pPr indent="0" marL="0">
              <a:buNone/>
            </a:pPr>
            <a:r>
              <a:rPr lang="en-US" sz="2400" b="1" dirty="0">
                <a:solidFill>
                  <a:srgbClr val="12202B"/>
                </a:solidFill>
                <a:latin typeface="Calibri" pitchFamily="34" charset="0"/>
                <a:ea typeface="Calibri" pitchFamily="34" charset="-122"/>
                <a:cs typeface="Calibri" pitchFamily="34" charset="-120"/>
              </a:rPr>
              <a:t>Cal.com v6.2.0</a:t>
            </a:r>
            <a:endParaRPr lang="en-US" sz="2400" dirty="0"/>
          </a:p>
        </p:txBody>
      </p:sp>
      <p:sp>
        <p:nvSpPr>
          <p:cNvPr id="7" name="Text 5"/>
          <p:cNvSpPr txBox="1"/>
          <p:nvPr/>
        </p:nvSpPr>
        <p:spPr>
          <a:xfrm>
            <a:off x="914400" y="3063240"/>
            <a:ext cx="2874264" cy="164592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Nền tảng đặt lịch mã nguồn mở. TypeScript, Next.js 16, PostgreSQL + Prisma. Monorepo khoảng 7 950 file TS.</a:t>
            </a:r>
            <a:endParaRPr lang="en-US" sz="1600" dirty="0"/>
          </a:p>
        </p:txBody>
      </p:sp>
      <p:sp>
        <p:nvSpPr>
          <p:cNvPr id="8" name="Card"/>
          <p:cNvSpPr/>
          <p:nvPr/>
        </p:nvSpPr>
        <p:spPr>
          <a:xfrm>
            <a:off x="4383024" y="1783080"/>
            <a:ext cx="3422904" cy="3108960"/>
          </a:xfrm>
          <a:prstGeom prst="roundRect">
            <a:avLst>
              <a:gd name="adj" fmla="val 3529"/>
            </a:avLst>
          </a:prstGeom>
          <a:solidFill>
            <a:srgbClr val="FBFAF6"/>
          </a:solidFill>
          <a:ln w="12700">
            <a:solidFill>
              <a:srgbClr val="DAD6CC"/>
            </a:solidFill>
            <a:prstDash val="solid"/>
          </a:ln>
        </p:spPr>
      </p:sp>
      <p:sp>
        <p:nvSpPr>
          <p:cNvPr id="9" name="Text 7"/>
          <p:cNvSpPr txBox="1"/>
          <p:nvPr/>
        </p:nvSpPr>
        <p:spPr>
          <a:xfrm>
            <a:off x="4657344"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K15 · KỸ THUẬT</a:t>
            </a:r>
            <a:endParaRPr lang="en-US" sz="1300" dirty="0"/>
          </a:p>
        </p:txBody>
      </p:sp>
      <p:sp>
        <p:nvSpPr>
          <p:cNvPr id="10" name="Text 8"/>
          <p:cNvSpPr txBox="1"/>
          <p:nvPr/>
        </p:nvSpPr>
        <p:spPr>
          <a:xfrm>
            <a:off x="4657344" y="2377440"/>
            <a:ext cx="2874264" cy="548640"/>
          </a:xfrm>
          <a:prstGeom prst="rect">
            <a:avLst/>
          </a:prstGeom>
          <a:noFill/>
          <a:ln/>
        </p:spPr>
        <p:txBody>
          <a:bodyPr wrap="square" lIns="0" tIns="0" rIns="0" bIns="0" rtlCol="0" anchor="ctr"/>
          <a:lstStyle/>
          <a:p>
            <a:pPr indent="0" marL="0">
              <a:buNone/>
            </a:pPr>
            <a:r>
              <a:rPr lang="en-US" sz="2400" b="1" dirty="0">
                <a:solidFill>
                  <a:srgbClr val="12202B"/>
                </a:solidFill>
                <a:latin typeface="Calibri" pitchFamily="34" charset="0"/>
                <a:ea typeface="Calibri" pitchFamily="34" charset="-122"/>
                <a:cs typeface="Calibri" pitchFamily="34" charset="-120"/>
              </a:rPr>
              <a:t>Concurrency / Race</a:t>
            </a:r>
            <a:endParaRPr lang="en-US" sz="2400" dirty="0"/>
          </a:p>
        </p:txBody>
      </p:sp>
      <p:sp>
        <p:nvSpPr>
          <p:cNvPr id="11" name="Text 9"/>
          <p:cNvSpPr txBox="1"/>
          <p:nvPr/>
        </p:nvSpPr>
        <p:spPr>
          <a:xfrm>
            <a:off x="4657344" y="3063240"/>
            <a:ext cx="2874264" cy="164592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Bắn nhiều request cùng một mili-giây bằng k6, rồi kiểm tra tính nhất quán trực tiếp trong CSDL.</a:t>
            </a:r>
            <a:endParaRPr lang="en-US" sz="1600" dirty="0"/>
          </a:p>
        </p:txBody>
      </p:sp>
      <p:sp>
        <p:nvSpPr>
          <p:cNvPr id="12" name="Card"/>
          <p:cNvSpPr/>
          <p:nvPr/>
        </p:nvSpPr>
        <p:spPr>
          <a:xfrm>
            <a:off x="8125968" y="1783080"/>
            <a:ext cx="3422904" cy="3108960"/>
          </a:xfrm>
          <a:prstGeom prst="roundRect">
            <a:avLst>
              <a:gd name="adj" fmla="val 3529"/>
            </a:avLst>
          </a:prstGeom>
          <a:solidFill>
            <a:srgbClr val="FBFAF6"/>
          </a:solidFill>
          <a:ln w="12700">
            <a:solidFill>
              <a:srgbClr val="DAD6CC"/>
            </a:solidFill>
            <a:prstDash val="solid"/>
          </a:ln>
        </p:spPr>
      </p:sp>
      <p:sp>
        <p:nvSpPr>
          <p:cNvPr id="13" name="Text 11"/>
          <p:cNvSpPr txBox="1"/>
          <p:nvPr/>
        </p:nvSpPr>
        <p:spPr>
          <a:xfrm>
            <a:off x="8400288" y="1965960"/>
            <a:ext cx="2874264" cy="274320"/>
          </a:xfrm>
          <a:prstGeom prst="rect">
            <a:avLst/>
          </a:prstGeom>
          <a:noFill/>
          <a:ln/>
        </p:spPr>
        <p:txBody>
          <a:bodyPr wrap="square" lIns="0" tIns="0" rIns="0" bIns="0" rtlCol="0" anchor="ctr"/>
          <a:lstStyle/>
          <a:p>
            <a:pPr indent="0" marL="0">
              <a:buNone/>
            </a:pPr>
            <a:r>
              <a:rPr lang="en-US" sz="1300" b="1" dirty="0">
                <a:solidFill>
                  <a:srgbClr val="2558B8"/>
                </a:solidFill>
                <a:latin typeface="Consolas" pitchFamily="34" charset="0"/>
                <a:ea typeface="Consolas" pitchFamily="34" charset="-122"/>
                <a:cs typeface="Consolas" pitchFamily="34" charset="-120"/>
              </a:rPr>
              <a:t>PHẠM VI</a:t>
            </a:r>
            <a:endParaRPr lang="en-US" sz="1300" dirty="0"/>
          </a:p>
        </p:txBody>
      </p:sp>
      <p:sp>
        <p:nvSpPr>
          <p:cNvPr id="14" name="Text 12"/>
          <p:cNvSpPr txBox="1"/>
          <p:nvPr/>
        </p:nvSpPr>
        <p:spPr>
          <a:xfrm>
            <a:off x="8400288" y="2377440"/>
            <a:ext cx="2874264" cy="548640"/>
          </a:xfrm>
          <a:prstGeom prst="rect">
            <a:avLst/>
          </a:prstGeom>
          <a:noFill/>
          <a:ln/>
        </p:spPr>
        <p:txBody>
          <a:bodyPr wrap="square" lIns="0" tIns="0" rIns="0" bIns="0" rtlCol="0" anchor="ctr"/>
          <a:lstStyle/>
          <a:p>
            <a:pPr indent="0" marL="0">
              <a:buNone/>
            </a:pPr>
            <a:r>
              <a:rPr lang="en-US" sz="2400" b="1" dirty="0">
                <a:solidFill>
                  <a:srgbClr val="12202B"/>
                </a:solidFill>
                <a:latin typeface="Calibri" pitchFamily="34" charset="0"/>
                <a:ea typeface="Calibri" pitchFamily="34" charset="-122"/>
                <a:cs typeface="Calibri" pitchFamily="34" charset="-120"/>
              </a:rPr>
              <a:t>Luồng booking</a:t>
            </a:r>
            <a:endParaRPr lang="en-US" sz="2400" dirty="0"/>
          </a:p>
        </p:txBody>
      </p:sp>
      <p:sp>
        <p:nvSpPr>
          <p:cNvPr id="15" name="Text 13"/>
          <p:cNvSpPr txBox="1"/>
          <p:nvPr/>
        </p:nvSpPr>
        <p:spPr>
          <a:xfrm>
            <a:off x="8400288" y="3063240"/>
            <a:ext cx="2874264" cy="164592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Đặt lịch 1-1, event có ghế, event cần xác nhận, đổi lịch, hủy lịch, giới hạn số booking mỗi ngày.</a:t>
            </a:r>
            <a:endParaRPr lang="en-US" sz="1600" dirty="0"/>
          </a:p>
        </p:txBody>
      </p:sp>
      <p:sp>
        <p:nvSpPr>
          <p:cNvPr id="16" name="Text 14"/>
          <p:cNvSpPr txBox="1"/>
          <p:nvPr/>
        </p:nvSpPr>
        <p:spPr>
          <a:xfrm>
            <a:off x="640080" y="5257800"/>
            <a:ext cx="10908792" cy="457200"/>
          </a:xfrm>
          <a:prstGeom prst="rect">
            <a:avLst/>
          </a:prstGeom>
          <a:noFill/>
          <a:ln/>
        </p:spPr>
        <p:txBody>
          <a:bodyPr wrap="square" lIns="0" tIns="0" rIns="0" bIns="0" rtlCol="0" anchor="ctr"/>
          <a:lstStyle/>
          <a:p>
            <a:pPr indent="0" marL="0">
              <a:buNone/>
            </a:pPr>
            <a:r>
              <a:rPr lang="en-US" sz="1600" dirty="0">
                <a:solidFill>
                  <a:srgbClr val="4A5866"/>
                </a:solidFill>
                <a:latin typeface="Calibri" pitchFamily="34" charset="0"/>
                <a:ea typeface="Calibri" pitchFamily="34" charset="-122"/>
                <a:cs typeface="Calibri" pitchFamily="34" charset="-120"/>
              </a:rPr>
              <a:t>Ngoài phạm vi: đồng bộ Google/Outlook, thanh toán, team round-robin, API v2, hiệu năng quy mô lớn.</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02 · KIẾN TRÚC</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Một request đặt lịch đi qua 5 module</a:t>
            </a:r>
            <a:endParaRPr lang="en-US" sz="3400" dirty="0"/>
          </a:p>
        </p:txBody>
      </p:sp>
      <p:sp>
        <p:nvSpPr>
          <p:cNvPr id="4" name="Card"/>
          <p:cNvSpPr/>
          <p:nvPr/>
        </p:nvSpPr>
        <p:spPr>
          <a:xfrm>
            <a:off x="640080" y="1691640"/>
            <a:ext cx="2331720" cy="1600200"/>
          </a:xfrm>
          <a:prstGeom prst="roundRect">
            <a:avLst>
              <a:gd name="adj" fmla="val 6857"/>
            </a:avLst>
          </a:prstGeom>
          <a:solidFill>
            <a:srgbClr val="12202B"/>
          </a:solidFill>
          <a:ln w="12700">
            <a:solidFill>
              <a:srgbClr val="12202B"/>
            </a:solidFill>
            <a:prstDash val="solid"/>
          </a:ln>
        </p:spPr>
      </p:sp>
      <p:sp>
        <p:nvSpPr>
          <p:cNvPr id="5" name="Text 3"/>
          <p:cNvSpPr txBox="1"/>
          <p:nvPr/>
        </p:nvSpPr>
        <p:spPr>
          <a:xfrm>
            <a:off x="777240" y="1783080"/>
            <a:ext cx="2057400" cy="457200"/>
          </a:xfrm>
          <a:prstGeom prst="rect">
            <a:avLst/>
          </a:prstGeom>
          <a:noFill/>
          <a:ln/>
        </p:spPr>
        <p:txBody>
          <a:bodyPr wrap="square" lIns="0" tIns="0" rIns="0" bIns="0" rtlCol="0" anchor="t"/>
          <a:lstStyle/>
          <a:p>
            <a:pPr indent="0" marL="0">
              <a:buNone/>
            </a:pPr>
            <a:r>
              <a:rPr lang="en-US" sz="1300" b="1" dirty="0">
                <a:solidFill>
                  <a:srgbClr val="E07B39"/>
                </a:solidFill>
                <a:latin typeface="Consolas" pitchFamily="34" charset="0"/>
                <a:ea typeface="Consolas" pitchFamily="34" charset="-122"/>
                <a:cs typeface="Consolas" pitchFamily="34" charset="-120"/>
              </a:rPr>
              <a:t>apps/web</a:t>
            </a:r>
            <a:endParaRPr lang="en-US" sz="1300" dirty="0"/>
          </a:p>
        </p:txBody>
      </p:sp>
      <p:sp>
        <p:nvSpPr>
          <p:cNvPr id="6" name="Text 4"/>
          <p:cNvSpPr txBox="1"/>
          <p:nvPr/>
        </p:nvSpPr>
        <p:spPr>
          <a:xfrm>
            <a:off x="777240" y="2286000"/>
            <a:ext cx="2057400" cy="914400"/>
          </a:xfrm>
          <a:prstGeom prst="rect">
            <a:avLst/>
          </a:prstGeom>
          <a:noFill/>
          <a:ln/>
        </p:spPr>
        <p:txBody>
          <a:bodyPr wrap="square" lIns="0" tIns="0" rIns="0" bIns="0" rtlCol="0" anchor="t"/>
          <a:lstStyle/>
          <a:p>
            <a:pPr indent="0" marL="0">
              <a:buNone/>
            </a:pPr>
            <a:r>
              <a:rPr lang="en-US" sz="1400" dirty="0">
                <a:solidFill>
                  <a:srgbClr val="F4F2EC"/>
                </a:solidFill>
                <a:latin typeface="Calibri" pitchFamily="34" charset="0"/>
                <a:ea typeface="Calibri" pitchFamily="34" charset="-122"/>
                <a:cs typeface="Calibri" pitchFamily="34" charset="-120"/>
              </a:rPr>
              <a:t>POST /api/book/event</a:t>
            </a:r>
            <a:endParaRPr lang="en-US" sz="1400" dirty="0"/>
          </a:p>
          <a:p>
            <a:pPr indent="0" marL="0">
              <a:buNone/>
            </a:pPr>
            <a:r>
              <a:rPr lang="en-US" sz="1400" dirty="0">
                <a:solidFill>
                  <a:srgbClr val="F4F2EC"/>
                </a:solidFill>
                <a:latin typeface="Calibri" pitchFamily="34" charset="0"/>
                <a:ea typeface="Calibri" pitchFamily="34" charset="-122"/>
                <a:cs typeface="Calibri" pitchFamily="34" charset="-120"/>
              </a:rPr>
              <a:t>POST /api/cancel</a:t>
            </a:r>
            <a:endParaRPr lang="en-US" sz="1400" dirty="0"/>
          </a:p>
        </p:txBody>
      </p:sp>
      <p:sp>
        <p:nvSpPr>
          <p:cNvPr id="7" name="Shape 5"/>
          <p:cNvSpPr/>
          <p:nvPr/>
        </p:nvSpPr>
        <p:spPr>
          <a:xfrm>
            <a:off x="3008376" y="2487168"/>
            <a:ext cx="454152" cy="0"/>
          </a:xfrm>
          <a:prstGeom prst="line">
            <a:avLst/>
          </a:prstGeom>
          <a:noFill/>
          <a:ln w="25400">
            <a:solidFill>
              <a:srgbClr val="7A8592"/>
            </a:solidFill>
            <a:prstDash val="solid"/>
            <a:tailEnd type="triangle"/>
          </a:ln>
        </p:spPr>
      </p:sp>
      <p:sp>
        <p:nvSpPr>
          <p:cNvPr id="8" name="Card"/>
          <p:cNvSpPr/>
          <p:nvPr/>
        </p:nvSpPr>
        <p:spPr>
          <a:xfrm>
            <a:off x="3499104" y="1691640"/>
            <a:ext cx="2331720" cy="1600200"/>
          </a:xfrm>
          <a:prstGeom prst="roundRect">
            <a:avLst>
              <a:gd name="adj" fmla="val 6857"/>
            </a:avLst>
          </a:prstGeom>
          <a:solidFill>
            <a:srgbClr val="FBFAF6"/>
          </a:solidFill>
          <a:ln w="12700">
            <a:solidFill>
              <a:srgbClr val="DAD6CC"/>
            </a:solidFill>
            <a:prstDash val="solid"/>
          </a:ln>
        </p:spPr>
      </p:sp>
      <p:sp>
        <p:nvSpPr>
          <p:cNvPr id="9" name="Text 7"/>
          <p:cNvSpPr txBox="1"/>
          <p:nvPr/>
        </p:nvSpPr>
        <p:spPr>
          <a:xfrm>
            <a:off x="3636264" y="1783080"/>
            <a:ext cx="2057400" cy="457200"/>
          </a:xfrm>
          <a:prstGeom prst="rect">
            <a:avLst/>
          </a:prstGeom>
          <a:noFill/>
          <a:ln/>
        </p:spPr>
        <p:txBody>
          <a:bodyPr wrap="square" lIns="0" tIns="0" rIns="0" bIns="0" rtlCol="0" anchor="t"/>
          <a:lstStyle/>
          <a:p>
            <a:pPr indent="0" marL="0">
              <a:buNone/>
            </a:pPr>
            <a:r>
              <a:rPr lang="en-US" sz="1300" b="1" dirty="0">
                <a:solidFill>
                  <a:srgbClr val="2558B8"/>
                </a:solidFill>
                <a:latin typeface="Consolas" pitchFamily="34" charset="0"/>
                <a:ea typeface="Consolas" pitchFamily="34" charset="-122"/>
                <a:cs typeface="Consolas" pitchFamily="34" charset="-120"/>
              </a:rPr>
              <a:t>RegularBookingService</a:t>
            </a:r>
            <a:endParaRPr lang="en-US" sz="1300" dirty="0"/>
          </a:p>
        </p:txBody>
      </p:sp>
      <p:sp>
        <p:nvSpPr>
          <p:cNvPr id="10" name="Text 8"/>
          <p:cNvSpPr txBox="1"/>
          <p:nvPr/>
        </p:nvSpPr>
        <p:spPr>
          <a:xfrm>
            <a:off x="3636264" y="2286000"/>
            <a:ext cx="2057400" cy="91440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Điều phối: kiểm tra giới hạn, lịch trống, booking gốc</a:t>
            </a:r>
            <a:endParaRPr lang="en-US" sz="1400" dirty="0"/>
          </a:p>
        </p:txBody>
      </p:sp>
      <p:sp>
        <p:nvSpPr>
          <p:cNvPr id="11" name="Shape 9"/>
          <p:cNvSpPr/>
          <p:nvPr/>
        </p:nvSpPr>
        <p:spPr>
          <a:xfrm>
            <a:off x="5867400" y="2487168"/>
            <a:ext cx="454152" cy="0"/>
          </a:xfrm>
          <a:prstGeom prst="line">
            <a:avLst/>
          </a:prstGeom>
          <a:noFill/>
          <a:ln w="25400">
            <a:solidFill>
              <a:srgbClr val="7A8592"/>
            </a:solidFill>
            <a:prstDash val="solid"/>
            <a:tailEnd type="triangle"/>
          </a:ln>
        </p:spPr>
      </p:sp>
      <p:sp>
        <p:nvSpPr>
          <p:cNvPr id="12" name="Card"/>
          <p:cNvSpPr/>
          <p:nvPr/>
        </p:nvSpPr>
        <p:spPr>
          <a:xfrm>
            <a:off x="6358128" y="1691640"/>
            <a:ext cx="2331720" cy="1600200"/>
          </a:xfrm>
          <a:prstGeom prst="roundRect">
            <a:avLst>
              <a:gd name="adj" fmla="val 6857"/>
            </a:avLst>
          </a:prstGeom>
          <a:solidFill>
            <a:srgbClr val="FBFAF6"/>
          </a:solidFill>
          <a:ln w="12700">
            <a:solidFill>
              <a:srgbClr val="DAD6CC"/>
            </a:solidFill>
            <a:prstDash val="solid"/>
          </a:ln>
        </p:spPr>
      </p:sp>
      <p:sp>
        <p:nvSpPr>
          <p:cNvPr id="13" name="Text 11"/>
          <p:cNvSpPr txBox="1"/>
          <p:nvPr/>
        </p:nvSpPr>
        <p:spPr>
          <a:xfrm>
            <a:off x="6495288" y="1783080"/>
            <a:ext cx="2057400" cy="457200"/>
          </a:xfrm>
          <a:prstGeom prst="rect">
            <a:avLst/>
          </a:prstGeom>
          <a:noFill/>
          <a:ln/>
        </p:spPr>
        <p:txBody>
          <a:bodyPr wrap="square" lIns="0" tIns="0" rIns="0" bIns="0" rtlCol="0" anchor="t"/>
          <a:lstStyle/>
          <a:p>
            <a:pPr indent="0" marL="0">
              <a:buNone/>
            </a:pPr>
            <a:r>
              <a:rPr lang="en-US" sz="1300" b="1" dirty="0">
                <a:solidFill>
                  <a:srgbClr val="2558B8"/>
                </a:solidFill>
                <a:latin typeface="Consolas" pitchFamily="34" charset="0"/>
                <a:ea typeface="Consolas" pitchFamily="34" charset="-122"/>
                <a:cs typeface="Consolas" pitchFamily="34" charset="-120"/>
              </a:rPr>
              <a:t>createBooking / handleSeats</a:t>
            </a:r>
            <a:endParaRPr lang="en-US" sz="1300" dirty="0"/>
          </a:p>
        </p:txBody>
      </p:sp>
      <p:sp>
        <p:nvSpPr>
          <p:cNvPr id="14" name="Text 12"/>
          <p:cNvSpPr txBox="1"/>
          <p:nvPr/>
        </p:nvSpPr>
        <p:spPr>
          <a:xfrm>
            <a:off x="6495288" y="2286000"/>
            <a:ext cx="2057400" cy="91440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Ghi Booking, Attendee, BookingSeat</a:t>
            </a:r>
            <a:endParaRPr lang="en-US" sz="1400" dirty="0"/>
          </a:p>
        </p:txBody>
      </p:sp>
      <p:sp>
        <p:nvSpPr>
          <p:cNvPr id="15" name="Shape 13"/>
          <p:cNvSpPr/>
          <p:nvPr/>
        </p:nvSpPr>
        <p:spPr>
          <a:xfrm>
            <a:off x="8726424" y="2487168"/>
            <a:ext cx="454152" cy="0"/>
          </a:xfrm>
          <a:prstGeom prst="line">
            <a:avLst/>
          </a:prstGeom>
          <a:noFill/>
          <a:ln w="25400">
            <a:solidFill>
              <a:srgbClr val="7A8592"/>
            </a:solidFill>
            <a:prstDash val="solid"/>
            <a:tailEnd type="triangle"/>
          </a:ln>
        </p:spPr>
      </p:sp>
      <p:sp>
        <p:nvSpPr>
          <p:cNvPr id="16" name="Card"/>
          <p:cNvSpPr/>
          <p:nvPr/>
        </p:nvSpPr>
        <p:spPr>
          <a:xfrm>
            <a:off x="9217152" y="1691640"/>
            <a:ext cx="2331720" cy="1600200"/>
          </a:xfrm>
          <a:prstGeom prst="roundRect">
            <a:avLst>
              <a:gd name="adj" fmla="val 6857"/>
            </a:avLst>
          </a:prstGeom>
          <a:solidFill>
            <a:srgbClr val="12202B"/>
          </a:solidFill>
          <a:ln w="12700">
            <a:solidFill>
              <a:srgbClr val="12202B"/>
            </a:solidFill>
            <a:prstDash val="solid"/>
          </a:ln>
        </p:spPr>
      </p:sp>
      <p:sp>
        <p:nvSpPr>
          <p:cNvPr id="17" name="Text 15"/>
          <p:cNvSpPr txBox="1"/>
          <p:nvPr/>
        </p:nvSpPr>
        <p:spPr>
          <a:xfrm>
            <a:off x="9354312" y="1783080"/>
            <a:ext cx="2057400" cy="457200"/>
          </a:xfrm>
          <a:prstGeom prst="rect">
            <a:avLst/>
          </a:prstGeom>
          <a:noFill/>
          <a:ln/>
        </p:spPr>
        <p:txBody>
          <a:bodyPr wrap="square" lIns="0" tIns="0" rIns="0" bIns="0" rtlCol="0" anchor="t"/>
          <a:lstStyle/>
          <a:p>
            <a:pPr indent="0" marL="0">
              <a:buNone/>
            </a:pPr>
            <a:r>
              <a:rPr lang="en-US" sz="1300" b="1" dirty="0">
                <a:solidFill>
                  <a:srgbClr val="E07B39"/>
                </a:solidFill>
                <a:latin typeface="Consolas" pitchFamily="34" charset="0"/>
                <a:ea typeface="Consolas" pitchFamily="34" charset="-122"/>
                <a:cs typeface="Consolas" pitchFamily="34" charset="-120"/>
              </a:rPr>
              <a:t>PostgreSQL</a:t>
            </a:r>
            <a:endParaRPr lang="en-US" sz="1300" dirty="0"/>
          </a:p>
        </p:txBody>
      </p:sp>
      <p:sp>
        <p:nvSpPr>
          <p:cNvPr id="18" name="Text 16"/>
          <p:cNvSpPr txBox="1"/>
          <p:nvPr/>
        </p:nvSpPr>
        <p:spPr>
          <a:xfrm>
            <a:off x="9354312" y="2286000"/>
            <a:ext cx="2057400" cy="914400"/>
          </a:xfrm>
          <a:prstGeom prst="rect">
            <a:avLst/>
          </a:prstGeom>
          <a:noFill/>
          <a:ln/>
        </p:spPr>
        <p:txBody>
          <a:bodyPr wrap="square" lIns="0" tIns="0" rIns="0" bIns="0" rtlCol="0" anchor="t"/>
          <a:lstStyle/>
          <a:p>
            <a:pPr indent="0" marL="0">
              <a:buNone/>
            </a:pPr>
            <a:r>
              <a:rPr lang="en-US" sz="1400" dirty="0">
                <a:solidFill>
                  <a:srgbClr val="F4F2EC"/>
                </a:solidFill>
                <a:latin typeface="Calibri" pitchFamily="34" charset="0"/>
                <a:ea typeface="Calibri" pitchFamily="34" charset="-122"/>
                <a:cs typeface="Calibri" pitchFamily="34" charset="-120"/>
              </a:rPr>
              <a:t>UNIQUE(uid)</a:t>
            </a:r>
            <a:endParaRPr lang="en-US" sz="1400" dirty="0"/>
          </a:p>
          <a:p>
            <a:pPr indent="0" marL="0">
              <a:buNone/>
            </a:pPr>
            <a:r>
              <a:rPr lang="en-US" sz="1400" dirty="0">
                <a:solidFill>
                  <a:srgbClr val="F4F2EC"/>
                </a:solidFill>
                <a:latin typeface="Calibri" pitchFamily="34" charset="0"/>
                <a:ea typeface="Calibri" pitchFamily="34" charset="-122"/>
                <a:cs typeface="Calibri" pitchFamily="34" charset="-120"/>
              </a:rPr>
              <a:t>UNIQUE(idempotencyKey)</a:t>
            </a:r>
            <a:endParaRPr lang="en-US" sz="14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640080" y="3611880"/>
          <a:ext cx="10908792" cy="914400"/>
        </p:xfrm>
        <a:graphic>
          <a:graphicData uri="http://schemas.openxmlformats.org/drawingml/2006/table">
            <a:tbl>
              <a:tblPr/>
              <a:tblGrid>
                <a:gridCol w="4754880"/>
                <a:gridCol w="6153912"/>
              </a:tblGrid>
              <a:tr h="457200">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Điều cần chú ý khi kiểm thử 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checkBookingLimits · ensureAvailableUsers</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ĐỌC rồi quyết định, không giữ khóa nào</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booking-idempotency-key (Prisma extension)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Key = f(start, end, host), chỉ gán khi ACCEPTED</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handleSeats → addSeatToBooking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Có SELECT … FOR UPDATE khi slot đã có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getOriginalRescheduledBooking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Kiểm trạng thái booking gốc ở đầu luồng đổi lịch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20"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Sơ đồ container đầy đủ: docs/diagrams/kien-truc.md</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E07B39"/>
                </a:solidFill>
                <a:latin typeface="Consolas" pitchFamily="34" charset="0"/>
                <a:ea typeface="Consolas" pitchFamily="34" charset="-122"/>
                <a:cs typeface="Consolas" pitchFamily="34" charset="-120"/>
              </a:rPr>
              <a:t>03 · GIẢ THUYẾT</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F4F2EC"/>
                </a:solidFill>
                <a:latin typeface="Calibri" pitchFamily="34" charset="0"/>
                <a:ea typeface="Calibri" pitchFamily="34" charset="-122"/>
                <a:cs typeface="Calibri" pitchFamily="34" charset="-120"/>
              </a:rPr>
              <a:t>Kiểm tra rồi mới ghi: khe hở TOCTOU</a:t>
            </a:r>
            <a:endParaRPr lang="en-US" sz="3400" dirty="0"/>
          </a:p>
        </p:txBody>
      </p:sp>
      <p:sp>
        <p:nvSpPr>
          <p:cNvPr id="4" name="Text 2"/>
          <p:cNvSpPr txBox="1"/>
          <p:nvPr/>
        </p:nvSpPr>
        <p:spPr>
          <a:xfrm>
            <a:off x="2194560" y="1645920"/>
            <a:ext cx="4480560" cy="365760"/>
          </a:xfrm>
          <a:prstGeom prst="rect">
            <a:avLst/>
          </a:prstGeom>
          <a:noFill/>
          <a:ln/>
        </p:spPr>
        <p:txBody>
          <a:bodyPr wrap="square" lIns="0" tIns="0" rIns="0" bIns="0" rtlCol="0" anchor="ctr"/>
          <a:lstStyle/>
          <a:p>
            <a:pPr indent="0" marL="0">
              <a:buNone/>
            </a:pPr>
            <a:r>
              <a:rPr lang="en-US" sz="1500" b="1" dirty="0">
                <a:solidFill>
                  <a:srgbClr val="E07B39"/>
                </a:solidFill>
                <a:latin typeface="Consolas" pitchFamily="34" charset="0"/>
                <a:ea typeface="Consolas" pitchFamily="34" charset="-122"/>
                <a:cs typeface="Consolas" pitchFamily="34" charset="-120"/>
              </a:rPr>
              <a:t>Request A · 09:00–09:30</a:t>
            </a:r>
            <a:endParaRPr lang="en-US" sz="1500" dirty="0"/>
          </a:p>
        </p:txBody>
      </p:sp>
      <p:sp>
        <p:nvSpPr>
          <p:cNvPr id="5" name="Text 3"/>
          <p:cNvSpPr txBox="1"/>
          <p:nvPr/>
        </p:nvSpPr>
        <p:spPr>
          <a:xfrm>
            <a:off x="6949440" y="1645920"/>
            <a:ext cx="4480560" cy="365760"/>
          </a:xfrm>
          <a:prstGeom prst="rect">
            <a:avLst/>
          </a:prstGeom>
          <a:noFill/>
          <a:ln/>
        </p:spPr>
        <p:txBody>
          <a:bodyPr wrap="square" lIns="0" tIns="0" rIns="0" bIns="0" rtlCol="0" anchor="ctr"/>
          <a:lstStyle/>
          <a:p>
            <a:pPr indent="0" marL="0">
              <a:buNone/>
            </a:pPr>
            <a:r>
              <a:rPr lang="en-US" sz="1500" b="1" dirty="0">
                <a:solidFill>
                  <a:srgbClr val="7FB0FF"/>
                </a:solidFill>
                <a:latin typeface="Consolas" pitchFamily="34" charset="0"/>
                <a:ea typeface="Consolas" pitchFamily="34" charset="-122"/>
                <a:cs typeface="Consolas" pitchFamily="34" charset="-120"/>
              </a:rPr>
              <a:t>Request B · 09:15–09:45</a:t>
            </a:r>
            <a:endParaRPr lang="en-US" sz="1500" dirty="0"/>
          </a:p>
        </p:txBody>
      </p:sp>
      <p:sp>
        <p:nvSpPr>
          <p:cNvPr id="6" name="Text 4"/>
          <p:cNvSpPr txBox="1"/>
          <p:nvPr/>
        </p:nvSpPr>
        <p:spPr>
          <a:xfrm>
            <a:off x="640080" y="2194560"/>
            <a:ext cx="1371600" cy="685800"/>
          </a:xfrm>
          <a:prstGeom prst="rect">
            <a:avLst/>
          </a:prstGeom>
          <a:noFill/>
          <a:ln/>
        </p:spPr>
        <p:txBody>
          <a:bodyPr wrap="square" lIns="0" tIns="0" rIns="0" bIns="0" rtlCol="0" anchor="ctr"/>
          <a:lstStyle/>
          <a:p>
            <a:pPr indent="0" marL="0">
              <a:buNone/>
            </a:pPr>
            <a:r>
              <a:rPr lang="en-US" sz="1600" dirty="0">
                <a:solidFill>
                  <a:srgbClr val="B8C6D2"/>
                </a:solidFill>
                <a:latin typeface="Calibri" pitchFamily="34" charset="0"/>
                <a:ea typeface="Calibri" pitchFamily="34" charset="-122"/>
                <a:cs typeface="Calibri" pitchFamily="34" charset="-120"/>
              </a:rPr>
              <a:t>t = 0 ms</a:t>
            </a:r>
            <a:endParaRPr lang="en-US" sz="1600" dirty="0"/>
          </a:p>
        </p:txBody>
      </p:sp>
      <p:sp>
        <p:nvSpPr>
          <p:cNvPr id="7" name="Shape 5"/>
          <p:cNvSpPr/>
          <p:nvPr/>
        </p:nvSpPr>
        <p:spPr>
          <a:xfrm>
            <a:off x="2194560" y="2194560"/>
            <a:ext cx="4480560" cy="685800"/>
          </a:xfrm>
          <a:prstGeom prst="roundRect">
            <a:avLst>
              <a:gd name="adj" fmla="val 13333"/>
            </a:avLst>
          </a:prstGeom>
          <a:solidFill>
            <a:srgbClr val="1D3142"/>
          </a:solidFill>
          <a:ln w="12700">
            <a:solidFill>
              <a:srgbClr val="1D3142"/>
            </a:solidFill>
            <a:prstDash val="solid"/>
          </a:ln>
        </p:spPr>
      </p:sp>
      <p:sp>
        <p:nvSpPr>
          <p:cNvPr id="8" name="Text 6"/>
          <p:cNvSpPr txBox="1"/>
          <p:nvPr/>
        </p:nvSpPr>
        <p:spPr>
          <a:xfrm>
            <a:off x="2377440" y="2194560"/>
            <a:ext cx="4114800"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Đọc lịch host → trống</a:t>
            </a:r>
            <a:endParaRPr lang="en-US" sz="1600" dirty="0"/>
          </a:p>
        </p:txBody>
      </p:sp>
      <p:sp>
        <p:nvSpPr>
          <p:cNvPr id="9" name="Shape 7"/>
          <p:cNvSpPr/>
          <p:nvPr/>
        </p:nvSpPr>
        <p:spPr>
          <a:xfrm>
            <a:off x="6949440" y="2194560"/>
            <a:ext cx="4480560" cy="685800"/>
          </a:xfrm>
          <a:prstGeom prst="roundRect">
            <a:avLst>
              <a:gd name="adj" fmla="val 13333"/>
            </a:avLst>
          </a:prstGeom>
          <a:solidFill>
            <a:srgbClr val="1D3142"/>
          </a:solidFill>
          <a:ln w="12700">
            <a:solidFill>
              <a:srgbClr val="1D3142"/>
            </a:solidFill>
            <a:prstDash val="solid"/>
          </a:ln>
        </p:spPr>
      </p:sp>
      <p:sp>
        <p:nvSpPr>
          <p:cNvPr id="10" name="Text 8"/>
          <p:cNvSpPr txBox="1"/>
          <p:nvPr/>
        </p:nvSpPr>
        <p:spPr>
          <a:xfrm>
            <a:off x="7132320" y="2194560"/>
            <a:ext cx="4114800"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Đọc lịch host → trống</a:t>
            </a:r>
            <a:endParaRPr lang="en-US" sz="1600" dirty="0"/>
          </a:p>
        </p:txBody>
      </p:sp>
      <p:sp>
        <p:nvSpPr>
          <p:cNvPr id="11" name="Text 9"/>
          <p:cNvSpPr txBox="1"/>
          <p:nvPr/>
        </p:nvSpPr>
        <p:spPr>
          <a:xfrm>
            <a:off x="640080" y="3108960"/>
            <a:ext cx="1371600" cy="685800"/>
          </a:xfrm>
          <a:prstGeom prst="rect">
            <a:avLst/>
          </a:prstGeom>
          <a:noFill/>
          <a:ln/>
        </p:spPr>
        <p:txBody>
          <a:bodyPr wrap="square" lIns="0" tIns="0" rIns="0" bIns="0" rtlCol="0" anchor="ctr"/>
          <a:lstStyle/>
          <a:p>
            <a:pPr indent="0" marL="0">
              <a:buNone/>
            </a:pPr>
            <a:r>
              <a:rPr lang="en-US" sz="1600" dirty="0">
                <a:solidFill>
                  <a:srgbClr val="B8C6D2"/>
                </a:solidFill>
                <a:latin typeface="Calibri" pitchFamily="34" charset="0"/>
                <a:ea typeface="Calibri" pitchFamily="34" charset="-122"/>
                <a:cs typeface="Calibri" pitchFamily="34" charset="-120"/>
              </a:rPr>
              <a:t>t ≈ 50 ms</a:t>
            </a:r>
            <a:endParaRPr lang="en-US" sz="1600" dirty="0"/>
          </a:p>
        </p:txBody>
      </p:sp>
      <p:sp>
        <p:nvSpPr>
          <p:cNvPr id="12" name="Shape 10"/>
          <p:cNvSpPr/>
          <p:nvPr/>
        </p:nvSpPr>
        <p:spPr>
          <a:xfrm>
            <a:off x="2194560" y="3108960"/>
            <a:ext cx="4480560" cy="685800"/>
          </a:xfrm>
          <a:prstGeom prst="roundRect">
            <a:avLst>
              <a:gd name="adj" fmla="val 13333"/>
            </a:avLst>
          </a:prstGeom>
          <a:solidFill>
            <a:srgbClr val="1D3142"/>
          </a:solidFill>
          <a:ln w="12700">
            <a:solidFill>
              <a:srgbClr val="1D3142"/>
            </a:solidFill>
            <a:prstDash val="solid"/>
          </a:ln>
        </p:spPr>
      </p:sp>
      <p:sp>
        <p:nvSpPr>
          <p:cNvPr id="13" name="Text 11"/>
          <p:cNvSpPr txBox="1"/>
          <p:nvPr/>
        </p:nvSpPr>
        <p:spPr>
          <a:xfrm>
            <a:off x="2377440" y="3108960"/>
            <a:ext cx="4114800"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INSERT, key = f(09:00, 09:30)</a:t>
            </a:r>
            <a:endParaRPr lang="en-US" sz="1600" dirty="0"/>
          </a:p>
        </p:txBody>
      </p:sp>
      <p:sp>
        <p:nvSpPr>
          <p:cNvPr id="14" name="Shape 12"/>
          <p:cNvSpPr/>
          <p:nvPr/>
        </p:nvSpPr>
        <p:spPr>
          <a:xfrm>
            <a:off x="6949440" y="3108960"/>
            <a:ext cx="4480560" cy="685800"/>
          </a:xfrm>
          <a:prstGeom prst="roundRect">
            <a:avLst>
              <a:gd name="adj" fmla="val 13333"/>
            </a:avLst>
          </a:prstGeom>
          <a:solidFill>
            <a:srgbClr val="1D3142"/>
          </a:solidFill>
          <a:ln w="12700">
            <a:solidFill>
              <a:srgbClr val="1D3142"/>
            </a:solidFill>
            <a:prstDash val="solid"/>
          </a:ln>
        </p:spPr>
      </p:sp>
      <p:sp>
        <p:nvSpPr>
          <p:cNvPr id="15" name="Text 13"/>
          <p:cNvSpPr txBox="1"/>
          <p:nvPr/>
        </p:nvSpPr>
        <p:spPr>
          <a:xfrm>
            <a:off x="7132320" y="3108960"/>
            <a:ext cx="4114800" cy="685800"/>
          </a:xfrm>
          <a:prstGeom prst="rect">
            <a:avLst/>
          </a:prstGeom>
          <a:noFill/>
          <a:ln/>
        </p:spPr>
        <p:txBody>
          <a:bodyPr wrap="square" lIns="0" tIns="0" rIns="0" bIns="0" rtlCol="0" anchor="ctr"/>
          <a:lstStyle/>
          <a:p>
            <a:pPr indent="0" marL="0">
              <a:buNone/>
            </a:pPr>
            <a:r>
              <a:rPr lang="en-US" sz="1600" dirty="0">
                <a:solidFill>
                  <a:srgbClr val="F4F2EC"/>
                </a:solidFill>
                <a:latin typeface="Calibri" pitchFamily="34" charset="0"/>
                <a:ea typeface="Calibri" pitchFamily="34" charset="-122"/>
                <a:cs typeface="Calibri" pitchFamily="34" charset="-120"/>
              </a:rPr>
              <a:t>INSERT, key = f(09:15, 09:45)</a:t>
            </a:r>
            <a:endParaRPr lang="en-US" sz="1600" dirty="0"/>
          </a:p>
        </p:txBody>
      </p:sp>
      <p:sp>
        <p:nvSpPr>
          <p:cNvPr id="16" name="Text 14"/>
          <p:cNvSpPr txBox="1"/>
          <p:nvPr/>
        </p:nvSpPr>
        <p:spPr>
          <a:xfrm>
            <a:off x="640080" y="4023360"/>
            <a:ext cx="1371600" cy="685800"/>
          </a:xfrm>
          <a:prstGeom prst="rect">
            <a:avLst/>
          </a:prstGeom>
          <a:noFill/>
          <a:ln/>
        </p:spPr>
        <p:txBody>
          <a:bodyPr wrap="square" lIns="0" tIns="0" rIns="0" bIns="0" rtlCol="0" anchor="ctr"/>
          <a:lstStyle/>
          <a:p>
            <a:pPr indent="0" marL="0">
              <a:buNone/>
            </a:pPr>
            <a:r>
              <a:rPr lang="en-US" sz="1600" dirty="0">
                <a:solidFill>
                  <a:srgbClr val="B8C6D2"/>
                </a:solidFill>
                <a:latin typeface="Calibri" pitchFamily="34" charset="0"/>
                <a:ea typeface="Calibri" pitchFamily="34" charset="-122"/>
                <a:cs typeface="Calibri" pitchFamily="34" charset="-120"/>
              </a:rPr>
              <a:t>kết quả</a:t>
            </a:r>
            <a:endParaRPr lang="en-US" sz="1600" dirty="0"/>
          </a:p>
        </p:txBody>
      </p:sp>
      <p:sp>
        <p:nvSpPr>
          <p:cNvPr id="17" name="Shape 15"/>
          <p:cNvSpPr/>
          <p:nvPr/>
        </p:nvSpPr>
        <p:spPr>
          <a:xfrm>
            <a:off x="2194560" y="4023360"/>
            <a:ext cx="4480560" cy="685800"/>
          </a:xfrm>
          <a:prstGeom prst="roundRect">
            <a:avLst>
              <a:gd name="adj" fmla="val 13333"/>
            </a:avLst>
          </a:prstGeom>
          <a:solidFill>
            <a:srgbClr val="E07B39"/>
          </a:solidFill>
          <a:ln w="12700">
            <a:solidFill>
              <a:srgbClr val="E07B39"/>
            </a:solidFill>
            <a:prstDash val="solid"/>
          </a:ln>
        </p:spPr>
      </p:sp>
      <p:sp>
        <p:nvSpPr>
          <p:cNvPr id="18" name="Text 16"/>
          <p:cNvSpPr txBox="1"/>
          <p:nvPr/>
        </p:nvSpPr>
        <p:spPr>
          <a:xfrm>
            <a:off x="2377440" y="4023360"/>
            <a:ext cx="4114800" cy="685800"/>
          </a:xfrm>
          <a:prstGeom prst="rect">
            <a:avLst/>
          </a:prstGeom>
          <a:noFill/>
          <a:ln/>
        </p:spPr>
        <p:txBody>
          <a:bodyPr wrap="square" lIns="0" tIns="0" rIns="0" bIns="0" rtlCol="0" anchor="ctr"/>
          <a:lstStyle/>
          <a:p>
            <a:pPr indent="0" marL="0">
              <a:buNone/>
            </a:pPr>
            <a:r>
              <a:rPr lang="en-US" sz="1600" b="1" dirty="0">
                <a:solidFill>
                  <a:srgbClr val="12202B"/>
                </a:solidFill>
                <a:latin typeface="Calibri" pitchFamily="34" charset="0"/>
                <a:ea typeface="Calibri" pitchFamily="34" charset="-122"/>
                <a:cs typeface="Calibri" pitchFamily="34" charset="-120"/>
              </a:rPr>
              <a:t>200 OK</a:t>
            </a:r>
            <a:endParaRPr lang="en-US" sz="1600" dirty="0"/>
          </a:p>
        </p:txBody>
      </p:sp>
      <p:sp>
        <p:nvSpPr>
          <p:cNvPr id="19" name="Shape 17"/>
          <p:cNvSpPr/>
          <p:nvPr/>
        </p:nvSpPr>
        <p:spPr>
          <a:xfrm>
            <a:off x="6949440" y="4023360"/>
            <a:ext cx="4480560" cy="685800"/>
          </a:xfrm>
          <a:prstGeom prst="roundRect">
            <a:avLst>
              <a:gd name="adj" fmla="val 13333"/>
            </a:avLst>
          </a:prstGeom>
          <a:solidFill>
            <a:srgbClr val="E07B39"/>
          </a:solidFill>
          <a:ln w="12700">
            <a:solidFill>
              <a:srgbClr val="E07B39"/>
            </a:solidFill>
            <a:prstDash val="solid"/>
          </a:ln>
        </p:spPr>
      </p:sp>
      <p:sp>
        <p:nvSpPr>
          <p:cNvPr id="20" name="Text 18"/>
          <p:cNvSpPr txBox="1"/>
          <p:nvPr/>
        </p:nvSpPr>
        <p:spPr>
          <a:xfrm>
            <a:off x="7132320" y="4023360"/>
            <a:ext cx="4114800" cy="685800"/>
          </a:xfrm>
          <a:prstGeom prst="rect">
            <a:avLst/>
          </a:prstGeom>
          <a:noFill/>
          <a:ln/>
        </p:spPr>
        <p:txBody>
          <a:bodyPr wrap="square" lIns="0" tIns="0" rIns="0" bIns="0" rtlCol="0" anchor="ctr"/>
          <a:lstStyle/>
          <a:p>
            <a:pPr indent="0" marL="0">
              <a:buNone/>
            </a:pPr>
            <a:r>
              <a:rPr lang="en-US" sz="1600" b="1" dirty="0">
                <a:solidFill>
                  <a:srgbClr val="12202B"/>
                </a:solidFill>
                <a:latin typeface="Calibri" pitchFamily="34" charset="0"/>
                <a:ea typeface="Calibri" pitchFamily="34" charset="-122"/>
                <a:cs typeface="Calibri" pitchFamily="34" charset="-120"/>
              </a:rPr>
              <a:t>200 OK → host bị đặt chồng</a:t>
            </a:r>
            <a:endParaRPr lang="en-US" sz="1600" dirty="0"/>
          </a:p>
        </p:txBody>
      </p:sp>
      <p:sp>
        <p:nvSpPr>
          <p:cNvPr id="21" name="Text 19"/>
          <p:cNvSpPr txBox="1"/>
          <p:nvPr/>
        </p:nvSpPr>
        <p:spPr>
          <a:xfrm>
            <a:off x="640080" y="5120640"/>
            <a:ext cx="10908792" cy="731520"/>
          </a:xfrm>
          <a:prstGeom prst="rect">
            <a:avLst/>
          </a:prstGeom>
          <a:noFill/>
          <a:ln/>
        </p:spPr>
        <p:txBody>
          <a:bodyPr wrap="square" lIns="0" tIns="0" rIns="0" bIns="0" rtlCol="0" anchor="t"/>
          <a:lstStyle/>
          <a:p>
            <a:pPr indent="0" marL="0">
              <a:buNone/>
            </a:pPr>
            <a:r>
              <a:rPr lang="en-US" sz="1800" dirty="0">
                <a:solidFill>
                  <a:srgbClr val="B8C6D2"/>
                </a:solidFill>
                <a:latin typeface="Calibri" pitchFamily="34" charset="0"/>
                <a:ea typeface="Calibri" pitchFamily="34" charset="-122"/>
                <a:cs typeface="Calibri" pitchFamily="34" charset="-120"/>
              </a:rPr>
              <a:t>Hai key khác nhau nên UNIQUE không chặn. Khóa idempotency chỉ bảo vệ trường hợp </a:t>
            </a:r>
            <a:pPr indent="0" marL="0">
              <a:buNone/>
            </a:pPr>
            <a:r>
              <a:rPr lang="en-US" sz="1800" b="1" dirty="0">
                <a:solidFill>
                  <a:srgbClr val="F4F2EC"/>
                </a:solidFill>
                <a:latin typeface="Calibri" pitchFamily="34" charset="0"/>
                <a:ea typeface="Calibri" pitchFamily="34" charset="-122"/>
                <a:cs typeface="Calibri" pitchFamily="34" charset="-120"/>
              </a:rPr>
              <a:t>trùng khít</a:t>
            </a:r>
            <a:pPr indent="0" marL="0">
              <a:buNone/>
            </a:pPr>
            <a:r>
              <a:rPr lang="en-US" sz="1800" dirty="0">
                <a:solidFill>
                  <a:srgbClr val="B8C6D2"/>
                </a:solidFill>
                <a:latin typeface="Calibri" pitchFamily="34" charset="0"/>
                <a:ea typeface="Calibri" pitchFamily="34" charset="-122"/>
                <a:cs typeface="Calibri" pitchFamily="34" charset="-120"/>
              </a:rPr>
              <a:t> start, end và host.</a:t>
            </a:r>
            <a:endParaRPr lang="en-US" sz="1800" dirty="0"/>
          </a:p>
        </p:txBody>
      </p:sp>
      <p:sp>
        <p:nvSpPr>
          <p:cNvPr id="22"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8C9AA8"/>
                </a:solidFill>
                <a:latin typeface="Calibri" pitchFamily="34" charset="0"/>
                <a:ea typeface="Calibri" pitchFamily="34" charset="-122"/>
                <a:cs typeface="Calibri" pitchFamily="34" charset="-120"/>
              </a:rPr>
              <a:t>RegularBookingService.ts: ensureAvailableUsers (~dòng 1029) → createBooking (~dòng 1939)</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04 · MÔI TRƯỜNG</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Cố định phiên bản, chạy được 3 luồng nghiệp vụ</a:t>
            </a:r>
            <a:endParaRPr lang="en-US" sz="3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640080" y="1783080"/>
          <a:ext cx="5225796" cy="914400"/>
        </p:xfrm>
        <a:graphic>
          <a:graphicData uri="http://schemas.openxmlformats.org/drawingml/2006/table">
            <a:tbl>
              <a:tblPr/>
              <a:tblGrid>
                <a:gridCol w="2011680"/>
                <a:gridCol w="3214116"/>
              </a:tblGrid>
              <a:tr h="457200">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Thành phần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Phiên bản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Cal.com</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v6.2.0 · 1c193cca</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Node / Yarn</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22.23 / 4.12.0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PostgreSQL</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16 (300 kết nối)</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k6</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2.3.0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Dữ liệu test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host k15host, 5 event type</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6323076" y="1783080"/>
          <a:ext cx="5225796" cy="914400"/>
        </p:xfrm>
        <a:graphic>
          <a:graphicData uri="http://schemas.openxmlformats.org/drawingml/2006/table">
            <a:tbl>
              <a:tblPr/>
              <a:tblGrid>
                <a:gridCol w="2194560"/>
                <a:gridCol w="914400"/>
                <a:gridCol w="2116836"/>
              </a:tblGrid>
              <a:tr h="457200">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Smoke test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HTTP</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Trong DB</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 Đặt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accepted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 Đổi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bản cũ cancelled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3. Hủy lịch</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cancelled</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4. Đặt lại slot</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đã giải phóng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40080" y="4846320"/>
            <a:ext cx="10908792" cy="822960"/>
          </a:xfrm>
          <a:prstGeom prst="rect">
            <a:avLst/>
          </a:prstGeom>
          <a:noFill/>
          <a:ln/>
        </p:spPr>
        <p:txBody>
          <a:bodyPr wrap="square" lIns="0" tIns="0" rIns="0" bIns="0" rtlCol="0" anchor="t"/>
          <a:lstStyle/>
          <a:p>
            <a:pPr indent="0" marL="0">
              <a:buNone/>
            </a:pPr>
            <a:r>
              <a:rPr lang="en-US" sz="1600" dirty="0">
                <a:solidFill>
                  <a:srgbClr val="4A5866"/>
                </a:solidFill>
                <a:latin typeface="Calibri" pitchFamily="34" charset="0"/>
                <a:ea typeface="Calibri" pitchFamily="34" charset="-122"/>
                <a:cs typeface="Calibri" pitchFamily="34" charset="-120"/>
              </a:rPr>
              <a:t>Không có Docker: dùng Postgres.app với cluster riêng. Hai bẫy đã gỡ: cột </a:t>
            </a:r>
            <a:pPr indent="0" marL="0">
              <a:buNone/>
            </a:pPr>
            <a:r>
              <a:rPr lang="en-US" sz="1600" b="1" dirty="0">
                <a:solidFill>
                  <a:srgbClr val="4A5866"/>
                </a:solidFill>
                <a:latin typeface="Calibri" pitchFamily="34" charset="0"/>
                <a:ea typeface="Calibri" pitchFamily="34" charset="-122"/>
                <a:cs typeface="Calibri" pitchFamily="34" charset="-120"/>
              </a:rPr>
              <a:t>timestamp</a:t>
            </a:r>
            <a:pPr indent="0" marL="0">
              <a:buNone/>
            </a:pPr>
            <a:r>
              <a:rPr lang="en-US" sz="1600" dirty="0">
                <a:solidFill>
                  <a:srgbClr val="4A5866"/>
                </a:solidFill>
                <a:latin typeface="Calibri" pitchFamily="34" charset="0"/>
                <a:ea typeface="Calibri" pitchFamily="34" charset="-122"/>
                <a:cs typeface="Calibri" pitchFamily="34" charset="-120"/>
              </a:rPr>
              <a:t> lưu UTC (driver tự lệch +7 giờ) và CSRF 64 ký tự của </a:t>
            </a:r>
            <a:pPr indent="0" marL="0">
              <a:buNone/>
            </a:pPr>
            <a:r>
              <a:rPr lang="en-US" sz="1600" b="1" dirty="0">
                <a:solidFill>
                  <a:srgbClr val="4A5866"/>
                </a:solidFill>
                <a:latin typeface="Calibri" pitchFamily="34" charset="0"/>
                <a:ea typeface="Calibri" pitchFamily="34" charset="-122"/>
                <a:cs typeface="Calibri" pitchFamily="34" charset="-120"/>
              </a:rPr>
              <a:t>/api/cancel</a:t>
            </a:r>
            <a:pPr indent="0" marL="0">
              <a:buNone/>
            </a:pPr>
            <a:r>
              <a:rPr lang="en-US" sz="1600" dirty="0">
                <a:solidFill>
                  <a:srgbClr val="4A5866"/>
                </a:solidFill>
                <a:latin typeface="Calibri" pitchFamily="34" charset="0"/>
                <a:ea typeface="Calibri" pitchFamily="34" charset="-122"/>
                <a:cs typeface="Calibri" pitchFamily="34" charset="-120"/>
              </a:rPr>
              <a:t>.</a:t>
            </a:r>
            <a:endParaRPr lang="en-US" sz="1600" dirty="0"/>
          </a:p>
        </p:txBody>
      </p:sp>
      <p:sp>
        <p:nvSpPr>
          <p:cNvPr id="7"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Hướng dẫn từ máy sạch: README.md · bằng chứng: docs/evidence/smoke-test.txt</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05 · PHƯƠNG PHÁP</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Ba nguyên tắc của kiểm thử race</a:t>
            </a:r>
            <a:endParaRPr lang="en-US" sz="3400" dirty="0"/>
          </a:p>
        </p:txBody>
      </p:sp>
      <p:sp>
        <p:nvSpPr>
          <p:cNvPr id="4" name="Card"/>
          <p:cNvSpPr/>
          <p:nvPr/>
        </p:nvSpPr>
        <p:spPr>
          <a:xfrm>
            <a:off x="640080" y="1783080"/>
            <a:ext cx="3422904" cy="3383280"/>
          </a:xfrm>
          <a:prstGeom prst="roundRect">
            <a:avLst>
              <a:gd name="adj" fmla="val 3243"/>
            </a:avLst>
          </a:prstGeom>
          <a:solidFill>
            <a:srgbClr val="FBFAF6"/>
          </a:solidFill>
          <a:ln w="12700">
            <a:solidFill>
              <a:srgbClr val="DAD6CC"/>
            </a:solidFill>
            <a:prstDash val="solid"/>
          </a:ln>
        </p:spPr>
      </p:sp>
      <p:sp>
        <p:nvSpPr>
          <p:cNvPr id="5" name="Shape 3"/>
          <p:cNvSpPr/>
          <p:nvPr/>
        </p:nvSpPr>
        <p:spPr>
          <a:xfrm>
            <a:off x="914400" y="2011680"/>
            <a:ext cx="640080" cy="640080"/>
          </a:xfrm>
          <a:prstGeom prst="ellipse">
            <a:avLst/>
          </a:prstGeom>
          <a:solidFill>
            <a:srgbClr val="2558B8"/>
          </a:solidFill>
          <a:ln w="12700">
            <a:solidFill>
              <a:srgbClr val="2558B8"/>
            </a:solidFill>
            <a:prstDash val="solid"/>
          </a:ln>
        </p:spPr>
      </p:sp>
      <p:sp>
        <p:nvSpPr>
          <p:cNvPr id="6" name="Text 4"/>
          <p:cNvSpPr txBox="1"/>
          <p:nvPr/>
        </p:nvSpPr>
        <p:spPr>
          <a:xfrm>
            <a:off x="91440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914400" y="2834640"/>
            <a:ext cx="2874264" cy="822960"/>
          </a:xfrm>
          <a:prstGeom prst="rect">
            <a:avLst/>
          </a:prstGeom>
          <a:noFill/>
          <a:ln/>
        </p:spPr>
        <p:txBody>
          <a:bodyPr wrap="square" lIns="0" tIns="0" rIns="0" bIns="0" rtlCol="0" anchor="t"/>
          <a:lstStyle/>
          <a:p>
            <a:pPr indent="0" marL="0">
              <a:buNone/>
            </a:pPr>
            <a:r>
              <a:rPr lang="en-US" sz="2000" b="1" dirty="0">
                <a:solidFill>
                  <a:srgbClr val="12202B"/>
                </a:solidFill>
                <a:latin typeface="Calibri" pitchFamily="34" charset="0"/>
                <a:ea typeface="Calibri" pitchFamily="34" charset="-122"/>
                <a:cs typeface="Calibri" pitchFamily="34" charset="-120"/>
              </a:rPr>
              <a:t>Oracle là invariant trên CSDL</a:t>
            </a:r>
            <a:endParaRPr lang="en-US" sz="2000" dirty="0"/>
          </a:p>
        </p:txBody>
      </p:sp>
      <p:sp>
        <p:nvSpPr>
          <p:cNvPr id="8" name="Text 6"/>
          <p:cNvSpPr txBox="1"/>
          <p:nvPr/>
        </p:nvSpPr>
        <p:spPr>
          <a:xfrm>
            <a:off x="914400" y="3657600"/>
            <a:ext cx="2874264" cy="137160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Không tin mã HTTP. Sau mỗi vòng, truy vấn SQL kiểm "host không có 2 booking chồng giờ".</a:t>
            </a:r>
            <a:endParaRPr lang="en-US" sz="1500" dirty="0"/>
          </a:p>
        </p:txBody>
      </p:sp>
      <p:sp>
        <p:nvSpPr>
          <p:cNvPr id="9" name="Card"/>
          <p:cNvSpPr/>
          <p:nvPr/>
        </p:nvSpPr>
        <p:spPr>
          <a:xfrm>
            <a:off x="4383024" y="1783080"/>
            <a:ext cx="3422904" cy="3383280"/>
          </a:xfrm>
          <a:prstGeom prst="roundRect">
            <a:avLst>
              <a:gd name="adj" fmla="val 3243"/>
            </a:avLst>
          </a:prstGeom>
          <a:solidFill>
            <a:srgbClr val="FBFAF6"/>
          </a:solidFill>
          <a:ln w="12700">
            <a:solidFill>
              <a:srgbClr val="DAD6CC"/>
            </a:solidFill>
            <a:prstDash val="solid"/>
          </a:ln>
        </p:spPr>
      </p:sp>
      <p:sp>
        <p:nvSpPr>
          <p:cNvPr id="10" name="Shape 8"/>
          <p:cNvSpPr/>
          <p:nvPr/>
        </p:nvSpPr>
        <p:spPr>
          <a:xfrm>
            <a:off x="4657344" y="2011680"/>
            <a:ext cx="640080" cy="640080"/>
          </a:xfrm>
          <a:prstGeom prst="ellipse">
            <a:avLst/>
          </a:prstGeom>
          <a:solidFill>
            <a:srgbClr val="2558B8"/>
          </a:solidFill>
          <a:ln w="12700">
            <a:solidFill>
              <a:srgbClr val="2558B8"/>
            </a:solidFill>
            <a:prstDash val="solid"/>
          </a:ln>
        </p:spPr>
      </p:sp>
      <p:sp>
        <p:nvSpPr>
          <p:cNvPr id="11" name="Text 9"/>
          <p:cNvSpPr txBox="1"/>
          <p:nvPr/>
        </p:nvSpPr>
        <p:spPr>
          <a:xfrm>
            <a:off x="4657344"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4657344" y="2834640"/>
            <a:ext cx="2874264" cy="822960"/>
          </a:xfrm>
          <a:prstGeom prst="rect">
            <a:avLst/>
          </a:prstGeom>
          <a:noFill/>
          <a:ln/>
        </p:spPr>
        <p:txBody>
          <a:bodyPr wrap="square" lIns="0" tIns="0" rIns="0" bIns="0" rtlCol="0" anchor="t"/>
          <a:lstStyle/>
          <a:p>
            <a:pPr indent="0" marL="0">
              <a:buNone/>
            </a:pPr>
            <a:r>
              <a:rPr lang="en-US" sz="2000" b="1" dirty="0">
                <a:solidFill>
                  <a:srgbClr val="12202B"/>
                </a:solidFill>
                <a:latin typeface="Calibri" pitchFamily="34" charset="0"/>
                <a:ea typeface="Calibri" pitchFamily="34" charset="-122"/>
                <a:cs typeface="Calibri" pitchFamily="34" charset="-120"/>
              </a:rPr>
              <a:t>Đồng thời thật sự</a:t>
            </a:r>
            <a:endParaRPr lang="en-US" sz="2000" dirty="0"/>
          </a:p>
        </p:txBody>
      </p:sp>
      <p:sp>
        <p:nvSpPr>
          <p:cNvPr id="13" name="Text 11"/>
          <p:cNvSpPr txBox="1"/>
          <p:nvPr/>
        </p:nvSpPr>
        <p:spPr>
          <a:xfrm>
            <a:off x="4657344" y="3657600"/>
            <a:ext cx="2874264" cy="137160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Mỗi VU của k6 chờ cùng mốc START_AT rồi mới gửi. Độ lệch đo được: 0–1 ms.</a:t>
            </a:r>
            <a:endParaRPr lang="en-US" sz="1500" dirty="0"/>
          </a:p>
        </p:txBody>
      </p:sp>
      <p:sp>
        <p:nvSpPr>
          <p:cNvPr id="14" name="Card"/>
          <p:cNvSpPr/>
          <p:nvPr/>
        </p:nvSpPr>
        <p:spPr>
          <a:xfrm>
            <a:off x="8125968" y="1783080"/>
            <a:ext cx="3422904" cy="3383280"/>
          </a:xfrm>
          <a:prstGeom prst="roundRect">
            <a:avLst>
              <a:gd name="adj" fmla="val 3243"/>
            </a:avLst>
          </a:prstGeom>
          <a:solidFill>
            <a:srgbClr val="FBFAF6"/>
          </a:solidFill>
          <a:ln w="12700">
            <a:solidFill>
              <a:srgbClr val="DAD6CC"/>
            </a:solidFill>
            <a:prstDash val="solid"/>
          </a:ln>
        </p:spPr>
      </p:sp>
      <p:sp>
        <p:nvSpPr>
          <p:cNvPr id="15" name="Shape 13"/>
          <p:cNvSpPr/>
          <p:nvPr/>
        </p:nvSpPr>
        <p:spPr>
          <a:xfrm>
            <a:off x="8400288" y="2011680"/>
            <a:ext cx="640080" cy="640080"/>
          </a:xfrm>
          <a:prstGeom prst="ellipse">
            <a:avLst/>
          </a:prstGeom>
          <a:solidFill>
            <a:srgbClr val="2558B8"/>
          </a:solidFill>
          <a:ln w="12700">
            <a:solidFill>
              <a:srgbClr val="2558B8"/>
            </a:solidFill>
            <a:prstDash val="solid"/>
          </a:ln>
        </p:spPr>
      </p:sp>
      <p:sp>
        <p:nvSpPr>
          <p:cNvPr id="16" name="Text 14"/>
          <p:cNvSpPr txBox="1"/>
          <p:nvPr/>
        </p:nvSpPr>
        <p:spPr>
          <a:xfrm>
            <a:off x="8400288"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8400288" y="2834640"/>
            <a:ext cx="2874264" cy="822960"/>
          </a:xfrm>
          <a:prstGeom prst="rect">
            <a:avLst/>
          </a:prstGeom>
          <a:noFill/>
          <a:ln/>
        </p:spPr>
        <p:txBody>
          <a:bodyPr wrap="square" lIns="0" tIns="0" rIns="0" bIns="0" rtlCol="0" anchor="t"/>
          <a:lstStyle/>
          <a:p>
            <a:pPr indent="0" marL="0">
              <a:buNone/>
            </a:pPr>
            <a:r>
              <a:rPr lang="en-US" sz="2000" b="1" dirty="0">
                <a:solidFill>
                  <a:srgbClr val="12202B"/>
                </a:solidFill>
                <a:latin typeface="Calibri" pitchFamily="34" charset="0"/>
                <a:ea typeface="Calibri" pitchFamily="34" charset="-122"/>
                <a:cs typeface="Calibri" pitchFamily="34" charset="-120"/>
              </a:rPr>
              <a:t>Có nhóm đối chứng</a:t>
            </a:r>
            <a:endParaRPr lang="en-US" sz="2000" dirty="0"/>
          </a:p>
        </p:txBody>
      </p:sp>
      <p:sp>
        <p:nvSpPr>
          <p:cNvPr id="18" name="Text 16"/>
          <p:cNvSpPr txBox="1"/>
          <p:nvPr/>
        </p:nvSpPr>
        <p:spPr>
          <a:xfrm>
            <a:off x="8400288" y="3657600"/>
            <a:ext cx="2874264" cy="137160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Gửi đúng tập request đó nhưng tuần tự. Chỉ gọi là lỗi race khi tuần tự PASS mà đồng thời FAIL.</a:t>
            </a:r>
            <a:endParaRPr lang="en-US" sz="1500" dirty="0"/>
          </a:p>
        </p:txBody>
      </p:sp>
      <p:sp>
        <p:nvSpPr>
          <p:cNvPr id="19" name="Text 17"/>
          <p:cNvSpPr txBox="1"/>
          <p:nvPr/>
        </p:nvSpPr>
        <p:spPr>
          <a:xfrm>
            <a:off x="640080" y="5440680"/>
            <a:ext cx="10908792" cy="457200"/>
          </a:xfrm>
          <a:prstGeom prst="rect">
            <a:avLst/>
          </a:prstGeom>
          <a:noFill/>
          <a:ln/>
        </p:spPr>
        <p:txBody>
          <a:bodyPr wrap="square" lIns="0" tIns="0" rIns="0" bIns="0" rtlCol="0" anchor="ctr"/>
          <a:lstStyle/>
          <a:p>
            <a:pPr indent="0" marL="0">
              <a:buNone/>
            </a:pPr>
            <a:r>
              <a:rPr lang="en-US" sz="1800" dirty="0">
                <a:solidFill>
                  <a:srgbClr val="4A5866"/>
                </a:solidFill>
                <a:latin typeface="Calibri" pitchFamily="34" charset="0"/>
                <a:ea typeface="Calibri" pitchFamily="34" charset="-122"/>
                <a:cs typeface="Calibri" pitchFamily="34" charset="-120"/>
              </a:rPr>
              <a:t>Mỗi scenario chạy 10 vòng; báo </a:t>
            </a:r>
            <a:pPr indent="0" marL="0">
              <a:buNone/>
            </a:pPr>
            <a:r>
              <a:rPr lang="en-US" sz="1800" b="1" dirty="0">
                <a:solidFill>
                  <a:srgbClr val="12202B"/>
                </a:solidFill>
                <a:latin typeface="Calibri" pitchFamily="34" charset="0"/>
                <a:ea typeface="Calibri" pitchFamily="34" charset="-122"/>
                <a:cs typeface="Calibri" pitchFamily="34" charset="-120"/>
              </a:rPr>
              <a:t>tỉ lệ vòng vi phạm</a:t>
            </a:r>
            <a:pPr indent="0" marL="0">
              <a:buNone/>
            </a:pPr>
            <a:r>
              <a:rPr lang="en-US" sz="1800" dirty="0">
                <a:solidFill>
                  <a:srgbClr val="4A5866"/>
                </a:solidFill>
                <a:latin typeface="Calibri" pitchFamily="34" charset="0"/>
                <a:ea typeface="Calibri" pitchFamily="34" charset="-122"/>
                <a:cs typeface="Calibri" pitchFamily="34" charset="-120"/>
              </a:rPr>
              <a:t>, vì race mang tính xác suất.</a:t>
            </a:r>
            <a:endParaRPr lang="en-US" sz="1800" dirty="0"/>
          </a:p>
        </p:txBody>
      </p:sp>
      <p:sp>
        <p:nvSpPr>
          <p:cNvPr id="20"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Tiêu chí: 1 vòng vi phạm là scenario FAIL</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06 · TEST MODEL</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8 scenario, mỗi cái thử một cơ chế bảo vệ</a:t>
            </a:r>
            <a:endParaRPr lang="en-US" sz="34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731520"/>
                <a:gridCol w="4572000"/>
                <a:gridCol w="3108960"/>
                <a:gridCol w="2496312"/>
              </a:tblGrid>
              <a:tr h="420624">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Xung đột (gửi đồng thời)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Cơ chế được thử</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Invariant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người, cùng một slot 09:00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UNIQUE idempotencyKey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I1 không chồng giờ</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S2</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slot lệch 3 phút, 30 và 60 phút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Không có ràng buộc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6 người, event 3 ghế, slot trống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Nhánh tạo booking mới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I2 ghế, I2b</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6 người tranh 2 ghế còn lại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SELECT … FOR UPDATE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I2, I2b</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người, event cần xác nhận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PENDING không có key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5 lệnh đổi lịch cùng một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Kiểm trạng thái gốc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S7</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Hủy và đổi lịch cùng lúc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Kiểm trạng thái gốc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S8</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giờ khác nhau, giới hạn 1/ngày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Đếm rồi mới ghi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I6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577840"/>
            <a:ext cx="10908792" cy="365760"/>
          </a:xfrm>
          <a:prstGeom prst="rect">
            <a:avLst/>
          </a:prstGeom>
          <a:noFill/>
          <a:ln/>
        </p:spPr>
        <p:txBody>
          <a:bodyPr wrap="square" lIns="0" tIns="0" rIns="0" bIns="0" rtlCol="0" anchor="ctr"/>
          <a:lstStyle/>
          <a:p>
            <a:pPr indent="0" marL="0">
              <a:buNone/>
            </a:pPr>
            <a:r>
              <a:rPr lang="en-US" sz="1600" dirty="0">
                <a:solidFill>
                  <a:srgbClr val="4A5866"/>
                </a:solidFill>
                <a:latin typeface="Calibri" pitchFamily="34" charset="0"/>
                <a:ea typeface="Calibri" pitchFamily="34" charset="-122"/>
                <a:cs typeface="Calibri" pitchFamily="34" charset="-120"/>
              </a:rPr>
              <a:t>Mọi scenario còn kiểm thêm I7: không có 5xx, timeout hay lỗi kết nối.</a:t>
            </a:r>
            <a:endParaRPr lang="en-US" sz="1600" dirty="0"/>
          </a:p>
        </p:txBody>
      </p:sp>
      <p:sp>
        <p:nvSpPr>
          <p:cNvPr id="6"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Input, tiền điều kiện, kết quả mong đợi: BAO_CAO.md phần E</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07 · HARNESS</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Mỗi vòng là một vòng lặp bốn bước</a:t>
            </a:r>
            <a:endParaRPr lang="en-US" sz="3400" dirty="0"/>
          </a:p>
        </p:txBody>
      </p:sp>
      <p:sp>
        <p:nvSpPr>
          <p:cNvPr id="4" name="Card"/>
          <p:cNvSpPr/>
          <p:nvPr/>
        </p:nvSpPr>
        <p:spPr>
          <a:xfrm>
            <a:off x="640080" y="1737360"/>
            <a:ext cx="2377440" cy="1920240"/>
          </a:xfrm>
          <a:prstGeom prst="roundRect">
            <a:avLst>
              <a:gd name="adj" fmla="val 5714"/>
            </a:avLst>
          </a:prstGeom>
          <a:solidFill>
            <a:srgbClr val="FBFAF6"/>
          </a:solidFill>
          <a:ln w="12700">
            <a:solidFill>
              <a:srgbClr val="DAD6CC"/>
            </a:solidFill>
            <a:prstDash val="solid"/>
          </a:ln>
        </p:spPr>
      </p:sp>
      <p:sp>
        <p:nvSpPr>
          <p:cNvPr id="5" name="Text 3"/>
          <p:cNvSpPr txBox="1"/>
          <p:nvPr/>
        </p:nvSpPr>
        <p:spPr>
          <a:xfrm>
            <a:off x="822960" y="1874520"/>
            <a:ext cx="2011680" cy="457200"/>
          </a:xfrm>
          <a:prstGeom prst="rect">
            <a:avLst/>
          </a:prstGeom>
          <a:noFill/>
          <a:ln/>
        </p:spPr>
        <p:txBody>
          <a:bodyPr wrap="square" lIns="0" tIns="0" rIns="0" bIns="0" rtlCol="0" anchor="ctr"/>
          <a:lstStyle/>
          <a:p>
            <a:pPr indent="0" marL="0">
              <a:buNone/>
            </a:pPr>
            <a:r>
              <a:rPr lang="en-US" sz="1500" b="1" dirty="0">
                <a:solidFill>
                  <a:srgbClr val="2558B8"/>
                </a:solidFill>
                <a:latin typeface="Consolas" pitchFamily="34" charset="0"/>
                <a:ea typeface="Consolas" pitchFamily="34" charset="-122"/>
                <a:cs typeface="Consolas" pitchFamily="34" charset="-120"/>
              </a:rPr>
              <a:t>1 · prepare()</a:t>
            </a:r>
            <a:endParaRPr lang="en-US" sz="1500" dirty="0"/>
          </a:p>
        </p:txBody>
      </p:sp>
      <p:sp>
        <p:nvSpPr>
          <p:cNvPr id="6" name="Text 4"/>
          <p:cNvSpPr txBox="1"/>
          <p:nvPr/>
        </p:nvSpPr>
        <p:spPr>
          <a:xfrm>
            <a:off x="822960" y="2377440"/>
            <a:ext cx="2011680" cy="118872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Tạo tiền điều kiện (booking gốc, ghế đầu) và sinh N request</a:t>
            </a:r>
            <a:endParaRPr lang="en-US" sz="1500" dirty="0"/>
          </a:p>
        </p:txBody>
      </p:sp>
      <p:sp>
        <p:nvSpPr>
          <p:cNvPr id="7" name="Shape 5"/>
          <p:cNvSpPr/>
          <p:nvPr/>
        </p:nvSpPr>
        <p:spPr>
          <a:xfrm>
            <a:off x="3054096" y="2697480"/>
            <a:ext cx="393192" cy="0"/>
          </a:xfrm>
          <a:prstGeom prst="line">
            <a:avLst/>
          </a:prstGeom>
          <a:noFill/>
          <a:ln w="25400">
            <a:solidFill>
              <a:srgbClr val="7A8592"/>
            </a:solidFill>
            <a:prstDash val="solid"/>
            <a:tailEnd type="triangle"/>
          </a:ln>
        </p:spPr>
      </p:sp>
      <p:sp>
        <p:nvSpPr>
          <p:cNvPr id="8" name="Card"/>
          <p:cNvSpPr/>
          <p:nvPr/>
        </p:nvSpPr>
        <p:spPr>
          <a:xfrm>
            <a:off x="3483864" y="1737360"/>
            <a:ext cx="2377440" cy="1920240"/>
          </a:xfrm>
          <a:prstGeom prst="roundRect">
            <a:avLst>
              <a:gd name="adj" fmla="val 5714"/>
            </a:avLst>
          </a:prstGeom>
          <a:solidFill>
            <a:srgbClr val="12202B"/>
          </a:solidFill>
          <a:ln w="12700">
            <a:solidFill>
              <a:srgbClr val="12202B"/>
            </a:solidFill>
            <a:prstDash val="solid"/>
          </a:ln>
        </p:spPr>
      </p:sp>
      <p:sp>
        <p:nvSpPr>
          <p:cNvPr id="9" name="Text 7"/>
          <p:cNvSpPr txBox="1"/>
          <p:nvPr/>
        </p:nvSpPr>
        <p:spPr>
          <a:xfrm>
            <a:off x="3666744" y="1874520"/>
            <a:ext cx="2011680" cy="457200"/>
          </a:xfrm>
          <a:prstGeom prst="rect">
            <a:avLst/>
          </a:prstGeom>
          <a:noFill/>
          <a:ln/>
        </p:spPr>
        <p:txBody>
          <a:bodyPr wrap="square" lIns="0" tIns="0" rIns="0" bIns="0" rtlCol="0" anchor="ctr"/>
          <a:lstStyle/>
          <a:p>
            <a:pPr indent="0" marL="0">
              <a:buNone/>
            </a:pPr>
            <a:r>
              <a:rPr lang="en-US" sz="1500" b="1" dirty="0">
                <a:solidFill>
                  <a:srgbClr val="E07B39"/>
                </a:solidFill>
                <a:latin typeface="Consolas" pitchFamily="34" charset="0"/>
                <a:ea typeface="Consolas" pitchFamily="34" charset="-122"/>
                <a:cs typeface="Consolas" pitchFamily="34" charset="-120"/>
              </a:rPr>
              <a:t>2 · k6/race.js</a:t>
            </a:r>
            <a:endParaRPr lang="en-US" sz="1500" dirty="0"/>
          </a:p>
        </p:txBody>
      </p:sp>
      <p:sp>
        <p:nvSpPr>
          <p:cNvPr id="10" name="Text 8"/>
          <p:cNvSpPr txBox="1"/>
          <p:nvPr/>
        </p:nvSpPr>
        <p:spPr>
          <a:xfrm>
            <a:off x="3666744" y="2377440"/>
            <a:ext cx="2011680" cy="1188720"/>
          </a:xfrm>
          <a:prstGeom prst="rect">
            <a:avLst/>
          </a:prstGeom>
          <a:noFill/>
          <a:ln/>
        </p:spPr>
        <p:txBody>
          <a:bodyPr wrap="square" lIns="0" tIns="0" rIns="0" bIns="0" rtlCol="0" anchor="t"/>
          <a:lstStyle/>
          <a:p>
            <a:pPr indent="0" marL="0">
              <a:buNone/>
            </a:pPr>
            <a:r>
              <a:rPr lang="en-US" sz="1500" dirty="0">
                <a:solidFill>
                  <a:srgbClr val="F4F2EC"/>
                </a:solidFill>
                <a:latin typeface="Calibri" pitchFamily="34" charset="0"/>
                <a:ea typeface="Calibri" pitchFamily="34" charset="-122"/>
                <a:cs typeface="Calibri" pitchFamily="34" charset="-120"/>
              </a:rPr>
              <a:t>N VU, mỗi VU 1 request, cùng gửi tại START_AT</a:t>
            </a:r>
            <a:endParaRPr lang="en-US" sz="1500" dirty="0"/>
          </a:p>
        </p:txBody>
      </p:sp>
      <p:sp>
        <p:nvSpPr>
          <p:cNvPr id="11" name="Shape 9"/>
          <p:cNvSpPr/>
          <p:nvPr/>
        </p:nvSpPr>
        <p:spPr>
          <a:xfrm>
            <a:off x="5897880" y="2697480"/>
            <a:ext cx="393192" cy="0"/>
          </a:xfrm>
          <a:prstGeom prst="line">
            <a:avLst/>
          </a:prstGeom>
          <a:noFill/>
          <a:ln w="25400">
            <a:solidFill>
              <a:srgbClr val="7A8592"/>
            </a:solidFill>
            <a:prstDash val="solid"/>
            <a:tailEnd type="triangle"/>
          </a:ln>
        </p:spPr>
      </p:sp>
      <p:sp>
        <p:nvSpPr>
          <p:cNvPr id="12" name="Card"/>
          <p:cNvSpPr/>
          <p:nvPr/>
        </p:nvSpPr>
        <p:spPr>
          <a:xfrm>
            <a:off x="6327648" y="1737360"/>
            <a:ext cx="2377440" cy="1920240"/>
          </a:xfrm>
          <a:prstGeom prst="roundRect">
            <a:avLst>
              <a:gd name="adj" fmla="val 5714"/>
            </a:avLst>
          </a:prstGeom>
          <a:solidFill>
            <a:srgbClr val="FBFAF6"/>
          </a:solidFill>
          <a:ln w="12700">
            <a:solidFill>
              <a:srgbClr val="DAD6CC"/>
            </a:solidFill>
            <a:prstDash val="solid"/>
          </a:ln>
        </p:spPr>
      </p:sp>
      <p:sp>
        <p:nvSpPr>
          <p:cNvPr id="13" name="Text 11"/>
          <p:cNvSpPr txBox="1"/>
          <p:nvPr/>
        </p:nvSpPr>
        <p:spPr>
          <a:xfrm>
            <a:off x="6510528" y="1874520"/>
            <a:ext cx="2011680" cy="457200"/>
          </a:xfrm>
          <a:prstGeom prst="rect">
            <a:avLst/>
          </a:prstGeom>
          <a:noFill/>
          <a:ln/>
        </p:spPr>
        <p:txBody>
          <a:bodyPr wrap="square" lIns="0" tIns="0" rIns="0" bIns="0" rtlCol="0" anchor="ctr"/>
          <a:lstStyle/>
          <a:p>
            <a:pPr indent="0" marL="0">
              <a:buNone/>
            </a:pPr>
            <a:r>
              <a:rPr lang="en-US" sz="1500" b="1" dirty="0">
                <a:solidFill>
                  <a:srgbClr val="2558B8"/>
                </a:solidFill>
                <a:latin typeface="Consolas" pitchFamily="34" charset="0"/>
                <a:ea typeface="Consolas" pitchFamily="34" charset="-122"/>
                <a:cs typeface="Consolas" pitchFamily="34" charset="-120"/>
              </a:rPr>
              <a:t>3 · verify()</a:t>
            </a:r>
            <a:endParaRPr lang="en-US" sz="1500" dirty="0"/>
          </a:p>
        </p:txBody>
      </p:sp>
      <p:sp>
        <p:nvSpPr>
          <p:cNvPr id="14" name="Text 12"/>
          <p:cNvSpPr txBox="1"/>
          <p:nvPr/>
        </p:nvSpPr>
        <p:spPr>
          <a:xfrm>
            <a:off x="6510528" y="2377440"/>
            <a:ext cx="2011680" cy="118872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SQL trực tiếp trên PostgreSQL kiểm từng invariant</a:t>
            </a:r>
            <a:endParaRPr lang="en-US" sz="1500" dirty="0"/>
          </a:p>
        </p:txBody>
      </p:sp>
      <p:sp>
        <p:nvSpPr>
          <p:cNvPr id="15" name="Shape 13"/>
          <p:cNvSpPr/>
          <p:nvPr/>
        </p:nvSpPr>
        <p:spPr>
          <a:xfrm>
            <a:off x="8741664" y="2697480"/>
            <a:ext cx="393192" cy="0"/>
          </a:xfrm>
          <a:prstGeom prst="line">
            <a:avLst/>
          </a:prstGeom>
          <a:noFill/>
          <a:ln w="25400">
            <a:solidFill>
              <a:srgbClr val="7A8592"/>
            </a:solidFill>
            <a:prstDash val="solid"/>
            <a:tailEnd type="triangle"/>
          </a:ln>
        </p:spPr>
      </p:sp>
      <p:sp>
        <p:nvSpPr>
          <p:cNvPr id="16" name="Card"/>
          <p:cNvSpPr/>
          <p:nvPr/>
        </p:nvSpPr>
        <p:spPr>
          <a:xfrm>
            <a:off x="9171432" y="1737360"/>
            <a:ext cx="2377440" cy="1920240"/>
          </a:xfrm>
          <a:prstGeom prst="roundRect">
            <a:avLst>
              <a:gd name="adj" fmla="val 5714"/>
            </a:avLst>
          </a:prstGeom>
          <a:solidFill>
            <a:srgbClr val="FBFAF6"/>
          </a:solidFill>
          <a:ln w="12700">
            <a:solidFill>
              <a:srgbClr val="DAD6CC"/>
            </a:solidFill>
            <a:prstDash val="solid"/>
          </a:ln>
        </p:spPr>
      </p:sp>
      <p:sp>
        <p:nvSpPr>
          <p:cNvPr id="17" name="Text 15"/>
          <p:cNvSpPr txBox="1"/>
          <p:nvPr/>
        </p:nvSpPr>
        <p:spPr>
          <a:xfrm>
            <a:off x="9354312" y="1874520"/>
            <a:ext cx="2011680" cy="457200"/>
          </a:xfrm>
          <a:prstGeom prst="rect">
            <a:avLst/>
          </a:prstGeom>
          <a:noFill/>
          <a:ln/>
        </p:spPr>
        <p:txBody>
          <a:bodyPr wrap="square" lIns="0" tIns="0" rIns="0" bIns="0" rtlCol="0" anchor="ctr"/>
          <a:lstStyle/>
          <a:p>
            <a:pPr indent="0" marL="0">
              <a:buNone/>
            </a:pPr>
            <a:r>
              <a:rPr lang="en-US" sz="1500" b="1" dirty="0">
                <a:solidFill>
                  <a:srgbClr val="2558B8"/>
                </a:solidFill>
                <a:latin typeface="Consolas" pitchFamily="34" charset="0"/>
                <a:ea typeface="Consolas" pitchFamily="34" charset="-122"/>
                <a:cs typeface="Consolas" pitchFamily="34" charset="-120"/>
              </a:rPr>
              <a:t>4 · report</a:t>
            </a:r>
            <a:endParaRPr lang="en-US" sz="1500" dirty="0"/>
          </a:p>
        </p:txBody>
      </p:sp>
      <p:sp>
        <p:nvSpPr>
          <p:cNvPr id="18" name="Text 16"/>
          <p:cNvSpPr txBox="1"/>
          <p:nvPr/>
        </p:nvSpPr>
        <p:spPr>
          <a:xfrm>
            <a:off x="9354312" y="2377440"/>
            <a:ext cx="2011680" cy="1188720"/>
          </a:xfrm>
          <a:prstGeom prst="rect">
            <a:avLst/>
          </a:prstGeom>
          <a:noFill/>
          <a:ln/>
        </p:spPr>
        <p:txBody>
          <a:bodyPr wrap="square" lIns="0" tIns="0" rIns="0" bIns="0" rtlCol="0" anchor="t"/>
          <a:lstStyle/>
          <a:p>
            <a:pPr indent="0" marL="0">
              <a:buNone/>
            </a:pPr>
            <a:r>
              <a:rPr lang="en-US" sz="1500" dirty="0">
                <a:solidFill>
                  <a:srgbClr val="4A5866"/>
                </a:solidFill>
                <a:latin typeface="Calibri" pitchFamily="34" charset="0"/>
                <a:ea typeface="Calibri" pitchFamily="34" charset="-122"/>
                <a:cs typeface="Calibri" pitchFamily="34" charset="-120"/>
              </a:rPr>
              <a:t>summary.json, REPORT.md, log k6 thô của từng vòng</a:t>
            </a:r>
            <a:endParaRPr lang="en-US" sz="1500" dirty="0"/>
          </a:p>
        </p:txBody>
      </p:sp>
      <p:sp>
        <p:nvSpPr>
          <p:cNvPr id="19" name="Shape 17"/>
          <p:cNvSpPr/>
          <p:nvPr/>
        </p:nvSpPr>
        <p:spPr>
          <a:xfrm>
            <a:off x="640080" y="4023360"/>
            <a:ext cx="10908792" cy="1554480"/>
          </a:xfrm>
          <a:prstGeom prst="roundRect">
            <a:avLst>
              <a:gd name="adj" fmla="val 7059"/>
            </a:avLst>
          </a:prstGeom>
          <a:solidFill>
            <a:srgbClr val="12202B"/>
          </a:solidFill>
          <a:ln w="12700">
            <a:solidFill>
              <a:srgbClr val="12202B"/>
            </a:solidFill>
            <a:prstDash val="solid"/>
          </a:ln>
        </p:spPr>
      </p:sp>
      <p:sp>
        <p:nvSpPr>
          <p:cNvPr id="20" name="Text 18"/>
          <p:cNvSpPr txBox="1"/>
          <p:nvPr/>
        </p:nvSpPr>
        <p:spPr>
          <a:xfrm>
            <a:off x="960120" y="4114800"/>
            <a:ext cx="10268712" cy="1371600"/>
          </a:xfrm>
          <a:prstGeom prst="rect">
            <a:avLst/>
          </a:prstGeom>
          <a:noFill/>
          <a:ln/>
        </p:spPr>
        <p:txBody>
          <a:bodyPr wrap="square" lIns="0" tIns="0" rIns="0" bIns="0" rtlCol="0" anchor="ctr"/>
          <a:lstStyle/>
          <a:p>
            <a:pPr indent="0" marL="0">
              <a:buNone/>
            </a:pPr>
            <a:r>
              <a:rPr lang="en-US" sz="1500" dirty="0">
                <a:solidFill>
                  <a:srgbClr val="F4F2EC"/>
                </a:solidFill>
                <a:latin typeface="Consolas" pitchFamily="34" charset="0"/>
                <a:ea typeface="Consolas" pitchFamily="34" charset="-122"/>
                <a:cs typeface="Consolas" pitchFamily="34" charset="-120"/>
              </a:rPr>
              <a:t>npm run fixtures &amp;&amp; npm run race</a:t>
            </a:r>
            <a:endParaRPr lang="en-US" sz="1500" dirty="0"/>
          </a:p>
          <a:p>
            <a:pPr indent="0" marL="0">
              <a:buNone/>
            </a:pPr>
            <a:r>
              <a:rPr lang="en-US" sz="1500" dirty="0">
                <a:solidFill>
                  <a:srgbClr val="F4F2EC"/>
                </a:solidFill>
                <a:latin typeface="Consolas" pitchFamily="34" charset="0"/>
                <a:ea typeface="Consolas" pitchFamily="34" charset="-122"/>
                <a:cs typeface="Consolas" pitchFamily="34" charset="-120"/>
              </a:rPr>
              <a:t>npm run race -- --mode sequential --rounds 10</a:t>
            </a:r>
            <a:endParaRPr lang="en-US" sz="1500" dirty="0"/>
          </a:p>
          <a:p>
            <a:pPr indent="0" marL="0">
              <a:buNone/>
            </a:pPr>
            <a:r>
              <a:rPr lang="en-US" sz="1500" dirty="0">
                <a:solidFill>
                  <a:srgbClr val="F4F2EC"/>
                </a:solidFill>
                <a:latin typeface="Consolas" pitchFamily="34" charset="0"/>
                <a:ea typeface="Consolas" pitchFamily="34" charset="-122"/>
                <a:cs typeface="Consolas" pitchFamily="34" charset="-120"/>
              </a:rPr>
              <a:t>node src/window.mjs --scenario S2 --deltas 0,30,60</a:t>
            </a:r>
            <a:endParaRPr lang="en-US" sz="1500" dirty="0"/>
          </a:p>
        </p:txBody>
      </p:sp>
      <p:sp>
        <p:nvSpPr>
          <p:cNvPr id="21"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race-tests/ · Node.js + k6 · mã thoát 0 = PASS, 1 = có FAIL → gắn được vào CI</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08 · KẾT QUẢ</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Tuần tự thì đúng, đồng thời thì vỡ</a:t>
            </a:r>
            <a:endParaRPr lang="en-US" sz="34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3108960"/>
                <a:gridCol w="1828800"/>
                <a:gridCol w="1828800"/>
                <a:gridCol w="4142232"/>
              </a:tblGrid>
              <a:tr h="420624">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Đồng thời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Tuần tự</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Trong CSDL sau mỗi vòng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S1 cùng slot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 booking: PASS</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S2 slot chồng lấn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10 booking chồng nhau</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S3 ghế đầu tiên</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chỉ bán 1–2 / 3 ghế</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S4 ghế còn lại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đúng 3 ghế: PASS</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S5 PENDING trùng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7–10 PENDING / slot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S6 đổi lịch lặp</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5 booking mới từ 1 gốc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S7 hủy và đổi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đã hủy vẫn còn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r h="420624">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S8 giới hạn 1/ngày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10/10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0/10</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8 booking / 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bl>
          </a:graphicData>
        </a:graphic>
      </p:graphicFrame>
      <p:sp>
        <p:nvSpPr>
          <p:cNvPr id="5" name="Shape 2"/>
          <p:cNvSpPr/>
          <p:nvPr/>
        </p:nvSpPr>
        <p:spPr>
          <a:xfrm>
            <a:off x="640080" y="5577840"/>
            <a:ext cx="201168" cy="201168"/>
          </a:xfrm>
          <a:prstGeom prst="rect">
            <a:avLst/>
          </a:prstGeom>
          <a:solidFill>
            <a:srgbClr val="F6E2D3"/>
          </a:solidFill>
          <a:ln w="12700">
            <a:solidFill>
              <a:srgbClr val="DAD6CC"/>
            </a:solidFill>
            <a:prstDash val="solid"/>
          </a:ln>
        </p:spPr>
      </p:sp>
      <p:sp>
        <p:nvSpPr>
          <p:cNvPr id="6" name="Text 3"/>
          <p:cNvSpPr txBox="1"/>
          <p:nvPr/>
        </p:nvSpPr>
        <p:spPr>
          <a:xfrm>
            <a:off x="960120" y="5504688"/>
            <a:ext cx="2926080" cy="347472"/>
          </a:xfrm>
          <a:prstGeom prst="rect">
            <a:avLst/>
          </a:prstGeom>
          <a:noFill/>
          <a:ln/>
        </p:spPr>
        <p:txBody>
          <a:bodyPr wrap="square" lIns="0" tIns="0" rIns="0" bIns="0" rtlCol="0" anchor="ctr"/>
          <a:lstStyle/>
          <a:p>
            <a:pPr indent="0" marL="0">
              <a:buNone/>
            </a:pPr>
            <a:r>
              <a:rPr lang="en-US" sz="1400" dirty="0">
                <a:solidFill>
                  <a:srgbClr val="4A5866"/>
                </a:solidFill>
                <a:latin typeface="Calibri" pitchFamily="34" charset="0"/>
                <a:ea typeface="Calibri" pitchFamily="34" charset="-122"/>
                <a:cs typeface="Calibri" pitchFamily="34" charset="-120"/>
              </a:rPr>
              <a:t>Lỗi race (5 lỗi)</a:t>
            </a:r>
            <a:endParaRPr lang="en-US" sz="1400" dirty="0"/>
          </a:p>
        </p:txBody>
      </p:sp>
      <p:sp>
        <p:nvSpPr>
          <p:cNvPr id="7" name="Shape 4"/>
          <p:cNvSpPr/>
          <p:nvPr/>
        </p:nvSpPr>
        <p:spPr>
          <a:xfrm>
            <a:off x="4023360" y="5577840"/>
            <a:ext cx="201168" cy="201168"/>
          </a:xfrm>
          <a:prstGeom prst="rect">
            <a:avLst/>
          </a:prstGeom>
          <a:solidFill>
            <a:srgbClr val="DCE5F4"/>
          </a:solidFill>
          <a:ln w="12700">
            <a:solidFill>
              <a:srgbClr val="DAD6CC"/>
            </a:solidFill>
            <a:prstDash val="solid"/>
          </a:ln>
        </p:spPr>
      </p:sp>
      <p:sp>
        <p:nvSpPr>
          <p:cNvPr id="8" name="Text 5"/>
          <p:cNvSpPr txBox="1"/>
          <p:nvPr/>
        </p:nvSpPr>
        <p:spPr>
          <a:xfrm>
            <a:off x="4343400" y="5504688"/>
            <a:ext cx="4572000" cy="347472"/>
          </a:xfrm>
          <a:prstGeom prst="rect">
            <a:avLst/>
          </a:prstGeom>
          <a:noFill/>
          <a:ln/>
        </p:spPr>
        <p:txBody>
          <a:bodyPr wrap="square" lIns="0" tIns="0" rIns="0" bIns="0" rtlCol="0" anchor="ctr"/>
          <a:lstStyle/>
          <a:p>
            <a:pPr indent="0" marL="0">
              <a:buNone/>
            </a:pPr>
            <a:r>
              <a:rPr lang="en-US" sz="1400" dirty="0">
                <a:solidFill>
                  <a:srgbClr val="4A5866"/>
                </a:solidFill>
                <a:latin typeface="Calibri" pitchFamily="34" charset="0"/>
                <a:ea typeface="Calibri" pitchFamily="34" charset="-122"/>
                <a:cs typeface="Calibri" pitchFamily="34" charset="-120"/>
              </a:rPr>
              <a:t>Lỗi logic, sai cả khi tuần tự (1 lỗi)</a:t>
            </a:r>
            <a:endParaRPr lang="en-US" sz="1400" dirty="0"/>
          </a:p>
        </p:txBody>
      </p:sp>
      <p:sp>
        <p:nvSpPr>
          <p:cNvPr id="9"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Số vòng vi phạm / 10 · results/latest-race, results/latest-sequential</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097280"/>
            <a:ext cx="10908792" cy="365760"/>
          </a:xfrm>
          <a:prstGeom prst="rect">
            <a:avLst/>
          </a:prstGeom>
          <a:noFill/>
          <a:ln/>
        </p:spPr>
        <p:txBody>
          <a:bodyPr wrap="square" lIns="0" tIns="0" rIns="0" bIns="0" rtlCol="0" anchor="ctr"/>
          <a:lstStyle/>
          <a:p>
            <a:pPr indent="0" marL="0">
              <a:buNone/>
            </a:pPr>
            <a:r>
              <a:rPr lang="en-US" sz="1800" b="1" spc="300" kern="0" dirty="0">
                <a:solidFill>
                  <a:srgbClr val="12202B"/>
                </a:solidFill>
                <a:latin typeface="Consolas" pitchFamily="34" charset="0"/>
                <a:ea typeface="Consolas" pitchFamily="34" charset="-122"/>
                <a:cs typeface="Consolas" pitchFamily="34" charset="-120"/>
              </a:rPr>
              <a:t>LỖI D1 · MỨC ĐỘ CAO</a:t>
            </a:r>
            <a:endParaRPr lang="en-US" sz="1800" dirty="0"/>
          </a:p>
        </p:txBody>
      </p:sp>
      <p:sp>
        <p:nvSpPr>
          <p:cNvPr id="3" name="Text 1"/>
          <p:cNvSpPr txBox="1"/>
          <p:nvPr/>
        </p:nvSpPr>
        <p:spPr>
          <a:xfrm>
            <a:off x="640080" y="1828800"/>
            <a:ext cx="10908792" cy="2011680"/>
          </a:xfrm>
          <a:prstGeom prst="rect">
            <a:avLst/>
          </a:prstGeom>
          <a:noFill/>
          <a:ln/>
        </p:spPr>
        <p:txBody>
          <a:bodyPr wrap="square" lIns="0" tIns="0" rIns="0" bIns="0" rtlCol="0" anchor="ctr"/>
          <a:lstStyle/>
          <a:p>
            <a:pPr indent="0" marL="0">
              <a:buNone/>
            </a:pPr>
            <a:r>
              <a:rPr lang="en-US" sz="9600" b="1" dirty="0">
                <a:solidFill>
                  <a:srgbClr val="12202B"/>
                </a:solidFill>
                <a:latin typeface="Calibri" pitchFamily="34" charset="0"/>
                <a:ea typeface="Calibri" pitchFamily="34" charset="-122"/>
                <a:cs typeface="Calibri" pitchFamily="34" charset="-120"/>
              </a:rPr>
              <a:t>2 khách · 20/20</a:t>
            </a:r>
            <a:endParaRPr lang="en-US" sz="9600" dirty="0"/>
          </a:p>
        </p:txBody>
      </p:sp>
      <p:sp>
        <p:nvSpPr>
          <p:cNvPr id="4" name="Text 2"/>
          <p:cNvSpPr txBox="1"/>
          <p:nvPr/>
        </p:nvSpPr>
        <p:spPr>
          <a:xfrm>
            <a:off x="640080" y="4114800"/>
            <a:ext cx="9601200" cy="1280160"/>
          </a:xfrm>
          <a:prstGeom prst="rect">
            <a:avLst/>
          </a:prstGeom>
          <a:noFill/>
          <a:ln/>
        </p:spPr>
        <p:txBody>
          <a:bodyPr wrap="square" lIns="0" tIns="0" rIns="0" bIns="0" rtlCol="0" anchor="t"/>
          <a:lstStyle/>
          <a:p>
            <a:pPr indent="0" marL="0">
              <a:buNone/>
            </a:pPr>
            <a:r>
              <a:rPr lang="en-US" sz="2600" dirty="0">
                <a:solidFill>
                  <a:srgbClr val="12202B"/>
                </a:solidFill>
                <a:latin typeface="Calibri" pitchFamily="34" charset="0"/>
                <a:ea typeface="Calibri" pitchFamily="34" charset="-122"/>
                <a:cs typeface="Calibri" pitchFamily="34" charset="-120"/>
              </a:rPr>
              <a:t>Chỉ cần hai người bấm "Đặt" gần như cùng lúc vào hai slot chồng nhau là host bị đặt chồng lịch, ở mọi vòng thử.</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09 · CỬA SỔ RACE</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Cửa sổ race rộng khoảng 30–60 ms</a:t>
            </a:r>
            <a:endParaRPr lang="en-US" sz="3400" dirty="0"/>
          </a:p>
        </p:txBody>
      </p:sp>
      <p:graphicFrame>
        <p:nvGraphicFramePr>
          <p:cNvPr id="4" name="Chart 0" descr=""/>
          <p:cNvGraphicFramePr/>
          <p:nvPr/>
        </p:nvGraphicFramePr>
        <p:xfrm>
          <a:off x="640080" y="1600200"/>
          <a:ext cx="10908792" cy="4297680"/>
        </p:xfrm>
        <a:graphic xmlns:a="http://schemas.openxmlformats.org/drawingml/2006/main">
          <a:graphicData uri="http://schemas.openxmlformats.org/drawingml/2006/chart">
            <c:chart xmlns:c="http://schemas.openxmlformats.org/drawingml/2006/chart" r:id="rId1"/>
          </a:graphicData>
        </a:graphic>
      </p:graphicFrame>
      <p:sp>
        <p:nvSpPr>
          <p:cNvPr id="5"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10 vòng mỗi mốc · 2 request xung đột · results/window-S2</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10 · DEFECT</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6 lỗi và 2 quan sát phụ</a:t>
            </a:r>
            <a:endParaRPr lang="en-US" sz="3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914400"/>
        </p:xfrm>
        <a:graphic>
          <a:graphicData uri="http://schemas.openxmlformats.org/drawingml/2006/table">
            <a:tbl>
              <a:tblPr/>
              <a:tblGrid>
                <a:gridCol w="731520"/>
                <a:gridCol w="6583680"/>
                <a:gridCol w="1737360"/>
                <a:gridCol w="1856232"/>
              </a:tblGrid>
              <a:tr h="457200">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Lỗi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Loại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Mức độ</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Host bị đặt chồng khi slot lệch giờ hoặc khác event type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Cao</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D2</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Event có ghế: còn ghế vẫn bị từ chối "xung đột"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Trung bình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Nhiều booking PENDING cho cùng một slot</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Trung bình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D4</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Link đổi lịch cũ dùng lại được, 1 gốc sinh nhiều booking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Logic</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b="1" dirty="0">
                          <a:solidFill>
                            <a:srgbClr val="12202B"/>
                          </a:solidFill>
                          <a:latin typeface="Calibri" pitchFamily="34" charset="0"/>
                          <a:ea typeface="Calibri" pitchFamily="34" charset="-122"/>
                          <a:cs typeface="Calibri" pitchFamily="34" charset="-120"/>
                        </a:rPr>
                        <a:t>Cao</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D5</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Hủy và đổi lịch cùng báo thành công</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Trung bình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D6</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Vượt giới hạn 1 booking/ngày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Race</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Trung bình</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O1</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Vượt giới hạn trả 401 Unauthorized thay vì 403</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Mã lỗi</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Thấp</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O2</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uid sinh từ Date.now(): trùng trong cùng mili-giây</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Thiết kế</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400" dirty="0">
                          <a:solidFill>
                            <a:srgbClr val="12202B"/>
                          </a:solidFill>
                          <a:latin typeface="Calibri" pitchFamily="34" charset="0"/>
                          <a:ea typeface="Calibri" pitchFamily="34" charset="-122"/>
                          <a:cs typeface="Calibri" pitchFamily="34" charset="-120"/>
                        </a:rPr>
                        <a:t>Thấp</a:t>
                      </a:r>
                      <a:endParaRPr lang="en-US" sz="14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5"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Cách tái hiện, input, file/dòng gây lỗi, đề xuất sửa: docs/DEFECTS.md</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E07B39"/>
                </a:solidFill>
                <a:latin typeface="Consolas" pitchFamily="34" charset="0"/>
                <a:ea typeface="Consolas" pitchFamily="34" charset="-122"/>
                <a:cs typeface="Consolas" pitchFamily="34" charset="-120"/>
              </a:rPr>
              <a:t>11 · NGUYÊN NHÂN GỐC</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F4F2EC"/>
                </a:solidFill>
                <a:latin typeface="Calibri" pitchFamily="34" charset="0"/>
                <a:ea typeface="Calibri" pitchFamily="34" charset="-122"/>
                <a:cs typeface="Calibri" pitchFamily="34" charset="-120"/>
              </a:rPr>
              <a:t>Ba nguyên nhân sinh ra sáu lỗi</a:t>
            </a:r>
            <a:endParaRPr lang="en-US" sz="3400" dirty="0"/>
          </a:p>
        </p:txBody>
      </p:sp>
      <p:sp>
        <p:nvSpPr>
          <p:cNvPr id="4" name="Shape 2"/>
          <p:cNvSpPr/>
          <p:nvPr/>
        </p:nvSpPr>
        <p:spPr>
          <a:xfrm>
            <a:off x="640080" y="1691640"/>
            <a:ext cx="3422904" cy="4023360"/>
          </a:xfrm>
          <a:prstGeom prst="roundRect">
            <a:avLst>
              <a:gd name="adj" fmla="val 3206"/>
            </a:avLst>
          </a:prstGeom>
          <a:solidFill>
            <a:srgbClr val="1D3142"/>
          </a:solidFill>
          <a:ln w="12700">
            <a:solidFill>
              <a:srgbClr val="1D3142"/>
            </a:solidFill>
            <a:prstDash val="solid"/>
          </a:ln>
        </p:spPr>
      </p:sp>
      <p:sp>
        <p:nvSpPr>
          <p:cNvPr id="5" name="Text 3"/>
          <p:cNvSpPr txBox="1"/>
          <p:nvPr/>
        </p:nvSpPr>
        <p:spPr>
          <a:xfrm>
            <a:off x="914400" y="1874520"/>
            <a:ext cx="2874264" cy="320040"/>
          </a:xfrm>
          <a:prstGeom prst="rect">
            <a:avLst/>
          </a:prstGeom>
          <a:noFill/>
          <a:ln/>
        </p:spPr>
        <p:txBody>
          <a:bodyPr wrap="square" lIns="0" tIns="0" rIns="0" bIns="0" rtlCol="0" anchor="ctr"/>
          <a:lstStyle/>
          <a:p>
            <a:pPr indent="0" marL="0">
              <a:buNone/>
            </a:pPr>
            <a:r>
              <a:rPr lang="en-US" sz="1400" b="1" dirty="0">
                <a:solidFill>
                  <a:srgbClr val="E07B39"/>
                </a:solidFill>
                <a:latin typeface="Consolas" pitchFamily="34" charset="0"/>
                <a:ea typeface="Consolas" pitchFamily="34" charset="-122"/>
                <a:cs typeface="Consolas" pitchFamily="34" charset="-120"/>
              </a:rPr>
              <a:t>D1 · D3 · D5 · D6</a:t>
            </a:r>
            <a:endParaRPr lang="en-US" sz="1400" dirty="0"/>
          </a:p>
        </p:txBody>
      </p:sp>
      <p:sp>
        <p:nvSpPr>
          <p:cNvPr id="6" name="Text 4"/>
          <p:cNvSpPr txBox="1"/>
          <p:nvPr/>
        </p:nvSpPr>
        <p:spPr>
          <a:xfrm>
            <a:off x="914400" y="2331720"/>
            <a:ext cx="2874264" cy="822960"/>
          </a:xfrm>
          <a:prstGeom prst="rect">
            <a:avLst/>
          </a:prstGeom>
          <a:noFill/>
          <a:ln/>
        </p:spPr>
        <p:txBody>
          <a:bodyPr wrap="square" lIns="0" tIns="0" rIns="0" bIns="0" rtlCol="0" anchor="t"/>
          <a:lstStyle/>
          <a:p>
            <a:pPr indent="0" marL="0">
              <a:buNone/>
            </a:pPr>
            <a:r>
              <a:rPr lang="en-US" sz="2100" b="1" dirty="0">
                <a:solidFill>
                  <a:srgbClr val="F4F2EC"/>
                </a:solidFill>
                <a:latin typeface="Calibri" pitchFamily="34" charset="0"/>
                <a:ea typeface="Calibri" pitchFamily="34" charset="-122"/>
                <a:cs typeface="Calibri" pitchFamily="34" charset="-120"/>
              </a:rPr>
              <a:t>Kiểm tra rồi ghi, không khóa</a:t>
            </a:r>
            <a:endParaRPr lang="en-US" sz="2100" dirty="0"/>
          </a:p>
        </p:txBody>
      </p:sp>
      <p:sp>
        <p:nvSpPr>
          <p:cNvPr id="7" name="Text 5"/>
          <p:cNvSpPr txBox="1"/>
          <p:nvPr/>
        </p:nvSpPr>
        <p:spPr>
          <a:xfrm>
            <a:off x="914400" y="3246120"/>
            <a:ext cx="2874264" cy="2286000"/>
          </a:xfrm>
          <a:prstGeom prst="rect">
            <a:avLst/>
          </a:prstGeom>
          <a:noFill/>
          <a:ln/>
        </p:spPr>
        <p:txBody>
          <a:bodyPr wrap="square" lIns="0" tIns="0" rIns="0" bIns="0" rtlCol="0" anchor="t"/>
          <a:lstStyle/>
          <a:p>
            <a:pPr indent="0" marL="0">
              <a:buNone/>
            </a:pPr>
            <a:r>
              <a:rPr lang="en-US" sz="1500" dirty="0">
                <a:solidFill>
                  <a:srgbClr val="B8C6D2"/>
                </a:solidFill>
                <a:latin typeface="Calibri" pitchFamily="34" charset="0"/>
                <a:ea typeface="Calibri" pitchFamily="34" charset="-122"/>
                <a:cs typeface="Calibri" pitchFamily="34" charset="-120"/>
              </a:rPr>
              <a:t>Đếm giới hạn, đọc lịch trống, đọc trạng thái booking gốc đều xảy ra trước INSERT/UPDATE, không có transaction hay lock bao trùm.</a:t>
            </a:r>
            <a:endParaRPr lang="en-US" sz="1500" dirty="0"/>
          </a:p>
        </p:txBody>
      </p:sp>
      <p:sp>
        <p:nvSpPr>
          <p:cNvPr id="8" name="Shape 6"/>
          <p:cNvSpPr/>
          <p:nvPr/>
        </p:nvSpPr>
        <p:spPr>
          <a:xfrm>
            <a:off x="4383024" y="1691640"/>
            <a:ext cx="3422904" cy="4023360"/>
          </a:xfrm>
          <a:prstGeom prst="roundRect">
            <a:avLst>
              <a:gd name="adj" fmla="val 3206"/>
            </a:avLst>
          </a:prstGeom>
          <a:solidFill>
            <a:srgbClr val="1D3142"/>
          </a:solidFill>
          <a:ln w="12700">
            <a:solidFill>
              <a:srgbClr val="1D3142"/>
            </a:solidFill>
            <a:prstDash val="solid"/>
          </a:ln>
        </p:spPr>
      </p:sp>
      <p:sp>
        <p:nvSpPr>
          <p:cNvPr id="9" name="Text 7"/>
          <p:cNvSpPr txBox="1"/>
          <p:nvPr/>
        </p:nvSpPr>
        <p:spPr>
          <a:xfrm>
            <a:off x="4657344" y="1874520"/>
            <a:ext cx="2874264" cy="320040"/>
          </a:xfrm>
          <a:prstGeom prst="rect">
            <a:avLst/>
          </a:prstGeom>
          <a:noFill/>
          <a:ln/>
        </p:spPr>
        <p:txBody>
          <a:bodyPr wrap="square" lIns="0" tIns="0" rIns="0" bIns="0" rtlCol="0" anchor="ctr"/>
          <a:lstStyle/>
          <a:p>
            <a:pPr indent="0" marL="0">
              <a:buNone/>
            </a:pPr>
            <a:r>
              <a:rPr lang="en-US" sz="1400" b="1" dirty="0">
                <a:solidFill>
                  <a:srgbClr val="E07B39"/>
                </a:solidFill>
                <a:latin typeface="Consolas" pitchFamily="34" charset="0"/>
                <a:ea typeface="Consolas" pitchFamily="34" charset="-122"/>
                <a:cs typeface="Consolas" pitchFamily="34" charset="-120"/>
              </a:rPr>
              <a:t>D1 · D2 · D3</a:t>
            </a:r>
            <a:endParaRPr lang="en-US" sz="1400" dirty="0"/>
          </a:p>
        </p:txBody>
      </p:sp>
      <p:sp>
        <p:nvSpPr>
          <p:cNvPr id="10" name="Text 8"/>
          <p:cNvSpPr txBox="1"/>
          <p:nvPr/>
        </p:nvSpPr>
        <p:spPr>
          <a:xfrm>
            <a:off x="4657344" y="2331720"/>
            <a:ext cx="2874264" cy="822960"/>
          </a:xfrm>
          <a:prstGeom prst="rect">
            <a:avLst/>
          </a:prstGeom>
          <a:noFill/>
          <a:ln/>
        </p:spPr>
        <p:txBody>
          <a:bodyPr wrap="square" lIns="0" tIns="0" rIns="0" bIns="0" rtlCol="0" anchor="t"/>
          <a:lstStyle/>
          <a:p>
            <a:pPr indent="0" marL="0">
              <a:buNone/>
            </a:pPr>
            <a:r>
              <a:rPr lang="en-US" sz="2100" b="1" dirty="0">
                <a:solidFill>
                  <a:srgbClr val="F4F2EC"/>
                </a:solidFill>
                <a:latin typeface="Calibri" pitchFamily="34" charset="0"/>
                <a:ea typeface="Calibri" pitchFamily="34" charset="-122"/>
                <a:cs typeface="Calibri" pitchFamily="34" charset="-120"/>
              </a:rPr>
              <a:t>Khóa idempotency quá hẹp</a:t>
            </a:r>
            <a:endParaRPr lang="en-US" sz="2100" dirty="0"/>
          </a:p>
        </p:txBody>
      </p:sp>
      <p:sp>
        <p:nvSpPr>
          <p:cNvPr id="11" name="Text 9"/>
          <p:cNvSpPr txBox="1"/>
          <p:nvPr/>
        </p:nvSpPr>
        <p:spPr>
          <a:xfrm>
            <a:off x="4657344" y="3246120"/>
            <a:ext cx="2874264" cy="2286000"/>
          </a:xfrm>
          <a:prstGeom prst="rect">
            <a:avLst/>
          </a:prstGeom>
          <a:noFill/>
          <a:ln/>
        </p:spPr>
        <p:txBody>
          <a:bodyPr wrap="square" lIns="0" tIns="0" rIns="0" bIns="0" rtlCol="0" anchor="t"/>
          <a:lstStyle/>
          <a:p>
            <a:pPr indent="0" marL="0">
              <a:buNone/>
            </a:pPr>
            <a:r>
              <a:rPr lang="en-US" sz="1500" dirty="0">
                <a:solidFill>
                  <a:srgbClr val="B8C6D2"/>
                </a:solidFill>
                <a:latin typeface="Calibri" pitchFamily="34" charset="0"/>
                <a:ea typeface="Calibri" pitchFamily="34" charset="-122"/>
                <a:cs typeface="Calibri" pitchFamily="34" charset="-120"/>
              </a:rPr>
              <a:t>uuidv5(start.end.userId), chỉ khi ACCEPTED: không bắt slot chồng lấn, bỏ qua PENDING. Khi va chạm, nhánh seated trả 409 thay vì thêm ghế.</a:t>
            </a:r>
            <a:endParaRPr lang="en-US" sz="1500" dirty="0"/>
          </a:p>
        </p:txBody>
      </p:sp>
      <p:sp>
        <p:nvSpPr>
          <p:cNvPr id="12" name="Shape 10"/>
          <p:cNvSpPr/>
          <p:nvPr/>
        </p:nvSpPr>
        <p:spPr>
          <a:xfrm>
            <a:off x="8125968" y="1691640"/>
            <a:ext cx="3422904" cy="4023360"/>
          </a:xfrm>
          <a:prstGeom prst="roundRect">
            <a:avLst>
              <a:gd name="adj" fmla="val 3206"/>
            </a:avLst>
          </a:prstGeom>
          <a:solidFill>
            <a:srgbClr val="1D3142"/>
          </a:solidFill>
          <a:ln w="12700">
            <a:solidFill>
              <a:srgbClr val="1D3142"/>
            </a:solidFill>
            <a:prstDash val="solid"/>
          </a:ln>
        </p:spPr>
      </p:sp>
      <p:sp>
        <p:nvSpPr>
          <p:cNvPr id="13" name="Text 11"/>
          <p:cNvSpPr txBox="1"/>
          <p:nvPr/>
        </p:nvSpPr>
        <p:spPr>
          <a:xfrm>
            <a:off x="8400288" y="1874520"/>
            <a:ext cx="2874264" cy="320040"/>
          </a:xfrm>
          <a:prstGeom prst="rect">
            <a:avLst/>
          </a:prstGeom>
          <a:noFill/>
          <a:ln/>
        </p:spPr>
        <p:txBody>
          <a:bodyPr wrap="square" lIns="0" tIns="0" rIns="0" bIns="0" rtlCol="0" anchor="ctr"/>
          <a:lstStyle/>
          <a:p>
            <a:pPr indent="0" marL="0">
              <a:buNone/>
            </a:pPr>
            <a:r>
              <a:rPr lang="en-US" sz="1400" b="1" dirty="0">
                <a:solidFill>
                  <a:srgbClr val="7FB0FF"/>
                </a:solidFill>
                <a:latin typeface="Consolas" pitchFamily="34" charset="0"/>
                <a:ea typeface="Consolas" pitchFamily="34" charset="-122"/>
                <a:cs typeface="Consolas" pitchFamily="34" charset="-120"/>
              </a:rPr>
              <a:t>D4</a:t>
            </a:r>
            <a:endParaRPr lang="en-US" sz="1400" dirty="0"/>
          </a:p>
        </p:txBody>
      </p:sp>
      <p:sp>
        <p:nvSpPr>
          <p:cNvPr id="14" name="Text 12"/>
          <p:cNvSpPr txBox="1"/>
          <p:nvPr/>
        </p:nvSpPr>
        <p:spPr>
          <a:xfrm>
            <a:off x="8400288" y="2331720"/>
            <a:ext cx="2874264" cy="822960"/>
          </a:xfrm>
          <a:prstGeom prst="rect">
            <a:avLst/>
          </a:prstGeom>
          <a:noFill/>
          <a:ln/>
        </p:spPr>
        <p:txBody>
          <a:bodyPr wrap="square" lIns="0" tIns="0" rIns="0" bIns="0" rtlCol="0" anchor="t"/>
          <a:lstStyle/>
          <a:p>
            <a:pPr indent="0" marL="0">
              <a:buNone/>
            </a:pPr>
            <a:r>
              <a:rPr lang="en-US" sz="2100" b="1" dirty="0">
                <a:solidFill>
                  <a:srgbClr val="F4F2EC"/>
                </a:solidFill>
                <a:latin typeface="Calibri" pitchFamily="34" charset="0"/>
                <a:ea typeface="Calibri" pitchFamily="34" charset="-122"/>
                <a:cs typeface="Calibri" pitchFamily="34" charset="-120"/>
              </a:rPr>
              <a:t>Một trạng thái, hai nghĩa</a:t>
            </a:r>
            <a:endParaRPr lang="en-US" sz="2100" dirty="0"/>
          </a:p>
        </p:txBody>
      </p:sp>
      <p:sp>
        <p:nvSpPr>
          <p:cNvPr id="15" name="Text 13"/>
          <p:cNvSpPr txBox="1"/>
          <p:nvPr/>
        </p:nvSpPr>
        <p:spPr>
          <a:xfrm>
            <a:off x="8400288" y="3246120"/>
            <a:ext cx="2874264" cy="2286000"/>
          </a:xfrm>
          <a:prstGeom prst="rect">
            <a:avLst/>
          </a:prstGeom>
          <a:noFill/>
          <a:ln/>
        </p:spPr>
        <p:txBody>
          <a:bodyPr wrap="square" lIns="0" tIns="0" rIns="0" bIns="0" rtlCol="0" anchor="t"/>
          <a:lstStyle/>
          <a:p>
            <a:pPr indent="0" marL="0">
              <a:buNone/>
            </a:pPr>
            <a:r>
              <a:rPr lang="en-US" sz="1500" dirty="0">
                <a:solidFill>
                  <a:srgbClr val="B8C6D2"/>
                </a:solidFill>
                <a:latin typeface="Calibri" pitchFamily="34" charset="0"/>
                <a:ea typeface="Calibri" pitchFamily="34" charset="-122"/>
                <a:cs typeface="Calibri" pitchFamily="34" charset="-120"/>
              </a:rPr>
              <a:t>CANCELLED + rescheduled vừa là "host yêu cầu đổi lịch" (được phép) vừa là "đã đổi xong" (phải chặn). Code không phân biệt.</a:t>
            </a:r>
            <a:endParaRPr lang="en-US" sz="1500" dirty="0"/>
          </a:p>
        </p:txBody>
      </p:sp>
      <p:sp>
        <p:nvSpPr>
          <p:cNvPr id="16"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8C9AA8"/>
                </a:solidFill>
                <a:latin typeface="Calibri" pitchFamily="34" charset="0"/>
                <a:ea typeface="Calibri" pitchFamily="34" charset="-122"/>
                <a:cs typeface="Calibri" pitchFamily="34" charset="-120"/>
              </a:rPr>
              <a:t>RegularBookingService.ts · createBooking.ts · booking-idempotency-key.ts · originalRescheduledBookingUtils.ts</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12 · KIỂM CHỨNG BẰNG THÍ NGHIỆM</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12202B"/>
                </a:solidFill>
                <a:latin typeface="Calibri" pitchFamily="34" charset="0"/>
                <a:ea typeface="Calibri" pitchFamily="34" charset="-122"/>
                <a:cs typeface="Calibri" pitchFamily="34" charset="-120"/>
              </a:rPr>
              <a:t>Thêm ràng buộc CSDL: dữ liệu đúng, lộ lỗi mới</a:t>
            </a:r>
            <a:endParaRPr lang="en-US" sz="3400" dirty="0"/>
          </a:p>
        </p:txBody>
      </p:sp>
      <p:sp>
        <p:nvSpPr>
          <p:cNvPr id="4" name="Shape 2"/>
          <p:cNvSpPr/>
          <p:nvPr/>
        </p:nvSpPr>
        <p:spPr>
          <a:xfrm>
            <a:off x="640080" y="1600200"/>
            <a:ext cx="10908792" cy="1005840"/>
          </a:xfrm>
          <a:prstGeom prst="roundRect">
            <a:avLst>
              <a:gd name="adj" fmla="val 9091"/>
            </a:avLst>
          </a:prstGeom>
          <a:solidFill>
            <a:srgbClr val="12202B"/>
          </a:solidFill>
          <a:ln w="12700">
            <a:solidFill>
              <a:srgbClr val="12202B"/>
            </a:solidFill>
            <a:prstDash val="solid"/>
          </a:ln>
        </p:spPr>
      </p:sp>
      <p:sp>
        <p:nvSpPr>
          <p:cNvPr id="5" name="Text 3"/>
          <p:cNvSpPr txBox="1"/>
          <p:nvPr/>
        </p:nvSpPr>
        <p:spPr>
          <a:xfrm>
            <a:off x="914400" y="1645920"/>
            <a:ext cx="10360152" cy="914400"/>
          </a:xfrm>
          <a:prstGeom prst="rect">
            <a:avLst/>
          </a:prstGeom>
          <a:noFill/>
          <a:ln/>
        </p:spPr>
        <p:txBody>
          <a:bodyPr wrap="square" lIns="0" tIns="0" rIns="0" bIns="0" rtlCol="0" anchor="ctr"/>
          <a:lstStyle/>
          <a:p>
            <a:pPr indent="0" marL="0">
              <a:buNone/>
            </a:pPr>
            <a:r>
              <a:rPr lang="en-US" sz="1400" dirty="0">
                <a:solidFill>
                  <a:srgbClr val="F4F2EC"/>
                </a:solidFill>
                <a:latin typeface="Consolas" pitchFamily="34" charset="0"/>
                <a:ea typeface="Consolas" pitchFamily="34" charset="-122"/>
                <a:cs typeface="Consolas" pitchFamily="34" charset="-120"/>
              </a:rPr>
              <a:t>EXCLUDE USING gist ("userId" WITH =, tsrange("startTime","endTime") WITH &amp;&amp;)</a:t>
            </a:r>
            <a:endParaRPr lang="en-US" sz="1400" dirty="0"/>
          </a:p>
          <a:p>
            <a:pPr indent="0" marL="0">
              <a:buNone/>
            </a:pPr>
            <a:r>
              <a:rPr lang="en-US" sz="1400" dirty="0">
                <a:solidFill>
                  <a:srgbClr val="F4F2EC"/>
                </a:solidFill>
                <a:latin typeface="Consolas" pitchFamily="34" charset="0"/>
                <a:ea typeface="Consolas" pitchFamily="34" charset="-122"/>
                <a:cs typeface="Consolas" pitchFamily="34" charset="-120"/>
              </a:rPr>
              <a:t>WHERE status IN ('accepted','pending')</a:t>
            </a:r>
            <a:endParaRPr lang="en-US" sz="14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640080" y="2880360"/>
          <a:ext cx="10908792" cy="914400"/>
        </p:xfrm>
        <a:graphic>
          <a:graphicData uri="http://schemas.openxmlformats.org/drawingml/2006/table">
            <a:tbl>
              <a:tblPr/>
              <a:tblGrid>
                <a:gridCol w="2011680"/>
                <a:gridCol w="2743200"/>
                <a:gridCol w="2743200"/>
                <a:gridCol w="3410712"/>
              </a:tblGrid>
              <a:tr h="457200">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Scenario</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Trước</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Sau</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Ghi chú</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S2 · D1</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10 booking chồng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1 booking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9 request thua nhận 500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S5 · D3</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7–10 PENDING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b="1" dirty="0">
                          <a:solidFill>
                            <a:srgbClr val="12202B"/>
                          </a:solidFill>
                          <a:latin typeface="Calibri" pitchFamily="34" charset="0"/>
                          <a:ea typeface="Calibri" pitchFamily="34" charset="-122"/>
                          <a:cs typeface="Calibri" pitchFamily="34" charset="-120"/>
                        </a:rPr>
                        <a:t>1 PENDING</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9 request thua nhận 500</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S8 · D6</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8 booking/ngày</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8 booking/ngày</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500" dirty="0">
                          <a:solidFill>
                            <a:srgbClr val="12202B"/>
                          </a:solidFill>
                          <a:latin typeface="Calibri" pitchFamily="34" charset="0"/>
                          <a:ea typeface="Calibri" pitchFamily="34" charset="-122"/>
                          <a:cs typeface="Calibri" pitchFamily="34" charset="-120"/>
                        </a:rPr>
                        <a:t>Cần advisory lock</a:t>
                      </a:r>
                      <a:endParaRPr lang="en-US" sz="1500" dirty="0">
                        <a:latin typeface="Calibri" charset="0"/>
                        <a:ea typeface="Calibri" charset="0"/>
                        <a:cs typeface="Calibri" charset="0"/>
                      </a:endParaRPr>
                    </a:p>
                  </a:txBody>
                  <a:tcPr marL="91440" marR="91440" marT="36576" marB="36576"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029200"/>
            <a:ext cx="10908792" cy="822960"/>
          </a:xfrm>
          <a:prstGeom prst="rect">
            <a:avLst/>
          </a:prstGeom>
          <a:noFill/>
          <a:ln/>
        </p:spPr>
        <p:txBody>
          <a:bodyPr wrap="square" lIns="0" tIns="0" rIns="0" bIns="0" rtlCol="0" anchor="t"/>
          <a:lstStyle/>
          <a:p>
            <a:pPr indent="0" marL="0">
              <a:buNone/>
            </a:pPr>
            <a:r>
              <a:rPr lang="en-US" sz="1700" dirty="0">
                <a:solidFill>
                  <a:srgbClr val="4A5866"/>
                </a:solidFill>
                <a:latin typeface="Calibri" pitchFamily="34" charset="0"/>
                <a:ea typeface="Calibri" pitchFamily="34" charset="-122"/>
                <a:cs typeface="Calibri" pitchFamily="34" charset="-120"/>
              </a:rPr>
              <a:t>Code chỉ ánh xạ lỗi Prisma P2002 thành 409. Lỗi exclusion (23P01) rơi xuống 500. Cần sửa ở </a:t>
            </a:r>
            <a:pPr indent="0" marL="0">
              <a:buNone/>
            </a:pPr>
            <a:r>
              <a:rPr lang="en-US" sz="1700" b="1" dirty="0">
                <a:solidFill>
                  <a:srgbClr val="12202B"/>
                </a:solidFill>
                <a:latin typeface="Calibri" pitchFamily="34" charset="0"/>
                <a:ea typeface="Calibri" pitchFamily="34" charset="-122"/>
                <a:cs typeface="Calibri" pitchFamily="34" charset="-120"/>
              </a:rPr>
              <a:t>cả hai tầng</a:t>
            </a:r>
            <a:pPr indent="0" marL="0">
              <a:buNone/>
            </a:pPr>
            <a:r>
              <a:rPr lang="en-US" sz="1700" dirty="0">
                <a:solidFill>
                  <a:srgbClr val="4A5866"/>
                </a:solidFill>
                <a:latin typeface="Calibri" pitchFamily="34" charset="0"/>
                <a:ea typeface="Calibri" pitchFamily="34" charset="-122"/>
                <a:cs typeface="Calibri" pitchFamily="34" charset="-120"/>
              </a:rPr>
              <a:t>: ràng buộc CSDL và ánh xạ lỗi.</a:t>
            </a:r>
            <a:endParaRPr lang="en-US" sz="1700" dirty="0"/>
          </a:p>
        </p:txBody>
      </p:sp>
      <p:sp>
        <p:nvSpPr>
          <p:cNvPr id="8"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7A8592"/>
                </a:solidFill>
                <a:latin typeface="Calibri" pitchFamily="34" charset="0"/>
                <a:ea typeface="Calibri" pitchFamily="34" charset="-122"/>
                <a:cs typeface="Calibri" pitchFamily="34" charset="-120"/>
              </a:rPr>
              <a:t>race-tests/experiments/exclusion-constraint.sql · results/fix-exclusion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7A859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640080" y="292608"/>
            <a:ext cx="10908792" cy="274320"/>
          </a:xfrm>
          <a:prstGeom prst="rect">
            <a:avLst/>
          </a:prstGeom>
          <a:noFill/>
          <a:ln/>
        </p:spPr>
        <p:txBody>
          <a:bodyPr wrap="square" lIns="0" tIns="0" rIns="0" bIns="0" rtlCol="0" anchor="ctr"/>
          <a:lstStyle/>
          <a:p>
            <a:pPr indent="0" marL="0">
              <a:buNone/>
            </a:pPr>
            <a:r>
              <a:rPr lang="en-US" sz="1300" b="1" spc="200" kern="0" dirty="0">
                <a:solidFill>
                  <a:srgbClr val="E07B39"/>
                </a:solidFill>
                <a:latin typeface="Consolas" pitchFamily="34" charset="0"/>
                <a:ea typeface="Consolas" pitchFamily="34" charset="-122"/>
                <a:cs typeface="Consolas" pitchFamily="34" charset="-120"/>
              </a:rPr>
              <a:t>13 · KẾT LUẬN</a:t>
            </a:r>
            <a:endParaRPr lang="en-US" sz="1300" dirty="0"/>
          </a:p>
        </p:txBody>
      </p:sp>
      <p:sp>
        <p:nvSpPr>
          <p:cNvPr id="3" name="Text 0"/>
          <p:cNvSpPr/>
          <p:nvPr>
            <p:ph idx="100" type="title" hasCustomPrompt="1"/>
          </p:nvPr>
        </p:nvSpPr>
        <p:spPr>
          <a:xfrm>
            <a:off x="640080" y="640080"/>
            <a:ext cx="10908792" cy="868680"/>
          </a:xfrm>
          <a:prstGeom prst="rect">
            <a:avLst/>
          </a:prstGeom>
          <a:noFill/>
          <a:ln/>
        </p:spPr>
        <p:txBody>
          <a:bodyPr wrap="square" lIns="0" tIns="0" rIns="0" bIns="0" rtlCol="0" anchor="t"/>
          <a:lstStyle/>
          <a:p>
            <a:pPr indent="0" marL="0">
              <a:buNone/>
            </a:pPr>
            <a:r>
              <a:rPr lang="en-US" sz="3400" b="1" dirty="0">
                <a:solidFill>
                  <a:srgbClr val="F4F2EC"/>
                </a:solidFill>
                <a:latin typeface="Calibri" pitchFamily="34" charset="0"/>
                <a:ea typeface="Calibri" pitchFamily="34" charset="-122"/>
                <a:cs typeface="Calibri" pitchFamily="34" charset="-120"/>
              </a:rPr>
              <a:t>Đúng khi tuần tự chưa phải là đúng</a:t>
            </a:r>
            <a:endParaRPr lang="en-US" sz="3400" dirty="0"/>
          </a:p>
        </p:txBody>
      </p:sp>
      <p:sp>
        <p:nvSpPr>
          <p:cNvPr id="4" name="Text 2"/>
          <p:cNvSpPr txBox="1"/>
          <p:nvPr/>
        </p:nvSpPr>
        <p:spPr>
          <a:xfrm>
            <a:off x="640080" y="1691640"/>
            <a:ext cx="5180076" cy="457200"/>
          </a:xfrm>
          <a:prstGeom prst="rect">
            <a:avLst/>
          </a:prstGeom>
          <a:noFill/>
          <a:ln/>
        </p:spPr>
        <p:txBody>
          <a:bodyPr wrap="square" lIns="0" tIns="0" rIns="0" bIns="0" rtlCol="0" anchor="ctr"/>
          <a:lstStyle/>
          <a:p>
            <a:pPr indent="0" marL="0">
              <a:buNone/>
            </a:pPr>
            <a:r>
              <a:rPr lang="en-US" sz="2200" b="1" dirty="0">
                <a:solidFill>
                  <a:srgbClr val="E07B39"/>
                </a:solidFill>
                <a:latin typeface="Calibri" pitchFamily="34" charset="0"/>
                <a:ea typeface="Calibri" pitchFamily="34" charset="-122"/>
                <a:cs typeface="Calibri" pitchFamily="34" charset="-120"/>
              </a:rPr>
              <a:t>Đã làm được</a:t>
            </a:r>
            <a:endParaRPr lang="en-US" sz="2200" dirty="0"/>
          </a:p>
        </p:txBody>
      </p:sp>
      <p:sp>
        <p:nvSpPr>
          <p:cNvPr id="5" name="Text 3"/>
          <p:cNvSpPr txBox="1"/>
          <p:nvPr/>
        </p:nvSpPr>
        <p:spPr>
          <a:xfrm>
            <a:off x="640080" y="2286000"/>
            <a:ext cx="5180076"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Dựng Cal.com v6.2.0 từ máy sạch, chạy 3 luồng nghiệp vụ</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Harness k6 + SQL tự động, 8 scenario, có đối chứng tuần tự</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6 lỗi có reproducer và nguyên nhân gốc theo file/dòng</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Đo cửa sổ race 30–60 ms, thí nghiệm khắc phục</a:t>
            </a:r>
            <a:endParaRPr lang="en-US" sz="1600" dirty="0"/>
          </a:p>
        </p:txBody>
      </p:sp>
      <p:sp>
        <p:nvSpPr>
          <p:cNvPr id="6" name="Text 4"/>
          <p:cNvSpPr txBox="1"/>
          <p:nvPr/>
        </p:nvSpPr>
        <p:spPr>
          <a:xfrm>
            <a:off x="6368796" y="1691640"/>
            <a:ext cx="5180076" cy="457200"/>
          </a:xfrm>
          <a:prstGeom prst="rect">
            <a:avLst/>
          </a:prstGeom>
          <a:noFill/>
          <a:ln/>
        </p:spPr>
        <p:txBody>
          <a:bodyPr wrap="square" lIns="0" tIns="0" rIns="0" bIns="0" rtlCol="0" anchor="ctr"/>
          <a:lstStyle/>
          <a:p>
            <a:pPr indent="0" marL="0">
              <a:buNone/>
            </a:pPr>
            <a:r>
              <a:rPr lang="en-US" sz="2200" b="1" dirty="0">
                <a:solidFill>
                  <a:srgbClr val="7FB0FF"/>
                </a:solidFill>
                <a:latin typeface="Calibri" pitchFamily="34" charset="0"/>
                <a:ea typeface="Calibri" pitchFamily="34" charset="-122"/>
                <a:cs typeface="Calibri" pitchFamily="34" charset="-120"/>
              </a:rPr>
              <a:t>Hạn chế, hướng tiếp</a:t>
            </a:r>
            <a:endParaRPr lang="en-US" sz="2200" dirty="0"/>
          </a:p>
        </p:txBody>
      </p:sp>
      <p:sp>
        <p:nvSpPr>
          <p:cNvPr id="7" name="Text 5"/>
          <p:cNvSpPr txBox="1"/>
          <p:nvPr/>
        </p:nvSpPr>
        <p:spPr>
          <a:xfrm>
            <a:off x="6368796" y="2286000"/>
            <a:ext cx="5180076"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Mới chạy yarn dev, một instance</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Chưa thử API v2, team round-robin, reserveSlot</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Thêm Playwright song song để minh họa D1 qua giao diện</a:t>
            </a:r>
            <a:endParaRPr lang="en-US" sz="1600" dirty="0"/>
          </a:p>
          <a:p>
            <a:pPr marL="342900" indent="-342900">
              <a:spcAft>
                <a:spcPts val="800"/>
              </a:spcAft>
              <a:buSzPct val="100000"/>
              <a:buChar char="•"/>
            </a:pPr>
            <a:r>
              <a:rPr lang="en-US" sz="1600" dirty="0">
                <a:solidFill>
                  <a:srgbClr val="B8C6D2"/>
                </a:solidFill>
                <a:latin typeface="Calibri" pitchFamily="34" charset="0"/>
                <a:ea typeface="Calibri" pitchFamily="34" charset="-122"/>
                <a:cs typeface="Calibri" pitchFamily="34" charset="-120"/>
              </a:rPr>
              <a:t>Báo cáo D1, D4 cho Cal.com kèm reproducer</a:t>
            </a:r>
            <a:endParaRPr lang="en-US" sz="1600" dirty="0"/>
          </a:p>
        </p:txBody>
      </p:sp>
      <p:sp>
        <p:nvSpPr>
          <p:cNvPr id="8" name="Text 6"/>
          <p:cNvSpPr txBox="1"/>
          <p:nvPr/>
        </p:nvSpPr>
        <p:spPr>
          <a:xfrm>
            <a:off x="640080" y="5257800"/>
            <a:ext cx="10908792" cy="548640"/>
          </a:xfrm>
          <a:prstGeom prst="rect">
            <a:avLst/>
          </a:prstGeom>
          <a:noFill/>
          <a:ln/>
        </p:spPr>
        <p:txBody>
          <a:bodyPr wrap="square" lIns="0" tIns="0" rIns="0" bIns="0" rtlCol="0" anchor="ctr"/>
          <a:lstStyle/>
          <a:p>
            <a:pPr indent="0" marL="0">
              <a:buNone/>
            </a:pPr>
            <a:r>
              <a:rPr lang="en-US" sz="2600" b="1" dirty="0">
                <a:solidFill>
                  <a:srgbClr val="F4F2EC"/>
                </a:solidFill>
                <a:latin typeface="Calibri" pitchFamily="34" charset="0"/>
                <a:ea typeface="Calibri" pitchFamily="34" charset="-122"/>
                <a:cs typeface="Calibri" pitchFamily="34" charset="-120"/>
              </a:rPr>
              <a:t>Cảm ơn thầy và các bạn. Mời đặt câu hỏi.</a:t>
            </a:r>
            <a:endParaRPr lang="en-US" sz="2600" dirty="0"/>
          </a:p>
        </p:txBody>
      </p:sp>
      <p:sp>
        <p:nvSpPr>
          <p:cNvPr id="9" name="Footer note"/>
          <p:cNvSpPr txBox="1"/>
          <p:nvPr/>
        </p:nvSpPr>
        <p:spPr>
          <a:xfrm>
            <a:off x="640080" y="6355080"/>
            <a:ext cx="10332720" cy="274320"/>
          </a:xfrm>
          <a:prstGeom prst="rect">
            <a:avLst/>
          </a:prstGeom>
          <a:noFill/>
          <a:ln/>
        </p:spPr>
        <p:txBody>
          <a:bodyPr wrap="square" lIns="0" tIns="0" rIns="0" bIns="0" rtlCol="0" anchor="ctr"/>
          <a:lstStyle/>
          <a:p>
            <a:pPr indent="0" marL="0">
              <a:buNone/>
            </a:pPr>
            <a:r>
              <a:rPr lang="en-US" sz="1200" dirty="0">
                <a:solidFill>
                  <a:srgbClr val="8C9AA8"/>
                </a:solidFill>
                <a:latin typeface="Calibri" pitchFamily="34" charset="0"/>
                <a:ea typeface="Calibri" pitchFamily="34" charset="-122"/>
                <a:cs typeface="Calibri" pitchFamily="34" charset="-120"/>
              </a:rPr>
              <a:t>Demo: cd race-tests &amp;&amp; npm run race -- --scenarios S1,S2 --rounds 3 --out results/demo</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C9A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R05-K15 – Kiểm thử Race Condition cho Cal.com</dc:title>
  <dc:subject>PptxGenJS Presentation</dc:subject>
  <dc:creator>Nhóm R05-K15</dc:creator>
  <cp:lastModifiedBy>Nhóm R05-K15</cp:lastModifiedBy>
  <cp:revision>1</cp:revision>
  <dcterms:created xsi:type="dcterms:W3CDTF">2026-10-18T10:52:00Z</dcterms:created>
  <dcterms:modified xsi:type="dcterms:W3CDTF">2026-10-18T10:52:00Z</dcterms:modified>
</cp:coreProperties>
</file>